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gif" ContentType="image/gif"/>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42"/>
  </p:notesMasterIdLst>
  <p:sldIdLst>
    <p:sldId id="502" r:id="rId2"/>
    <p:sldId id="520" r:id="rId3"/>
    <p:sldId id="525" r:id="rId4"/>
    <p:sldId id="526" r:id="rId5"/>
    <p:sldId id="527" r:id="rId6"/>
    <p:sldId id="524" r:id="rId7"/>
    <p:sldId id="504" r:id="rId8"/>
    <p:sldId id="505" r:id="rId9"/>
    <p:sldId id="521" r:id="rId10"/>
    <p:sldId id="507" r:id="rId11"/>
    <p:sldId id="508" r:id="rId12"/>
    <p:sldId id="522" r:id="rId13"/>
    <p:sldId id="523" r:id="rId14"/>
    <p:sldId id="528" r:id="rId15"/>
    <p:sldId id="529" r:id="rId16"/>
    <p:sldId id="509" r:id="rId17"/>
    <p:sldId id="510" r:id="rId18"/>
    <p:sldId id="534" r:id="rId19"/>
    <p:sldId id="512" r:id="rId20"/>
    <p:sldId id="511" r:id="rId21"/>
    <p:sldId id="530" r:id="rId22"/>
    <p:sldId id="535" r:id="rId23"/>
    <p:sldId id="533" r:id="rId24"/>
    <p:sldId id="536" r:id="rId25"/>
    <p:sldId id="513" r:id="rId26"/>
    <p:sldId id="514" r:id="rId27"/>
    <p:sldId id="515" r:id="rId28"/>
    <p:sldId id="516" r:id="rId29"/>
    <p:sldId id="537" r:id="rId30"/>
    <p:sldId id="517" r:id="rId31"/>
    <p:sldId id="538" r:id="rId32"/>
    <p:sldId id="542" r:id="rId33"/>
    <p:sldId id="541" r:id="rId34"/>
    <p:sldId id="543" r:id="rId35"/>
    <p:sldId id="544" r:id="rId36"/>
    <p:sldId id="545" r:id="rId37"/>
    <p:sldId id="546" r:id="rId38"/>
    <p:sldId id="539" r:id="rId39"/>
    <p:sldId id="540" r:id="rId40"/>
    <p:sldId id="519" r:id="rId41"/>
  </p:sldIdLst>
  <p:sldSz cx="9144000" cy="5143500" type="screen16x9"/>
  <p:notesSz cx="6858000" cy="9144000"/>
  <p:embeddedFontLst>
    <p:embeddedFont>
      <p:font typeface="宋体" panose="02010600030101010101" pitchFamily="2" charset="-122"/>
      <p:regular r:id="rId43"/>
    </p:embeddedFont>
    <p:embeddedFont>
      <p:font typeface="Consolas" panose="020B0609020204030204" pitchFamily="49" charset="0"/>
      <p:regular r:id="rId44"/>
      <p:bold r:id="rId45"/>
      <p:italic r:id="rId46"/>
      <p:boldItalic r:id="rId47"/>
    </p:embeddedFont>
    <p:embeddedFont>
      <p:font typeface="Nunito" panose="020B0604020202020204" charset="0"/>
      <p:regular r:id="rId48"/>
      <p:bold r:id="rId49"/>
      <p:italic r:id="rId50"/>
      <p:boldItalic r:id="rId51"/>
    </p:embeddedFont>
  </p:embeddedFontLst>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DA36D"/>
    <a:srgbClr val="001E74"/>
    <a:srgbClr val="A50021"/>
    <a:srgbClr val="446C64"/>
    <a:srgbClr val="00B050"/>
    <a:srgbClr val="000000"/>
    <a:srgbClr val="0070C0"/>
    <a:srgbClr val="FF0000"/>
    <a:srgbClr val="006600"/>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2C04A0E-D08B-43E4-BBE5-7045620E7F1F}">
  <a:tblStyle styleId="{42C04A0E-D08B-43E4-BBE5-7045620E7F1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979" autoAdjust="0"/>
  </p:normalViewPr>
  <p:slideViewPr>
    <p:cSldViewPr snapToGrid="0">
      <p:cViewPr varScale="1">
        <p:scale>
          <a:sx n="91" d="100"/>
          <a:sy n="91" d="100"/>
        </p:scale>
        <p:origin x="584"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957"/>
    </p:cViewPr>
  </p:sorterViewPr>
  <p:notesViewPr>
    <p:cSldViewPr snapToGrid="0">
      <p:cViewPr varScale="1">
        <p:scale>
          <a:sx n="88" d="100"/>
          <a:sy n="88" d="100"/>
        </p:scale>
        <p:origin x="382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Google Shape;3;n"/>
          <p:cNvSpPr>
            <a:spLocks noGrp="1" noRot="1" noChangeAspect="1"/>
          </p:cNvSpPr>
          <p:nvPr>
            <p:ph type="sldImg" idx="2"/>
          </p:nvPr>
        </p:nvSpPr>
        <p:spPr bwMode="auto">
          <a:xfrm>
            <a:off x="381000" y="685800"/>
            <a:ext cx="6096000" cy="3429000"/>
          </a:xfrm>
          <a:custGeom>
            <a:avLst/>
            <a:gdLst>
              <a:gd name="T0" fmla="*/ 0 w 120000"/>
              <a:gd name="T1" fmla="*/ 0 h 120000"/>
              <a:gd name="T2" fmla="*/ 6096000 w 120000"/>
              <a:gd name="T3" fmla="*/ 0 h 120000"/>
              <a:gd name="T4" fmla="*/ 6096000 w 120000"/>
              <a:gd name="T5" fmla="*/ 3429000 h 120000"/>
              <a:gd name="T6" fmla="*/ 0 w 120000"/>
              <a:gd name="T7" fmla="*/ 3429000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sp>
      <p:sp>
        <p:nvSpPr>
          <p:cNvPr id="4099" name="Google Shape;4;n"/>
          <p:cNvSpPr txBox="1">
            <a:spLocks noGrp="1"/>
          </p:cNvSpPr>
          <p:nvPr>
            <p:ph type="body" idx="1"/>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smtClean="0">
              <a:sym typeface="Arial" panose="020B0604020202020204" pitchFamily="34" charset="0"/>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L="457200"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marL="914400" lvl="1"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marL="1371600" lvl="2"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marL="1828800" lvl="3"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marL="2286000" lvl="4" indent="-298450" algn="l" rtl="0" eaLnBrk="0" fontAlgn="base" hangingPunct="0">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Hi everyone, my name is </a:t>
            </a:r>
            <a:r>
              <a:rPr lang="en-US" altLang="en-US" sz="1100" dirty="0" err="1" smtClean="0">
                <a:latin typeface="Arial" panose="020B0604020202020204" pitchFamily="34" charset="0"/>
                <a:cs typeface="Arial" panose="020B0604020202020204" pitchFamily="34" charset="0"/>
              </a:rPr>
              <a:t>wang</a:t>
            </a:r>
            <a:r>
              <a:rPr lang="en-US" altLang="en-US" sz="1100" dirty="0" smtClean="0">
                <a:latin typeface="Arial" panose="020B0604020202020204" pitchFamily="34" charset="0"/>
                <a:cs typeface="Arial" panose="020B0604020202020204" pitchFamily="34" charset="0"/>
              </a:rPr>
              <a:t>, I am from Data Engineering System group, </a:t>
            </a:r>
            <a:r>
              <a:rPr lang="en-US" altLang="zh-CN" sz="1100" b="0" i="0" dirty="0" smtClean="0">
                <a:solidFill>
                  <a:srgbClr val="000000"/>
                </a:solidFill>
                <a:effectLst/>
                <a:latin typeface="Arial"/>
                <a:ea typeface="Arial"/>
                <a:cs typeface="Arial"/>
                <a:sym typeface="Arial" panose="020B0604020202020204" pitchFamily="34" charset="0"/>
              </a:rPr>
              <a:t>In this presentation, I would like to give you a quick overview of our work on multi-query aggregation optimization in distributed stream processing. In this work we focus on hierarchical</a:t>
            </a:r>
            <a:r>
              <a:rPr lang="en-US" altLang="zh-CN" sz="1100" b="0" i="0" baseline="0" dirty="0" smtClean="0">
                <a:solidFill>
                  <a:srgbClr val="000000"/>
                </a:solidFill>
                <a:effectLst/>
                <a:latin typeface="Arial"/>
                <a:ea typeface="Arial"/>
                <a:cs typeface="Arial"/>
                <a:sym typeface="Arial" panose="020B0604020202020204" pitchFamily="34" charset="0"/>
              </a:rPr>
              <a:t>, distributed sensor network that are analyzed with many windowed stream queries.</a:t>
            </a:r>
            <a:r>
              <a:rPr lang="en-US" altLang="en-US" sz="1100" dirty="0" smtClean="0">
                <a:latin typeface="Arial" panose="020B0604020202020204" pitchFamily="34" charset="0"/>
                <a:cs typeface="Arial" panose="020B0604020202020204" pitchFamily="34" charset="0"/>
              </a:rPr>
              <a:t> And we propose a new optimizer with our system, it slices</a:t>
            </a:r>
            <a:r>
              <a:rPr lang="en-US" altLang="en-US" sz="1100" baseline="0" dirty="0" smtClean="0">
                <a:latin typeface="Arial" panose="020B0604020202020204" pitchFamily="34" charset="0"/>
                <a:cs typeface="Arial" panose="020B0604020202020204" pitchFamily="34" charset="0"/>
              </a:rPr>
              <a:t> original windows, and share the intermediate results of overlaps even though they have different window types. Also, we generate the process plan for each window and share the result of operators between plans which have different aggregation functions.</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2053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Given</a:t>
            </a:r>
            <a:r>
              <a:rPr lang="en-US" altLang="en-US" sz="1100" baseline="0" dirty="0" smtClean="0">
                <a:latin typeface="Arial" panose="020B0604020202020204" pitchFamily="34" charset="0"/>
                <a:cs typeface="Arial" panose="020B0604020202020204" pitchFamily="34" charset="0"/>
              </a:rPr>
              <a:t> a long continuous query the system has to periodically calculate and output its result</a:t>
            </a:r>
          </a:p>
          <a:p>
            <a:pPr marL="0" indent="0" eaLnBrk="1" hangingPunct="1">
              <a:buSzPts val="1100"/>
            </a:pPr>
            <a:r>
              <a:rPr lang="en-US" altLang="en-US" sz="1100" baseline="0" smtClean="0">
                <a:latin typeface="Arial" panose="020B0604020202020204" pitchFamily="34" charset="0"/>
                <a:cs typeface="Arial" panose="020B0604020202020204" pitchFamily="34" charset="0"/>
              </a:rPr>
              <a:t>Firstly</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8676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Given</a:t>
            </a:r>
            <a:r>
              <a:rPr lang="en-US" altLang="en-US" sz="1100" baseline="0" dirty="0" smtClean="0">
                <a:latin typeface="Arial" panose="020B0604020202020204" pitchFamily="34" charset="0"/>
                <a:cs typeface="Arial" panose="020B0604020202020204" pitchFamily="34" charset="0"/>
              </a:rPr>
              <a:t> a long continuous query the system has to periodically calculate and output its result</a:t>
            </a:r>
          </a:p>
          <a:p>
            <a:pPr marL="0" indent="0" eaLnBrk="1" hangingPunct="1">
              <a:buSzPts val="1100"/>
            </a:pPr>
            <a:r>
              <a:rPr lang="en-US" altLang="en-US" sz="1100" baseline="0" smtClean="0">
                <a:latin typeface="Arial" panose="020B0604020202020204" pitchFamily="34" charset="0"/>
                <a:cs typeface="Arial" panose="020B0604020202020204" pitchFamily="34" charset="0"/>
              </a:rPr>
              <a:t>Firstly</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2925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Given</a:t>
            </a:r>
            <a:r>
              <a:rPr lang="en-US" altLang="en-US" sz="1100" baseline="0" dirty="0" smtClean="0">
                <a:latin typeface="Arial" panose="020B0604020202020204" pitchFamily="34" charset="0"/>
                <a:cs typeface="Arial" panose="020B0604020202020204" pitchFamily="34" charset="0"/>
              </a:rPr>
              <a:t> a long continuous query the system has to periodically calculate and output its result</a:t>
            </a:r>
          </a:p>
          <a:p>
            <a:pPr marL="0" indent="0" eaLnBrk="1" hangingPunct="1">
              <a:buSzPts val="1100"/>
            </a:pPr>
            <a:r>
              <a:rPr lang="en-US" altLang="en-US" sz="1100" baseline="0" smtClean="0">
                <a:latin typeface="Arial" panose="020B0604020202020204" pitchFamily="34" charset="0"/>
                <a:cs typeface="Arial" panose="020B0604020202020204" pitchFamily="34" charset="0"/>
              </a:rPr>
              <a:t>Firstly</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1275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Given</a:t>
            </a:r>
            <a:r>
              <a:rPr lang="en-US" altLang="en-US" sz="1100" baseline="0" dirty="0" smtClean="0">
                <a:latin typeface="Arial" panose="020B0604020202020204" pitchFamily="34" charset="0"/>
                <a:cs typeface="Arial" panose="020B0604020202020204" pitchFamily="34" charset="0"/>
              </a:rPr>
              <a:t> a long continuous query the system has to periodically calculate and output its result</a:t>
            </a:r>
          </a:p>
          <a:p>
            <a:pPr marL="0" indent="0" eaLnBrk="1" hangingPunct="1">
              <a:buSzPts val="1100"/>
            </a:pPr>
            <a:r>
              <a:rPr lang="en-US" altLang="en-US" sz="1100" baseline="0" smtClean="0">
                <a:latin typeface="Arial" panose="020B0604020202020204" pitchFamily="34" charset="0"/>
                <a:cs typeface="Arial" panose="020B0604020202020204" pitchFamily="34" charset="0"/>
              </a:rPr>
              <a:t>Firstly</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9484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Given</a:t>
            </a:r>
            <a:r>
              <a:rPr lang="en-US" altLang="en-US" sz="1100" baseline="0" dirty="0" smtClean="0">
                <a:latin typeface="Arial" panose="020B0604020202020204" pitchFamily="34" charset="0"/>
                <a:cs typeface="Arial" panose="020B0604020202020204" pitchFamily="34" charset="0"/>
              </a:rPr>
              <a:t> a long continuous query the system has to periodically calculate and output its result</a:t>
            </a:r>
          </a:p>
          <a:p>
            <a:pPr marL="0" indent="0" eaLnBrk="1" hangingPunct="1">
              <a:buSzPts val="1100"/>
            </a:pPr>
            <a:r>
              <a:rPr lang="en-US" altLang="en-US" sz="1100" baseline="0" smtClean="0">
                <a:latin typeface="Arial" panose="020B0604020202020204" pitchFamily="34" charset="0"/>
                <a:cs typeface="Arial" panose="020B0604020202020204" pitchFamily="34" charset="0"/>
              </a:rPr>
              <a:t>Firstly</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8945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5211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5607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8109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7259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3161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0682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0230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2600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Session tumbling</a:t>
            </a:r>
            <a:r>
              <a:rPr lang="en-US" altLang="en-US" sz="1100" baseline="0" dirty="0" smtClean="0">
                <a:latin typeface="Arial" panose="020B0604020202020204" pitchFamily="34" charset="0"/>
                <a:cs typeface="Arial" panose="020B0604020202020204" pitchFamily="34" charset="0"/>
              </a:rPr>
              <a:t> sliding</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36375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2391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5</a:t>
            </a:r>
          </a:p>
        </p:txBody>
      </p:sp>
    </p:spTree>
    <p:extLst>
      <p:ext uri="{BB962C8B-B14F-4D97-AF65-F5344CB8AC3E}">
        <p14:creationId xmlns:p14="http://schemas.microsoft.com/office/powerpoint/2010/main" val="1852542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3980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9324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9785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2537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27066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3484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18708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20715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
                <a:srgbClr val="000000"/>
              </a:buClr>
              <a:buSzPts val="1100"/>
              <a:buFont typeface="Arial" panose="020B0604020202020204" pitchFamily="34" charset="0"/>
              <a:buNone/>
              <a:tabLst/>
              <a:defRPr/>
            </a:pPr>
            <a:r>
              <a:rPr lang="en-US" altLang="zh-CN" sz="1400" dirty="0" smtClean="0">
                <a:solidFill>
                  <a:srgbClr val="202124"/>
                </a:solidFill>
                <a:latin typeface="Arial"/>
                <a:ea typeface="Arial"/>
                <a:cs typeface="Arial"/>
                <a:sym typeface="Arial" panose="020B0604020202020204" pitchFamily="34" charset="0"/>
              </a:rPr>
              <a:t>Least common multiple</a:t>
            </a:r>
            <a:endParaRPr lang="zh-CN" altLang="en-US" sz="1400" dirty="0" smtClean="0">
              <a:solidFill>
                <a:srgbClr val="000000"/>
              </a:solidFill>
              <a:latin typeface="Arial"/>
              <a:ea typeface="Arial"/>
              <a:cs typeface="Arial"/>
              <a:sym typeface="Arial" panose="020B0604020202020204" pitchFamily="34" charset="0"/>
            </a:endParaRPr>
          </a:p>
        </p:txBody>
      </p:sp>
    </p:spTree>
    <p:extLst>
      <p:ext uri="{BB962C8B-B14F-4D97-AF65-F5344CB8AC3E}">
        <p14:creationId xmlns:p14="http://schemas.microsoft.com/office/powerpoint/2010/main" val="2953024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
                <a:srgbClr val="000000"/>
              </a:buClr>
              <a:buSzPts val="1100"/>
              <a:buFont typeface="Arial" panose="020B0604020202020204" pitchFamily="34" charset="0"/>
              <a:buNone/>
              <a:tabLst/>
              <a:defRPr/>
            </a:pPr>
            <a:r>
              <a:rPr lang="en-US" altLang="zh-CN" sz="1400" dirty="0" smtClean="0">
                <a:solidFill>
                  <a:srgbClr val="202124"/>
                </a:solidFill>
                <a:latin typeface="Arial"/>
                <a:ea typeface="Arial"/>
                <a:cs typeface="Arial"/>
                <a:sym typeface="Arial" panose="020B0604020202020204" pitchFamily="34" charset="0"/>
              </a:rPr>
              <a:t>Least common multiple</a:t>
            </a:r>
            <a:endParaRPr lang="zh-CN" altLang="en-US" sz="1400" dirty="0" smtClean="0">
              <a:solidFill>
                <a:srgbClr val="000000"/>
              </a:solidFill>
              <a:latin typeface="Arial"/>
              <a:ea typeface="Arial"/>
              <a:cs typeface="Arial"/>
              <a:sym typeface="Arial" panose="020B0604020202020204" pitchFamily="34" charset="0"/>
            </a:endParaRPr>
          </a:p>
        </p:txBody>
      </p:sp>
    </p:spTree>
    <p:extLst>
      <p:ext uri="{BB962C8B-B14F-4D97-AF65-F5344CB8AC3E}">
        <p14:creationId xmlns:p14="http://schemas.microsoft.com/office/powerpoint/2010/main" val="22394621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
                <a:srgbClr val="000000"/>
              </a:buClr>
              <a:buSzPts val="1100"/>
              <a:buFont typeface="Arial" panose="020B0604020202020204" pitchFamily="34" charset="0"/>
              <a:buNone/>
              <a:tabLst/>
              <a:defRPr/>
            </a:pPr>
            <a:r>
              <a:rPr lang="en-US" altLang="zh-CN" sz="1400" dirty="0" smtClean="0">
                <a:solidFill>
                  <a:srgbClr val="202124"/>
                </a:solidFill>
                <a:latin typeface="Arial"/>
                <a:ea typeface="Arial"/>
                <a:cs typeface="Arial"/>
                <a:sym typeface="Arial" panose="020B0604020202020204" pitchFamily="34" charset="0"/>
              </a:rPr>
              <a:t>Least common multiple</a:t>
            </a:r>
            <a:endParaRPr lang="zh-CN" altLang="en-US" sz="1400" dirty="0" smtClean="0">
              <a:solidFill>
                <a:srgbClr val="000000"/>
              </a:solidFill>
              <a:latin typeface="Arial"/>
              <a:ea typeface="Arial"/>
              <a:cs typeface="Arial"/>
              <a:sym typeface="Arial" panose="020B0604020202020204" pitchFamily="34" charset="0"/>
            </a:endParaRPr>
          </a:p>
        </p:txBody>
      </p:sp>
    </p:spTree>
    <p:extLst>
      <p:ext uri="{BB962C8B-B14F-4D97-AF65-F5344CB8AC3E}">
        <p14:creationId xmlns:p14="http://schemas.microsoft.com/office/powerpoint/2010/main" val="1227645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
                <a:srgbClr val="000000"/>
              </a:buClr>
              <a:buSzPts val="1100"/>
              <a:buFont typeface="Arial" panose="020B0604020202020204" pitchFamily="34" charset="0"/>
              <a:buNone/>
              <a:tabLst/>
              <a:defRPr/>
            </a:pPr>
            <a:r>
              <a:rPr lang="en-US" altLang="zh-CN" sz="1400" dirty="0" smtClean="0">
                <a:solidFill>
                  <a:srgbClr val="202124"/>
                </a:solidFill>
                <a:latin typeface="Arial"/>
                <a:ea typeface="Arial"/>
                <a:cs typeface="Arial"/>
                <a:sym typeface="Arial" panose="020B0604020202020204" pitchFamily="34" charset="0"/>
              </a:rPr>
              <a:t>Least common multiple</a:t>
            </a:r>
          </a:p>
          <a:p>
            <a:pPr marL="0" marR="0" indent="0" algn="l" defTabSz="914400" rtl="0" eaLnBrk="1" fontAlgn="base" latinLnBrk="0" hangingPunct="1">
              <a:lnSpc>
                <a:spcPct val="100000"/>
              </a:lnSpc>
              <a:spcBef>
                <a:spcPct val="0"/>
              </a:spcBef>
              <a:spcAft>
                <a:spcPct val="0"/>
              </a:spcAft>
              <a:buClr>
                <a:srgbClr val="000000"/>
              </a:buClr>
              <a:buSzPts val="1100"/>
              <a:buFont typeface="Arial" panose="020B0604020202020204" pitchFamily="34" charset="0"/>
              <a:buNone/>
              <a:tabLst/>
              <a:defRPr/>
            </a:pPr>
            <a:r>
              <a:rPr lang="en-US" altLang="zh-CN" sz="1400" dirty="0" smtClean="0">
                <a:solidFill>
                  <a:srgbClr val="202124"/>
                </a:solidFill>
                <a:latin typeface="Arial"/>
                <a:ea typeface="Arial"/>
                <a:cs typeface="Arial"/>
                <a:sym typeface="Arial" panose="020B0604020202020204" pitchFamily="34" charset="0"/>
              </a:rPr>
              <a:t>Sw2 =&gt; slice</a:t>
            </a:r>
            <a:endParaRPr lang="zh-CN" altLang="en-US" sz="1400" dirty="0" smtClean="0">
              <a:solidFill>
                <a:srgbClr val="000000"/>
              </a:solidFill>
              <a:latin typeface="Arial"/>
              <a:ea typeface="Arial"/>
              <a:cs typeface="Arial"/>
              <a:sym typeface="Arial" panose="020B0604020202020204" pitchFamily="34" charset="0"/>
            </a:endParaRPr>
          </a:p>
        </p:txBody>
      </p:sp>
    </p:spTree>
    <p:extLst>
      <p:ext uri="{BB962C8B-B14F-4D97-AF65-F5344CB8AC3E}">
        <p14:creationId xmlns:p14="http://schemas.microsoft.com/office/powerpoint/2010/main" val="6140161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
                <a:srgbClr val="000000"/>
              </a:buClr>
              <a:buSzPts val="1100"/>
              <a:buFont typeface="Arial" panose="020B0604020202020204" pitchFamily="34" charset="0"/>
              <a:buNone/>
              <a:tabLst/>
              <a:defRPr/>
            </a:pPr>
            <a:r>
              <a:rPr lang="en-US" altLang="zh-CN" sz="1400" dirty="0" smtClean="0">
                <a:solidFill>
                  <a:srgbClr val="202124"/>
                </a:solidFill>
                <a:latin typeface="Arial"/>
                <a:ea typeface="Arial"/>
                <a:cs typeface="Arial"/>
                <a:sym typeface="Arial" panose="020B0604020202020204" pitchFamily="34" charset="0"/>
              </a:rPr>
              <a:t>Least common multiple</a:t>
            </a:r>
            <a:endParaRPr lang="zh-CN" altLang="en-US" sz="1400" dirty="0" smtClean="0">
              <a:solidFill>
                <a:srgbClr val="000000"/>
              </a:solidFill>
              <a:latin typeface="Arial"/>
              <a:ea typeface="Arial"/>
              <a:cs typeface="Arial"/>
              <a:sym typeface="Arial" panose="020B0604020202020204" pitchFamily="34" charset="0"/>
            </a:endParaRPr>
          </a:p>
        </p:txBody>
      </p:sp>
    </p:spTree>
    <p:extLst>
      <p:ext uri="{BB962C8B-B14F-4D97-AF65-F5344CB8AC3E}">
        <p14:creationId xmlns:p14="http://schemas.microsoft.com/office/powerpoint/2010/main" val="30706627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The physical</a:t>
            </a:r>
            <a:r>
              <a:rPr lang="en-US" altLang="en-US" sz="1100" baseline="0" dirty="0" smtClean="0">
                <a:latin typeface="Arial" panose="020B0604020202020204" pitchFamily="34" charset="0"/>
                <a:cs typeface="Arial" panose="020B0604020202020204" pitchFamily="34" charset="0"/>
              </a:rPr>
              <a:t> map!!!!!!!</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50834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30%</a:t>
            </a:r>
          </a:p>
        </p:txBody>
      </p:sp>
    </p:spTree>
    <p:extLst>
      <p:ext uri="{BB962C8B-B14F-4D97-AF65-F5344CB8AC3E}">
        <p14:creationId xmlns:p14="http://schemas.microsoft.com/office/powerpoint/2010/main" val="26930575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30%</a:t>
            </a:r>
          </a:p>
        </p:txBody>
      </p:sp>
    </p:spTree>
    <p:extLst>
      <p:ext uri="{BB962C8B-B14F-4D97-AF65-F5344CB8AC3E}">
        <p14:creationId xmlns:p14="http://schemas.microsoft.com/office/powerpoint/2010/main" val="19059511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30%</a:t>
            </a:r>
          </a:p>
        </p:txBody>
      </p:sp>
    </p:spTree>
    <p:extLst>
      <p:ext uri="{BB962C8B-B14F-4D97-AF65-F5344CB8AC3E}">
        <p14:creationId xmlns:p14="http://schemas.microsoft.com/office/powerpoint/2010/main" val="2879712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30%</a:t>
            </a:r>
          </a:p>
        </p:txBody>
      </p:sp>
    </p:spTree>
    <p:extLst>
      <p:ext uri="{BB962C8B-B14F-4D97-AF65-F5344CB8AC3E}">
        <p14:creationId xmlns:p14="http://schemas.microsoft.com/office/powerpoint/2010/main" val="879241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30%</a:t>
            </a:r>
          </a:p>
        </p:txBody>
      </p:sp>
    </p:spTree>
    <p:extLst>
      <p:ext uri="{BB962C8B-B14F-4D97-AF65-F5344CB8AC3E}">
        <p14:creationId xmlns:p14="http://schemas.microsoft.com/office/powerpoint/2010/main" val="18935264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30%</a:t>
            </a:r>
          </a:p>
        </p:txBody>
      </p:sp>
    </p:spTree>
    <p:extLst>
      <p:ext uri="{BB962C8B-B14F-4D97-AF65-F5344CB8AC3E}">
        <p14:creationId xmlns:p14="http://schemas.microsoft.com/office/powerpoint/2010/main" val="2588881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30%</a:t>
            </a:r>
          </a:p>
        </p:txBody>
      </p:sp>
    </p:spTree>
    <p:extLst>
      <p:ext uri="{BB962C8B-B14F-4D97-AF65-F5344CB8AC3E}">
        <p14:creationId xmlns:p14="http://schemas.microsoft.com/office/powerpoint/2010/main" val="38204666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Google Shape;67;g7fd6fff34c_0_56:notes"/>
          <p:cNvSpPr>
            <a:spLocks noGrp="1" noRot="1" noChangeAspect="1" noTextEdit="1"/>
          </p:cNvSpPr>
          <p:nvPr>
            <p:ph type="sldImg" idx="2"/>
          </p:nvPr>
        </p:nvSpPr>
        <p:spPr>
          <a:noFill/>
          <a:ln>
            <a:headEnd/>
            <a:tailEnd/>
          </a:ln>
        </p:spPr>
      </p:sp>
      <p:sp>
        <p:nvSpPr>
          <p:cNvPr id="10243" name="Google Shape;68;g7fd6fff34c_0_56:notes"/>
          <p:cNvSpPr txBox="1">
            <a:spLocks noGrp="1"/>
          </p:cNvSpPr>
          <p:nvPr>
            <p:ph type="body" idx="1"/>
          </p:nvPr>
        </p:nvSpPr>
        <p:spPr/>
        <p:txBody>
          <a:bodyPr/>
          <a:lstStyle/>
          <a:p>
            <a:pPr marL="0" indent="0" eaLnBrk="1" hangingPunct="1">
              <a:buSzPts val="1100"/>
            </a:pPr>
            <a:r>
              <a:rPr lang="en-US" altLang="en-US" sz="1100" dirty="0" smtClean="0">
                <a:latin typeface="Arial" panose="020B0604020202020204" pitchFamily="34" charset="0"/>
                <a:cs typeface="Arial" panose="020B0604020202020204" pitchFamily="34" charset="0"/>
              </a:rPr>
              <a:t>Detail of the baseline, of </a:t>
            </a:r>
            <a:r>
              <a:rPr lang="en-US" altLang="en-US" sz="1100" dirty="0" err="1" smtClean="0">
                <a:latin typeface="Arial" panose="020B0604020202020204" pitchFamily="34" charset="0"/>
                <a:cs typeface="Arial" panose="020B0604020202020204" pitchFamily="34" charset="0"/>
              </a:rPr>
              <a:t>desis</a:t>
            </a:r>
            <a:r>
              <a:rPr lang="en-US" altLang="en-US" sz="1100" dirty="0" smtClean="0">
                <a:latin typeface="Arial" panose="020B0604020202020204" pitchFamily="34" charset="0"/>
                <a:cs typeface="Arial" panose="020B0604020202020204" pitchFamily="34" charset="0"/>
              </a:rPr>
              <a:t>-no</a:t>
            </a:r>
          </a:p>
          <a:p>
            <a:pPr marL="0" indent="0" eaLnBrk="1" hangingPunct="1">
              <a:buSzPts val="1100"/>
            </a:pPr>
            <a:r>
              <a:rPr lang="en-US" altLang="en-US" sz="1100" dirty="0" smtClean="0">
                <a:latin typeface="Arial" panose="020B0604020202020204" pitchFamily="34" charset="0"/>
                <a:cs typeface="Arial" panose="020B0604020202020204" pitchFamily="34" charset="0"/>
              </a:rPr>
              <a:t>Ratio of query set, what is the query set here?</a:t>
            </a:r>
          </a:p>
          <a:p>
            <a:pPr marL="0" indent="0" eaLnBrk="1" hangingPunct="1">
              <a:buSzPts val="1100"/>
            </a:pPr>
            <a:r>
              <a:rPr lang="en-US" altLang="en-US" sz="1100" dirty="0" smtClean="0">
                <a:latin typeface="Arial" panose="020B0604020202020204" pitchFamily="34" charset="0"/>
                <a:cs typeface="Arial" panose="020B0604020202020204" pitchFamily="34" charset="0"/>
              </a:rPr>
              <a:t>What</a:t>
            </a:r>
            <a:r>
              <a:rPr lang="en-US" altLang="en-US" sz="1100" baseline="0" dirty="0" smtClean="0">
                <a:latin typeface="Arial" panose="020B0604020202020204" pitchFamily="34" charset="0"/>
                <a:cs typeface="Arial" panose="020B0604020202020204" pitchFamily="34" charset="0"/>
              </a:rPr>
              <a:t> are the queries exact?</a:t>
            </a:r>
          </a:p>
          <a:p>
            <a:pPr marL="0" indent="0" eaLnBrk="1" hangingPunct="1">
              <a:buSzPts val="1100"/>
            </a:pPr>
            <a:endParaRPr lang="en-US" altLang="en-US" sz="1100" baseline="0" dirty="0" smtClean="0">
              <a:latin typeface="Arial" panose="020B0604020202020204" pitchFamily="34" charset="0"/>
              <a:cs typeface="Arial" panose="020B0604020202020204" pitchFamily="34" charset="0"/>
            </a:endParaRPr>
          </a:p>
          <a:p>
            <a:pPr marL="0" indent="0" eaLnBrk="1" hangingPunct="1">
              <a:buSzPts val="1100"/>
            </a:pPr>
            <a:r>
              <a:rPr lang="en-US" altLang="en-US" sz="1100" baseline="0" dirty="0" smtClean="0">
                <a:latin typeface="Arial" panose="020B0604020202020204" pitchFamily="34" charset="0"/>
                <a:cs typeface="Arial" panose="020B0604020202020204" pitchFamily="34" charset="0"/>
              </a:rPr>
              <a:t>Throughput:</a:t>
            </a:r>
          </a:p>
          <a:p>
            <a:pPr marL="0" indent="0" eaLnBrk="1" hangingPunct="1">
              <a:buSzPts val="1100"/>
            </a:pPr>
            <a:r>
              <a:rPr lang="en-US" altLang="en-US" sz="1100" baseline="0" dirty="0" smtClean="0">
                <a:latin typeface="Arial" panose="020B0604020202020204" pitchFamily="34" charset="0"/>
                <a:cs typeface="Arial" panose="020B0604020202020204" pitchFamily="34" charset="0"/>
              </a:rPr>
              <a:t>To explain, more detail of what are x-axis &amp; y-axis.</a:t>
            </a:r>
          </a:p>
          <a:p>
            <a:pPr marL="0" indent="0" eaLnBrk="1" hangingPunct="1">
              <a:buSzPts val="1100"/>
            </a:pPr>
            <a:endParaRPr lang="en-US" altLang="en-US" sz="1100" baseline="0" dirty="0" smtClean="0">
              <a:latin typeface="Arial" panose="020B0604020202020204" pitchFamily="34" charset="0"/>
              <a:cs typeface="Arial" panose="020B0604020202020204" pitchFamily="34" charset="0"/>
            </a:endParaRPr>
          </a:p>
          <a:p>
            <a:pPr marL="0" indent="0" eaLnBrk="1" hangingPunct="1">
              <a:buSzPts val="1100"/>
            </a:pPr>
            <a:r>
              <a:rPr lang="en-US" altLang="en-US" sz="1100" baseline="0" dirty="0" smtClean="0">
                <a:latin typeface="Arial" panose="020B0604020202020204" pitchFamily="34" charset="0"/>
                <a:cs typeface="Arial" panose="020B0604020202020204" pitchFamily="34" charset="0"/>
              </a:rPr>
              <a:t>Script!!!</a:t>
            </a: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51241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4;p:notes"/>
          <p:cNvSpPr>
            <a:spLocks noGrp="1" noRot="1" noChangeAspect="1" noTextEdit="1"/>
          </p:cNvSpPr>
          <p:nvPr>
            <p:ph type="sldImg" idx="2"/>
          </p:nvPr>
        </p:nvSpPr>
        <p:spPr>
          <a:noFill/>
          <a:ln>
            <a:headEnd/>
            <a:tailEnd/>
          </a:ln>
        </p:spPr>
      </p:sp>
      <p:sp>
        <p:nvSpPr>
          <p:cNvPr id="6147" name="Google Shape;55;p:notes"/>
          <p:cNvSpPr txBox="1">
            <a:spLocks noGrp="1"/>
          </p:cNvSpPr>
          <p:nvPr>
            <p:ph type="body" idx="1"/>
          </p:nvPr>
        </p:nvSpPr>
        <p:spPr/>
        <p:txBody>
          <a:bodyPr/>
          <a:lstStyle/>
          <a:p>
            <a:pPr marL="0" indent="0" eaLnBrk="1" hangingPunct="1">
              <a:buSzPts val="1100"/>
            </a:pPr>
            <a:endParaRPr lang="en-US" altLang="en-US" sz="1100"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8872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4" name="Google Shape;15;p2"/>
          <p:cNvSpPr txBox="1">
            <a:spLocks noChangeArrowheads="1"/>
          </p:cNvSpPr>
          <p:nvPr/>
        </p:nvSpPr>
        <p:spPr bwMode="auto">
          <a:xfrm>
            <a:off x="30163" y="4732338"/>
            <a:ext cx="3286125" cy="2587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mtClean="0">
              <a:latin typeface="Nunito" panose="02010600030101010101" charset="0"/>
              <a:cs typeface="Nunito" panose="02010600030101010101" charset="0"/>
              <a:sym typeface="Nunito" panose="02010600030101010101" charset="0"/>
            </a:endParaRPr>
          </a:p>
        </p:txBody>
      </p:sp>
      <p:sp>
        <p:nvSpPr>
          <p:cNvPr id="12" name="Google Shape;12;p2"/>
          <p:cNvSpPr txBox="1">
            <a:spLocks noGrp="1"/>
          </p:cNvSpPr>
          <p:nvPr>
            <p:ph type="ctrTitle"/>
          </p:nvPr>
        </p:nvSpPr>
        <p:spPr>
          <a:xfrm>
            <a:off x="311708" y="744575"/>
            <a:ext cx="8520600" cy="2052600"/>
          </a:xfrm>
          <a:prstGeom prst="rect">
            <a:avLst/>
          </a:prstGeom>
        </p:spPr>
        <p:txBody>
          <a:bodyPr spcFirstLastPara="1" anchor="b">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smtClean="0"/>
              <a:t>Click to edit Master title style</a:t>
            </a:r>
            <a:endParaRPr/>
          </a:p>
        </p:txBody>
      </p:sp>
      <p:sp>
        <p:nvSpPr>
          <p:cNvPr id="13" name="Google Shape;13;p2"/>
          <p:cNvSpPr txBox="1">
            <a:spLocks noGrp="1"/>
          </p:cNvSpPr>
          <p:nvPr>
            <p:ph type="subTitle" idx="1"/>
          </p:nvPr>
        </p:nvSpPr>
        <p:spPr>
          <a:xfrm>
            <a:off x="311700" y="2834125"/>
            <a:ext cx="8520600" cy="792600"/>
          </a:xfrm>
          <a:prstGeom prst="rect">
            <a:avLst/>
          </a:prstGeom>
        </p:spPr>
        <p:txBody>
          <a:bodyPr spcFirstLastPara="1">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smtClean="0"/>
              <a:t>Click to edit Master subtitle style</a:t>
            </a:r>
            <a:endParaRPr/>
          </a:p>
        </p:txBody>
      </p:sp>
      <p:sp>
        <p:nvSpPr>
          <p:cNvPr id="5" name="Google Shape;14;p2"/>
          <p:cNvSpPr txBox="1">
            <a:spLocks noGrp="1"/>
          </p:cNvSpPr>
          <p:nvPr>
            <p:ph type="sldNum" idx="10"/>
          </p:nvPr>
        </p:nvSpPr>
        <p:spPr>
          <a:xfrm>
            <a:off x="8686800" y="4662488"/>
            <a:ext cx="334963" cy="393700"/>
          </a:xfrm>
        </p:spPr>
        <p:txBody>
          <a:bodyPr/>
          <a:lstStyle>
            <a:lvl1pPr>
              <a:defRPr smtClean="0"/>
            </a:lvl1pPr>
          </a:lstStyle>
          <a:p>
            <a:pPr>
              <a:defRPr/>
            </a:pPr>
            <a:fld id="{A9886A79-C45C-403F-8CDB-41CD8D72364A}" type="slidenum">
              <a:rPr lang="en-GB" altLang="en-US"/>
              <a:pPr>
                <a:defRPr/>
              </a:pPr>
              <a:t>‹#›</a:t>
            </a:fld>
            <a:endParaRPr lang="en-US" altLang="en-US"/>
          </a:p>
        </p:txBody>
      </p:sp>
    </p:spTree>
    <p:extLst>
      <p:ext uri="{BB962C8B-B14F-4D97-AF65-F5344CB8AC3E}">
        <p14:creationId xmlns:p14="http://schemas.microsoft.com/office/powerpoint/2010/main" val="241085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11700" y="2150850"/>
            <a:ext cx="8520600" cy="841800"/>
          </a:xfrm>
          <a:prstGeom prst="rect">
            <a:avLst/>
          </a:prstGeom>
        </p:spPr>
        <p:txBody>
          <a:bodyPr spcFirstLastPara="1" anchor="ctr">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smtClean="0"/>
              <a:t>Click to edit Master title style</a:t>
            </a:r>
            <a:endParaRPr/>
          </a:p>
        </p:txBody>
      </p:sp>
      <p:sp>
        <p:nvSpPr>
          <p:cNvPr id="3" name="Google Shape;8;p1"/>
          <p:cNvSpPr txBox="1">
            <a:spLocks noGrp="1"/>
          </p:cNvSpPr>
          <p:nvPr>
            <p:ph type="sldNum" idx="13"/>
          </p:nvPr>
        </p:nvSpPr>
        <p:spPr>
          <a:ln/>
        </p:spPr>
        <p:txBody>
          <a:bodyPr/>
          <a:lstStyle>
            <a:lvl1pPr>
              <a:defRPr/>
            </a:lvl1pPr>
          </a:lstStyle>
          <a:p>
            <a:pPr>
              <a:defRPr/>
            </a:pPr>
            <a:fld id="{3E2B159F-FF5C-48A1-AF5B-38EE5D6E0C10}" type="slidenum">
              <a:rPr lang="en-GB" altLang="en-US"/>
              <a:pPr>
                <a:defRPr/>
              </a:pPr>
              <a:t>‹#›</a:t>
            </a:fld>
            <a:endParaRPr lang="en-US" altLang="en-US"/>
          </a:p>
        </p:txBody>
      </p:sp>
    </p:spTree>
    <p:extLst>
      <p:ext uri="{BB962C8B-B14F-4D97-AF65-F5344CB8AC3E}">
        <p14:creationId xmlns:p14="http://schemas.microsoft.com/office/powerpoint/2010/main" val="1767962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smtClean="0"/>
              <a:t>Click to edit Master title style</a:t>
            </a:r>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US" smtClean="0"/>
              <a:t>Edit Master text styles</a:t>
            </a: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US" smtClean="0"/>
              <a:t>Edit Master text styles</a:t>
            </a:r>
          </a:p>
        </p:txBody>
      </p:sp>
      <p:sp>
        <p:nvSpPr>
          <p:cNvPr id="5" name="Google Shape;8;p1"/>
          <p:cNvSpPr txBox="1">
            <a:spLocks noGrp="1"/>
          </p:cNvSpPr>
          <p:nvPr>
            <p:ph type="sldNum" idx="13"/>
          </p:nvPr>
        </p:nvSpPr>
        <p:spPr>
          <a:ln/>
        </p:spPr>
        <p:txBody>
          <a:bodyPr/>
          <a:lstStyle>
            <a:lvl1pPr>
              <a:defRPr/>
            </a:lvl1pPr>
          </a:lstStyle>
          <a:p>
            <a:pPr>
              <a:defRPr/>
            </a:pPr>
            <a:fld id="{4E3AC620-6A33-45FA-90CC-5A0785BE48EF}" type="slidenum">
              <a:rPr lang="en-GB" altLang="en-US"/>
              <a:pPr>
                <a:defRPr/>
              </a:pPr>
              <a:t>‹#›</a:t>
            </a:fld>
            <a:endParaRPr lang="en-US" altLang="en-US"/>
          </a:p>
        </p:txBody>
      </p:sp>
    </p:spTree>
    <p:extLst>
      <p:ext uri="{BB962C8B-B14F-4D97-AF65-F5344CB8AC3E}">
        <p14:creationId xmlns:p14="http://schemas.microsoft.com/office/powerpoint/2010/main" val="2209574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smtClean="0"/>
              <a:t>Click to edit Master title style</a:t>
            </a:r>
            <a:endParaRPr/>
          </a:p>
        </p:txBody>
      </p:sp>
      <p:sp>
        <p:nvSpPr>
          <p:cNvPr id="3" name="Google Shape;8;p1"/>
          <p:cNvSpPr txBox="1">
            <a:spLocks noGrp="1"/>
          </p:cNvSpPr>
          <p:nvPr>
            <p:ph type="sldNum" idx="13"/>
          </p:nvPr>
        </p:nvSpPr>
        <p:spPr>
          <a:ln/>
        </p:spPr>
        <p:txBody>
          <a:bodyPr/>
          <a:lstStyle>
            <a:lvl1pPr>
              <a:defRPr/>
            </a:lvl1pPr>
          </a:lstStyle>
          <a:p>
            <a:pPr>
              <a:defRPr/>
            </a:pPr>
            <a:fld id="{9B45DE2B-1265-4046-9FF9-DD3D5E557807}" type="slidenum">
              <a:rPr lang="en-GB" altLang="en-US"/>
              <a:pPr>
                <a:defRPr/>
              </a:pPr>
              <a:t>‹#›</a:t>
            </a:fld>
            <a:endParaRPr lang="en-US" altLang="en-US"/>
          </a:p>
        </p:txBody>
      </p:sp>
    </p:spTree>
    <p:extLst>
      <p:ext uri="{BB962C8B-B14F-4D97-AF65-F5344CB8AC3E}">
        <p14:creationId xmlns:p14="http://schemas.microsoft.com/office/powerpoint/2010/main" val="82782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anchor="b">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smtClean="0"/>
              <a:t>Click to edit Master title style</a:t>
            </a:r>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pPr lvl="0"/>
            <a:r>
              <a:rPr lang="en-US" smtClean="0"/>
              <a:t>Edit Master text styles</a:t>
            </a:r>
          </a:p>
        </p:txBody>
      </p:sp>
      <p:sp>
        <p:nvSpPr>
          <p:cNvPr id="4" name="Google Shape;8;p1"/>
          <p:cNvSpPr txBox="1">
            <a:spLocks noGrp="1"/>
          </p:cNvSpPr>
          <p:nvPr>
            <p:ph type="sldNum" idx="13"/>
          </p:nvPr>
        </p:nvSpPr>
        <p:spPr>
          <a:ln/>
        </p:spPr>
        <p:txBody>
          <a:bodyPr/>
          <a:lstStyle>
            <a:lvl1pPr>
              <a:defRPr/>
            </a:lvl1pPr>
          </a:lstStyle>
          <a:p>
            <a:pPr>
              <a:defRPr/>
            </a:pPr>
            <a:fld id="{C756F07B-0514-4F56-AA92-89C49A259278}" type="slidenum">
              <a:rPr lang="en-GB" altLang="en-US"/>
              <a:pPr>
                <a:defRPr/>
              </a:pPr>
              <a:t>‹#›</a:t>
            </a:fld>
            <a:endParaRPr lang="en-US" altLang="en-US"/>
          </a:p>
        </p:txBody>
      </p:sp>
    </p:spTree>
    <p:extLst>
      <p:ext uri="{BB962C8B-B14F-4D97-AF65-F5344CB8AC3E}">
        <p14:creationId xmlns:p14="http://schemas.microsoft.com/office/powerpoint/2010/main" val="4085346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450150"/>
            <a:ext cx="6367800" cy="4090800"/>
          </a:xfrm>
          <a:prstGeom prst="rect">
            <a:avLst/>
          </a:prstGeom>
        </p:spPr>
        <p:txBody>
          <a:bodyPr spcFirstLastPara="1" anchor="ctr">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smtClean="0"/>
              <a:t>Click to edit Master title style</a:t>
            </a:r>
            <a:endParaRPr/>
          </a:p>
        </p:txBody>
      </p:sp>
      <p:sp>
        <p:nvSpPr>
          <p:cNvPr id="3" name="Google Shape;8;p1"/>
          <p:cNvSpPr txBox="1">
            <a:spLocks noGrp="1"/>
          </p:cNvSpPr>
          <p:nvPr>
            <p:ph type="sldNum" idx="13"/>
          </p:nvPr>
        </p:nvSpPr>
        <p:spPr>
          <a:ln/>
        </p:spPr>
        <p:txBody>
          <a:bodyPr/>
          <a:lstStyle>
            <a:lvl1pPr>
              <a:defRPr/>
            </a:lvl1pPr>
          </a:lstStyle>
          <a:p>
            <a:pPr>
              <a:defRPr/>
            </a:pPr>
            <a:fld id="{8274AD96-99F1-4A98-AEAE-E5D17A0F41BC}" type="slidenum">
              <a:rPr lang="en-GB" altLang="en-US"/>
              <a:pPr>
                <a:defRPr/>
              </a:pPr>
              <a:t>‹#›</a:t>
            </a:fld>
            <a:endParaRPr lang="en-US" altLang="en-US"/>
          </a:p>
        </p:txBody>
      </p:sp>
    </p:spTree>
    <p:extLst>
      <p:ext uri="{BB962C8B-B14F-4D97-AF65-F5344CB8AC3E}">
        <p14:creationId xmlns:p14="http://schemas.microsoft.com/office/powerpoint/2010/main" val="2242963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nito Light">
  <p:cSld name="SECTION_TITLE_AND_DESCRIPTION">
    <p:spTree>
      <p:nvGrpSpPr>
        <p:cNvPr id="1" name="Shape 38"/>
        <p:cNvGrpSpPr/>
        <p:nvPr/>
      </p:nvGrpSpPr>
      <p:grpSpPr>
        <a:xfrm>
          <a:off x="0" y="0"/>
          <a:ext cx="0" cy="0"/>
          <a:chOff x="0" y="0"/>
          <a:chExt cx="0" cy="0"/>
        </a:xfrm>
      </p:grpSpPr>
      <p:sp>
        <p:nvSpPr>
          <p:cNvPr id="5" name="Google Shape;39;p9"/>
          <p:cNvSpPr>
            <a:spLocks noChangeArrowheads="1"/>
          </p:cNvSpPr>
          <p:nvPr/>
        </p:nvSpPr>
        <p:spPr bwMode="auto">
          <a:xfrm>
            <a:off x="4572000" y="0"/>
            <a:ext cx="4572000" cy="51435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endParaRPr lang="en-US" altLang="en-US" smtClean="0"/>
          </a:p>
        </p:txBody>
      </p:sp>
      <p:sp>
        <p:nvSpPr>
          <p:cNvPr id="40" name="Google Shape;40;p9"/>
          <p:cNvSpPr txBox="1">
            <a:spLocks noGrp="1"/>
          </p:cNvSpPr>
          <p:nvPr>
            <p:ph type="title"/>
          </p:nvPr>
        </p:nvSpPr>
        <p:spPr>
          <a:xfrm>
            <a:off x="265500" y="1233175"/>
            <a:ext cx="4045200" cy="1482300"/>
          </a:xfrm>
          <a:prstGeom prst="rect">
            <a:avLst/>
          </a:prstGeom>
        </p:spPr>
        <p:txBody>
          <a:bodyPr spcFirstLastPara="1" anchor="b">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smtClean="0"/>
              <a:t>Click to edit Master title style</a:t>
            </a:r>
            <a:endParaRPr/>
          </a:p>
        </p:txBody>
      </p:sp>
      <p:sp>
        <p:nvSpPr>
          <p:cNvPr id="41" name="Google Shape;41;p9"/>
          <p:cNvSpPr txBox="1">
            <a:spLocks noGrp="1"/>
          </p:cNvSpPr>
          <p:nvPr>
            <p:ph type="subTitle" idx="1"/>
          </p:nvPr>
        </p:nvSpPr>
        <p:spPr>
          <a:xfrm>
            <a:off x="265500" y="2803075"/>
            <a:ext cx="4045200" cy="1235100"/>
          </a:xfrm>
          <a:prstGeom prst="rect">
            <a:avLst/>
          </a:prstGeom>
        </p:spPr>
        <p:txBody>
          <a:bodyPr spcFirstLastPara="1">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smtClean="0"/>
              <a:t>Click to edit Master subtitle style</a:t>
            </a:r>
            <a:endParaRPr/>
          </a:p>
        </p:txBody>
      </p:sp>
      <p:sp>
        <p:nvSpPr>
          <p:cNvPr id="42" name="Google Shape;42;p9"/>
          <p:cNvSpPr txBox="1">
            <a:spLocks noGrp="1"/>
          </p:cNvSpPr>
          <p:nvPr>
            <p:ph type="body" idx="2"/>
          </p:nvPr>
        </p:nvSpPr>
        <p:spPr>
          <a:xfrm>
            <a:off x="4939500" y="724075"/>
            <a:ext cx="3837000" cy="3695100"/>
          </a:xfrm>
          <a:prstGeom prst="rect">
            <a:avLst/>
          </a:prstGeom>
        </p:spPr>
        <p:txBody>
          <a:bodyPr spcFirstLastPara="1" anchor="ctr">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US" smtClean="0"/>
              <a:t>Edit Master text styles</a:t>
            </a:r>
          </a:p>
        </p:txBody>
      </p:sp>
      <p:sp>
        <p:nvSpPr>
          <p:cNvPr id="6" name="Google Shape;43;p9"/>
          <p:cNvSpPr txBox="1">
            <a:spLocks noGrp="1"/>
          </p:cNvSpPr>
          <p:nvPr>
            <p:ph type="sldNum" idx="10"/>
          </p:nvPr>
        </p:nvSpPr>
        <p:spPr/>
        <p:txBody>
          <a:bodyPr/>
          <a:lstStyle>
            <a:lvl1pPr>
              <a:defRPr smtClean="0"/>
            </a:lvl1pPr>
          </a:lstStyle>
          <a:p>
            <a:pPr>
              <a:defRPr/>
            </a:pPr>
            <a:fld id="{9ED8725A-CFA1-4DC3-A1E6-48841852D5E2}" type="slidenum">
              <a:rPr lang="en-GB" altLang="en-US"/>
              <a:pPr>
                <a:defRPr/>
              </a:pPr>
              <a:t>‹#›</a:t>
            </a:fld>
            <a:endParaRPr lang="en-US" altLang="en-US"/>
          </a:p>
        </p:txBody>
      </p:sp>
    </p:spTree>
    <p:extLst>
      <p:ext uri="{BB962C8B-B14F-4D97-AF65-F5344CB8AC3E}">
        <p14:creationId xmlns:p14="http://schemas.microsoft.com/office/powerpoint/2010/main" val="372668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anchor="ctr">
            <a:noAutofit/>
          </a:bodyPr>
          <a:lstStyle>
            <a:lvl1pPr marL="457200" lvl="0" indent="-228600">
              <a:lnSpc>
                <a:spcPct val="100000"/>
              </a:lnSpc>
              <a:spcBef>
                <a:spcPts val="0"/>
              </a:spcBef>
              <a:spcAft>
                <a:spcPts val="0"/>
              </a:spcAft>
              <a:buSzPts val="1800"/>
              <a:buNone/>
              <a:defRPr/>
            </a:lvl1pPr>
          </a:lstStyle>
          <a:p>
            <a:pPr lvl="0"/>
            <a:r>
              <a:rPr lang="en-US" smtClean="0"/>
              <a:t>Edit Master text styles</a:t>
            </a:r>
          </a:p>
        </p:txBody>
      </p:sp>
      <p:sp>
        <p:nvSpPr>
          <p:cNvPr id="3" name="Google Shape;8;p1"/>
          <p:cNvSpPr txBox="1">
            <a:spLocks noGrp="1"/>
          </p:cNvSpPr>
          <p:nvPr>
            <p:ph type="sldNum" idx="13"/>
          </p:nvPr>
        </p:nvSpPr>
        <p:spPr>
          <a:ln/>
        </p:spPr>
        <p:txBody>
          <a:bodyPr/>
          <a:lstStyle>
            <a:lvl1pPr>
              <a:defRPr/>
            </a:lvl1pPr>
          </a:lstStyle>
          <a:p>
            <a:pPr>
              <a:defRPr/>
            </a:pPr>
            <a:fld id="{41DFD4EC-DA2D-4463-82B2-DDA2F2EDBFE1}" type="slidenum">
              <a:rPr lang="en-GB" altLang="en-US"/>
              <a:pPr>
                <a:defRPr/>
              </a:pPr>
              <a:t>‹#›</a:t>
            </a:fld>
            <a:endParaRPr lang="en-US" altLang="en-US"/>
          </a:p>
        </p:txBody>
      </p:sp>
    </p:spTree>
    <p:extLst>
      <p:ext uri="{BB962C8B-B14F-4D97-AF65-F5344CB8AC3E}">
        <p14:creationId xmlns:p14="http://schemas.microsoft.com/office/powerpoint/2010/main" val="103179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p:nvPr>
        </p:nvSpPr>
        <p:spPr>
          <a:xfrm>
            <a:off x="311700" y="1106125"/>
            <a:ext cx="8520600" cy="1963500"/>
          </a:xfrm>
          <a:prstGeom prst="rect">
            <a:avLst/>
          </a:prstGeom>
        </p:spPr>
        <p:txBody>
          <a:bodyPr spcFirstLastPara="1" anchor="b">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lang="en-US" smtClean="0"/>
              <a:t>Click to edit Master title style</a:t>
            </a:r>
            <a:endParaRPr/>
          </a:p>
        </p:txBody>
      </p:sp>
      <p:sp>
        <p:nvSpPr>
          <p:cNvPr id="49" name="Google Shape;49;p11"/>
          <p:cNvSpPr txBox="1">
            <a:spLocks noGrp="1"/>
          </p:cNvSpPr>
          <p:nvPr>
            <p:ph type="body" idx="1"/>
          </p:nvPr>
        </p:nvSpPr>
        <p:spPr>
          <a:xfrm>
            <a:off x="311700" y="3152225"/>
            <a:ext cx="8520600" cy="1300800"/>
          </a:xfrm>
          <a:prstGeom prst="rect">
            <a:avLst/>
          </a:prstGeom>
        </p:spPr>
        <p:txBody>
          <a:bodyPr spcFirstLastPara="1">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pPr lvl="0"/>
            <a:r>
              <a:rPr lang="en-US" smtClean="0"/>
              <a:t>Edit Master text styles</a:t>
            </a:r>
          </a:p>
        </p:txBody>
      </p:sp>
      <p:sp>
        <p:nvSpPr>
          <p:cNvPr id="4" name="Google Shape;8;p1"/>
          <p:cNvSpPr txBox="1">
            <a:spLocks noGrp="1"/>
          </p:cNvSpPr>
          <p:nvPr>
            <p:ph type="sldNum" idx="13"/>
          </p:nvPr>
        </p:nvSpPr>
        <p:spPr>
          <a:ln/>
        </p:spPr>
        <p:txBody>
          <a:bodyPr/>
          <a:lstStyle>
            <a:lvl1pPr>
              <a:defRPr/>
            </a:lvl1pPr>
          </a:lstStyle>
          <a:p>
            <a:pPr>
              <a:defRPr/>
            </a:pPr>
            <a:fld id="{232A5362-A1D8-43FC-84AC-0ADBA1AA1F5A}" type="slidenum">
              <a:rPr lang="en-GB" altLang="en-US"/>
              <a:pPr>
                <a:defRPr/>
              </a:pPr>
              <a:t>‹#›</a:t>
            </a:fld>
            <a:endParaRPr lang="en-US" altLang="en-US"/>
          </a:p>
        </p:txBody>
      </p:sp>
    </p:spTree>
    <p:extLst>
      <p:ext uri="{BB962C8B-B14F-4D97-AF65-F5344CB8AC3E}">
        <p14:creationId xmlns:p14="http://schemas.microsoft.com/office/powerpoint/2010/main" val="3362687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2" name="Google Shape;8;p1"/>
          <p:cNvSpPr txBox="1">
            <a:spLocks noGrp="1"/>
          </p:cNvSpPr>
          <p:nvPr>
            <p:ph type="sldNum" idx="13"/>
          </p:nvPr>
        </p:nvSpPr>
        <p:spPr>
          <a:ln/>
        </p:spPr>
        <p:txBody>
          <a:bodyPr/>
          <a:lstStyle>
            <a:lvl1pPr>
              <a:defRPr/>
            </a:lvl1pPr>
          </a:lstStyle>
          <a:p>
            <a:pPr>
              <a:defRPr/>
            </a:pPr>
            <a:fld id="{A6295CF9-8D20-435E-A100-1FDA0C35FE17}" type="slidenum">
              <a:rPr lang="en-GB" altLang="en-US"/>
              <a:pPr>
                <a:defRPr/>
              </a:pPr>
              <a:t>‹#›</a:t>
            </a:fld>
            <a:endParaRPr lang="en-US" altLang="en-US"/>
          </a:p>
        </p:txBody>
      </p:sp>
    </p:spTree>
    <p:extLst>
      <p:ext uri="{BB962C8B-B14F-4D97-AF65-F5344CB8AC3E}">
        <p14:creationId xmlns:p14="http://schemas.microsoft.com/office/powerpoint/2010/main" val="2367386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9"/>
        <p:cNvGrpSpPr/>
        <p:nvPr/>
      </p:nvGrpSpPr>
      <p:grpSpPr>
        <a:xfrm>
          <a:off x="0" y="0"/>
          <a:ext cx="0" cy="0"/>
          <a:chOff x="0" y="0"/>
          <a:chExt cx="0" cy="0"/>
        </a:xfrm>
      </p:grpSpPr>
      <p:sp>
        <p:nvSpPr>
          <p:cNvPr id="21" name="Google Shape;21;p4"/>
          <p:cNvSpPr txBox="1">
            <a:spLocks noGrp="1"/>
          </p:cNvSpPr>
          <p:nvPr>
            <p:ph type="body" idx="1"/>
          </p:nvPr>
        </p:nvSpPr>
        <p:spPr>
          <a:xfrm>
            <a:off x="311700" y="1152475"/>
            <a:ext cx="8520600" cy="3416400"/>
          </a:xfrm>
          <a:prstGeom prst="rect">
            <a:avLst/>
          </a:prstGeom>
        </p:spPr>
        <p:txBody>
          <a:bodyPr spcFirstLastPara="1">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pPr lvl="0"/>
            <a:r>
              <a:rPr lang="en-US" smtClean="0"/>
              <a:t>Edit Master text styles</a:t>
            </a:r>
          </a:p>
        </p:txBody>
      </p:sp>
      <p:sp>
        <p:nvSpPr>
          <p:cNvPr id="3" name="Title 2"/>
          <p:cNvSpPr>
            <a:spLocks noGrp="1"/>
          </p:cNvSpPr>
          <p:nvPr>
            <p:ph type="title"/>
          </p:nvPr>
        </p:nvSpPr>
        <p:spPr/>
        <p:txBody>
          <a:bodyPr/>
          <a:lstStyle/>
          <a:p>
            <a:r>
              <a:rPr lang="en-US" smtClean="0"/>
              <a:t>Click to edit Master title style</a:t>
            </a:r>
            <a:endParaRPr lang="en-US"/>
          </a:p>
        </p:txBody>
      </p:sp>
      <p:sp>
        <p:nvSpPr>
          <p:cNvPr id="4" name="Google Shape;8;p1"/>
          <p:cNvSpPr txBox="1">
            <a:spLocks noGrp="1"/>
          </p:cNvSpPr>
          <p:nvPr>
            <p:ph type="sldNum" idx="13"/>
          </p:nvPr>
        </p:nvSpPr>
        <p:spPr>
          <a:ln/>
        </p:spPr>
        <p:txBody>
          <a:bodyPr/>
          <a:lstStyle>
            <a:lvl1pPr>
              <a:defRPr/>
            </a:lvl1pPr>
          </a:lstStyle>
          <a:p>
            <a:pPr>
              <a:defRPr/>
            </a:pPr>
            <a:fld id="{055F600F-AA22-4927-A250-F0D23DB7478F}" type="slidenum">
              <a:rPr lang="en-GB" altLang="en-US"/>
              <a:pPr>
                <a:defRPr/>
              </a:pPr>
              <a:t>‹#›</a:t>
            </a:fld>
            <a:endParaRPr lang="en-US" altLang="en-US"/>
          </a:p>
        </p:txBody>
      </p:sp>
    </p:spTree>
    <p:extLst>
      <p:ext uri="{BB962C8B-B14F-4D97-AF65-F5344CB8AC3E}">
        <p14:creationId xmlns:p14="http://schemas.microsoft.com/office/powerpoint/2010/main" val="1171068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bg1"/>
        </a:solidFill>
        <a:effectLst/>
      </p:bgPr>
    </p:bg>
    <p:spTree>
      <p:nvGrpSpPr>
        <p:cNvPr id="1" name=""/>
        <p:cNvGrpSpPr/>
        <p:nvPr/>
      </p:nvGrpSpPr>
      <p:grpSpPr>
        <a:xfrm>
          <a:off x="0" y="0"/>
          <a:ext cx="0" cy="0"/>
          <a:chOff x="0" y="0"/>
          <a:chExt cx="0" cy="0"/>
        </a:xfrm>
      </p:grpSpPr>
      <p:sp>
        <p:nvSpPr>
          <p:cNvPr id="1026" name="Google Shape;6;p1"/>
          <p:cNvSpPr txBox="1">
            <a:spLocks noGrp="1"/>
          </p:cNvSpPr>
          <p:nvPr>
            <p:ph type="title"/>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smtClean="0">
              <a:sym typeface="Arial" panose="020B0604020202020204" pitchFamily="34" charset="0"/>
            </a:endParaRPr>
          </a:p>
        </p:txBody>
      </p:sp>
      <p:sp>
        <p:nvSpPr>
          <p:cNvPr id="1027" name="Google Shape;7;p1"/>
          <p:cNvSpPr txBox="1">
            <a:spLocks noGrp="1"/>
          </p:cNvSpPr>
          <p:nvPr>
            <p:ph type="body" idx="1"/>
          </p:nvPr>
        </p:nvSpPr>
        <p:spPr bwMode="auto">
          <a:xfrm>
            <a:off x="311150" y="1152525"/>
            <a:ext cx="85217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smtClean="0">
              <a:sym typeface="Arial" panose="020B0604020202020204" pitchFamily="34" charset="0"/>
            </a:endParaRPr>
          </a:p>
        </p:txBody>
      </p:sp>
      <p:sp>
        <p:nvSpPr>
          <p:cNvPr id="1028" name="Google Shape;8;p1"/>
          <p:cNvSpPr txBox="1">
            <a:spLocks noGrp="1"/>
          </p:cNvSpPr>
          <p:nvPr>
            <p:ph type="sldNum" idx="12"/>
          </p:nvPr>
        </p:nvSpPr>
        <p:spPr bwMode="auto">
          <a:xfrm>
            <a:off x="8472488" y="4662488"/>
            <a:ext cx="5492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ctr" anchorCtr="0" compatLnSpc="1">
            <a:prstTxWarp prst="textNoShape">
              <a:avLst/>
            </a:prstTxWarp>
          </a:bodyPr>
          <a:lstStyle>
            <a:lvl1pPr algn="r" eaLnBrk="1" hangingPunct="1">
              <a:buClr>
                <a:srgbClr val="000000"/>
              </a:buClr>
              <a:buFont typeface="Arial" panose="020B0604020202020204" pitchFamily="34" charset="0"/>
              <a:buNone/>
              <a:defRPr sz="1000" smtClean="0">
                <a:latin typeface="Nunito" panose="02010600030101010101" charset="0"/>
                <a:cs typeface="Nunito" panose="02010600030101010101" charset="0"/>
                <a:sym typeface="Nunito" panose="02010600030101010101" charset="0"/>
              </a:defRPr>
            </a:lvl1pPr>
          </a:lstStyle>
          <a:p>
            <a:pPr>
              <a:defRPr/>
            </a:pPr>
            <a:fld id="{C733D685-9423-402D-80FE-E932FA3C5C71}" type="slidenum">
              <a:rPr lang="en-GB" altLang="en-US"/>
              <a:pPr>
                <a:defRPr/>
              </a:pPr>
              <a:t>‹#›</a:t>
            </a:fld>
            <a:endParaRPr lang="en-US" altLang="en-US"/>
          </a:p>
        </p:txBody>
      </p:sp>
      <p:sp>
        <p:nvSpPr>
          <p:cNvPr id="1029" name="Google Shape;9;p1"/>
          <p:cNvSpPr txBox="1">
            <a:spLocks noChangeArrowheads="1"/>
          </p:cNvSpPr>
          <p:nvPr/>
        </p:nvSpPr>
        <p:spPr bwMode="auto">
          <a:xfrm>
            <a:off x="311150" y="4703763"/>
            <a:ext cx="354488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defRPr/>
            </a:pPr>
            <a:r>
              <a:rPr lang="en-GB" altLang="en-US" sz="1000" smtClean="0">
                <a:latin typeface="Nunito" panose="02010600030101010101" charset="0"/>
                <a:cs typeface="Nunito" panose="02010600030101010101" charset="0"/>
                <a:sym typeface="Nunito" panose="02010600030101010101" charset="0"/>
              </a:rPr>
              <a:t>Wang Yue</a:t>
            </a:r>
            <a:endParaRPr lang="en-US" altLang="en-US" smtClean="0">
              <a:latin typeface="Nunito" panose="02010600030101010101" charset="0"/>
              <a:cs typeface="Nunito" panose="02010600030101010101" charset="0"/>
              <a:sym typeface="Nunito" panose="02010600030101010101" charset="0"/>
            </a:endParaRPr>
          </a:p>
        </p:txBody>
      </p:sp>
      <p:pic>
        <p:nvPicPr>
          <p:cNvPr id="1030" name="Google Shape;10;p1"/>
          <p:cNvPicPr preferRelativeResize="0">
            <a:picLocks noChangeAspect="1" noChangeArrowheads="1"/>
          </p:cNvPicPr>
          <p:nvPr/>
        </p:nvPicPr>
        <p:blipFill>
          <a:blip r:embed="rId13">
            <a:extLst>
              <a:ext uri="{28A0092B-C50C-407E-A947-70E740481C1C}">
                <a14:useLocalDpi xmlns:a14="http://schemas.microsoft.com/office/drawing/2010/main" val="0"/>
              </a:ext>
            </a:extLst>
          </a:blip>
          <a:srcRect l="-2679" b="13322"/>
          <a:stretch>
            <a:fillRect/>
          </a:stretch>
        </p:blipFill>
        <p:spPr bwMode="auto">
          <a:xfrm>
            <a:off x="7412038" y="71438"/>
            <a:ext cx="1652587"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dk2" tx2="lt2" accent1="accent1" accent2="accent2" accent3="accent3" accent4="accent4" accent5="accent5" accent6="accent6" hlink="hlink" folHlink="folHlink"/>
  <p:sldLayoutIdLst>
    <p:sldLayoutId id="2147483684" r:id="rId1"/>
    <p:sldLayoutId id="2147483675" r:id="rId2"/>
    <p:sldLayoutId id="2147483677" r:id="rId3"/>
    <p:sldLayoutId id="2147483678" r:id="rId4"/>
    <p:sldLayoutId id="2147483679" r:id="rId5"/>
    <p:sldLayoutId id="2147483680" r:id="rId6"/>
    <p:sldLayoutId id="2147483685" r:id="rId7"/>
    <p:sldLayoutId id="2147483681" r:id="rId8"/>
    <p:sldLayoutId id="2147483682" r:id="rId9"/>
    <p:sldLayoutId id="2147483683" r:id="rId10"/>
    <p:sldLayoutId id="2147483686" r:id="rId11"/>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1pPr>
      <a:lvl2pPr lvl="1"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2pPr>
      <a:lvl3pPr lvl="2"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3pPr>
      <a:lvl4pPr lvl="3"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4pPr>
      <a:lvl5pPr lvl="4" algn="l" rtl="0" eaLnBrk="1" fontAlgn="base" hangingPunct="1">
        <a:spcBef>
          <a:spcPct val="0"/>
        </a:spcBef>
        <a:spcAft>
          <a:spcPct val="0"/>
        </a:spcAft>
        <a:buClr>
          <a:srgbClr val="000000"/>
        </a:buClr>
        <a:buFont typeface="Arial" panose="020B0604020202020204" pitchFamily="34" charset="0"/>
        <a:defRPr sz="1400">
          <a:solidFill>
            <a:srgbClr val="000000"/>
          </a:solidFill>
          <a:latin typeface="Arial"/>
          <a:ea typeface="Arial"/>
          <a:cs typeface="Arial"/>
          <a:sym typeface="Arial" panose="020B0604020202020204" pitchFamily="34" charset="0"/>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6.emf"/></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image" Target="../media/image18.gif"/><Relationship Id="rId4" Type="http://schemas.openxmlformats.org/officeDocument/2006/relationships/image" Target="../media/image17.gif"/></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0.gif"/><Relationship Id="rId5" Type="http://schemas.openxmlformats.org/officeDocument/2006/relationships/image" Target="../media/image19.gif"/><Relationship Id="rId4" Type="http://schemas.openxmlformats.org/officeDocument/2006/relationships/image" Target="../media/image16.emf"/></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6.emf"/></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36.png"/><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1.xml"/><Relationship Id="rId5" Type="http://schemas.openxmlformats.org/officeDocument/2006/relationships/image" Target="../media/image41.png"/><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Google Shape;57;p13"/>
          <p:cNvSpPr txBox="1">
            <a:spLocks noGrp="1"/>
          </p:cNvSpPr>
          <p:nvPr>
            <p:ph type="ctrTitle"/>
          </p:nvPr>
        </p:nvSpPr>
        <p:spPr>
          <a:xfrm>
            <a:off x="570761" y="1672504"/>
            <a:ext cx="8000348" cy="468153"/>
          </a:xfrm>
        </p:spPr>
        <p:txBody>
          <a:bodyPr/>
          <a:lstStyle/>
          <a:p>
            <a:pPr algn="l">
              <a:spcBef>
                <a:spcPct val="0"/>
              </a:spcBef>
              <a:spcAft>
                <a:spcPct val="0"/>
              </a:spcAft>
            </a:pPr>
            <a:r>
              <a:rPr lang="en-US" altLang="en-US" sz="2800" dirty="0">
                <a:latin typeface="Nunito" charset="0"/>
                <a:cs typeface="Nunito" charset="0"/>
                <a:sym typeface="Nunito" charset="0"/>
              </a:rPr>
              <a:t>Desis: General Distributed Window Aggregation</a:t>
            </a:r>
            <a:endParaRPr lang="en-US" altLang="en-US" sz="800" dirty="0" smtClean="0">
              <a:latin typeface="Nunito" charset="0"/>
              <a:cs typeface="Nunito" charset="0"/>
              <a:sym typeface="Nunito" charset="0"/>
            </a:endParaRPr>
          </a:p>
        </p:txBody>
      </p:sp>
      <p:sp>
        <p:nvSpPr>
          <p:cNvPr id="3" name="Google Shape;70;p15"/>
          <p:cNvSpPr txBox="1">
            <a:spLocks/>
          </p:cNvSpPr>
          <p:nvPr/>
        </p:nvSpPr>
        <p:spPr bwMode="auto">
          <a:xfrm>
            <a:off x="3872125" y="3826195"/>
            <a:ext cx="4818491" cy="72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r">
              <a:buSzPts val="2800"/>
              <a:buFont typeface="Nunito" charset="0"/>
              <a:buNone/>
            </a:pPr>
            <a:endParaRPr lang="en-GB" altLang="en-US" sz="1400" kern="0" dirty="0" smtClean="0">
              <a:latin typeface="Nunito" charset="0"/>
              <a:cs typeface="Nunito" charset="0"/>
              <a:sym typeface="Nunito" charset="0"/>
            </a:endParaRPr>
          </a:p>
          <a:p>
            <a:pPr algn="r">
              <a:buSzPts val="2800"/>
            </a:pPr>
            <a:r>
              <a:rPr lang="en-GB" altLang="en-US" sz="1400" kern="0" dirty="0" smtClean="0">
                <a:latin typeface="Nunito" charset="0"/>
                <a:cs typeface="Nunito" charset="0"/>
                <a:sym typeface="Nunito" charset="0"/>
              </a:rPr>
              <a:t>Hasso-Plattner-Institut Potsdam</a:t>
            </a:r>
            <a:r>
              <a:rPr lang="en-GB" altLang="en-US" sz="1400" kern="0" dirty="0">
                <a:latin typeface="Nunito" charset="0"/>
                <a:cs typeface="Nunito" charset="0"/>
                <a:sym typeface="Nunito" charset="0"/>
              </a:rPr>
              <a:t>, </a:t>
            </a:r>
            <a:endParaRPr lang="en-GB" altLang="en-US" sz="1400" kern="0" dirty="0" smtClean="0">
              <a:latin typeface="Nunito" charset="0"/>
              <a:cs typeface="Nunito" charset="0"/>
              <a:sym typeface="Nunito" charset="0"/>
            </a:endParaRPr>
          </a:p>
          <a:p>
            <a:pPr algn="r">
              <a:buSzPts val="2800"/>
            </a:pPr>
            <a:r>
              <a:rPr lang="en-GB" altLang="en-US" sz="1400" kern="0" dirty="0" smtClean="0">
                <a:latin typeface="Nunito" charset="0"/>
                <a:cs typeface="Nunito" charset="0"/>
                <a:sym typeface="Nunito" charset="0"/>
              </a:rPr>
              <a:t>Data </a:t>
            </a:r>
            <a:r>
              <a:rPr lang="en-GB" altLang="en-US" sz="1400" kern="0" dirty="0">
                <a:latin typeface="Nunito" charset="0"/>
                <a:cs typeface="Nunito" charset="0"/>
                <a:sym typeface="Nunito" charset="0"/>
              </a:rPr>
              <a:t>Engineering </a:t>
            </a:r>
            <a:r>
              <a:rPr lang="en-GB" altLang="en-US" sz="1400" kern="0" dirty="0" smtClean="0">
                <a:latin typeface="Nunito" charset="0"/>
                <a:cs typeface="Nunito" charset="0"/>
                <a:sym typeface="Nunito" charset="0"/>
              </a:rPr>
              <a:t>System</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Tree>
    <p:extLst>
      <p:ext uri="{BB962C8B-B14F-4D97-AF65-F5344CB8AC3E}">
        <p14:creationId xmlns:p14="http://schemas.microsoft.com/office/powerpoint/2010/main" val="4030107931"/>
      </p:ext>
    </p:extLst>
  </p:cSld>
  <p:clrMapOvr>
    <a:masterClrMapping/>
  </p:clrMapOvr>
  <p:transition spd="slow" advTm="22052"/>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Background</a:t>
            </a:r>
          </a:p>
        </p:txBody>
      </p:sp>
      <p:sp>
        <p:nvSpPr>
          <p:cNvPr id="13" name="TextBox 12"/>
          <p:cNvSpPr txBox="1"/>
          <p:nvPr/>
        </p:nvSpPr>
        <p:spPr>
          <a:xfrm>
            <a:off x="2543810" y="577099"/>
            <a:ext cx="4606480" cy="338554"/>
          </a:xfrm>
          <a:prstGeom prst="rect">
            <a:avLst/>
          </a:prstGeom>
          <a:noFill/>
        </p:spPr>
        <p:txBody>
          <a:bodyPr wrap="square" rtlCol="0">
            <a:spAutoFit/>
          </a:bodyPr>
          <a:lstStyle/>
          <a:p>
            <a:r>
              <a:rPr lang="en-US" sz="1600" dirty="0" smtClean="0"/>
              <a:t>window</a:t>
            </a:r>
            <a:endParaRPr lang="en-US" sz="1600" dirty="0"/>
          </a:p>
        </p:txBody>
      </p:sp>
      <p:sp>
        <p:nvSpPr>
          <p:cNvPr id="14" name="Rectangle 13"/>
          <p:cNvSpPr/>
          <p:nvPr/>
        </p:nvSpPr>
        <p:spPr>
          <a:xfrm>
            <a:off x="539634" y="3089318"/>
            <a:ext cx="2857236"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ight Triangle 15"/>
          <p:cNvSpPr/>
          <p:nvPr/>
        </p:nvSpPr>
        <p:spPr>
          <a:xfrm rot="2446739">
            <a:off x="3214255" y="2936993"/>
            <a:ext cx="449580" cy="527211"/>
          </a:xfrm>
          <a:prstGeom prst="r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le 17"/>
          <p:cNvSpPr/>
          <p:nvPr/>
        </p:nvSpPr>
        <p:spPr>
          <a:xfrm>
            <a:off x="3312928" y="2838927"/>
            <a:ext cx="613410" cy="913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Isosceles Triangle 18"/>
          <p:cNvSpPr/>
          <p:nvPr/>
        </p:nvSpPr>
        <p:spPr>
          <a:xfrm>
            <a:off x="638694" y="314265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sosceles Triangle 20"/>
          <p:cNvSpPr/>
          <p:nvPr/>
        </p:nvSpPr>
        <p:spPr>
          <a:xfrm>
            <a:off x="941467" y="314265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Isosceles Triangle 21"/>
          <p:cNvSpPr/>
          <p:nvPr/>
        </p:nvSpPr>
        <p:spPr>
          <a:xfrm>
            <a:off x="1244240" y="314265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Straight Connector 23"/>
          <p:cNvCxnSpPr/>
          <p:nvPr/>
        </p:nvCxnSpPr>
        <p:spPr>
          <a:xfrm>
            <a:off x="539634" y="3475413"/>
            <a:ext cx="0" cy="1600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539634" y="3551613"/>
            <a:ext cx="27732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311149" y="1243122"/>
            <a:ext cx="7544377" cy="1384995"/>
          </a:xfrm>
          <a:prstGeom prst="rect">
            <a:avLst/>
          </a:prstGeom>
        </p:spPr>
        <p:txBody>
          <a:bodyPr wrap="square">
            <a:spAutoFit/>
          </a:bodyPr>
          <a:lstStyle/>
          <a:p>
            <a:r>
              <a:rPr lang="en-US" altLang="zh-CN" b="1" dirty="0">
                <a:latin typeface="+mn-lt"/>
              </a:rPr>
              <a:t>The most common way to process an unbounded dataset using repeated runs</a:t>
            </a:r>
          </a:p>
          <a:p>
            <a:r>
              <a:rPr lang="en-US" altLang="zh-CN" b="1" dirty="0">
                <a:latin typeface="+mn-lt"/>
              </a:rPr>
              <a:t>of a batch engine is by </a:t>
            </a:r>
            <a:r>
              <a:rPr lang="en-US" altLang="zh-CN" b="1" dirty="0" smtClean="0">
                <a:latin typeface="+mn-lt"/>
              </a:rPr>
              <a:t>windowing the input data into fixed-size windows and</a:t>
            </a:r>
          </a:p>
          <a:p>
            <a:r>
              <a:rPr lang="en-US" altLang="zh-CN" b="1" dirty="0" smtClean="0">
                <a:latin typeface="+mn-lt"/>
              </a:rPr>
              <a:t>then processing each of those windows as a separate.  </a:t>
            </a:r>
          </a:p>
          <a:p>
            <a:r>
              <a:rPr lang="en-US" altLang="zh-CN" b="1" dirty="0" smtClean="0">
                <a:latin typeface="+mn-lt"/>
              </a:rPr>
              <a:t>                                                                       -  Streaming Systems by Tyler </a:t>
            </a:r>
            <a:r>
              <a:rPr lang="en-US" altLang="zh-CN" b="1" dirty="0" err="1" smtClean="0">
                <a:latin typeface="+mn-lt"/>
              </a:rPr>
              <a:t>Akidau</a:t>
            </a:r>
            <a:endParaRPr lang="en-US" altLang="zh-CN" b="1" dirty="0" smtClean="0">
              <a:latin typeface="+mn-lt"/>
            </a:endParaRPr>
          </a:p>
          <a:p>
            <a:endParaRPr lang="en-US" altLang="zh-CN" b="1" dirty="0">
              <a:latin typeface="+mn-lt"/>
            </a:endParaRPr>
          </a:p>
          <a:p>
            <a:r>
              <a:rPr lang="en-US" altLang="zh-CN" b="1" dirty="0" smtClean="0">
                <a:latin typeface="+mn-lt"/>
              </a:rPr>
              <a:t> </a:t>
            </a:r>
            <a:endParaRPr lang="zh-CN" altLang="en-US" b="1" dirty="0">
              <a:latin typeface="+mn-lt"/>
            </a:endParaRPr>
          </a:p>
        </p:txBody>
      </p:sp>
      <p:graphicFrame>
        <p:nvGraphicFramePr>
          <p:cNvPr id="20" name="Table 19"/>
          <p:cNvGraphicFramePr>
            <a:graphicFrameLocks noGrp="1"/>
          </p:cNvGraphicFramePr>
          <p:nvPr>
            <p:extLst>
              <p:ext uri="{D42A27DB-BD31-4B8C-83A1-F6EECF244321}">
                <p14:modId xmlns:p14="http://schemas.microsoft.com/office/powerpoint/2010/main" val="3533896097"/>
              </p:ext>
            </p:extLst>
          </p:nvPr>
        </p:nvGraphicFramePr>
        <p:xfrm>
          <a:off x="4495098" y="2628117"/>
          <a:ext cx="3459488" cy="1524000"/>
        </p:xfrm>
        <a:graphic>
          <a:graphicData uri="http://schemas.openxmlformats.org/drawingml/2006/table">
            <a:tbl>
              <a:tblPr firstRow="1" bandRow="1">
                <a:tableStyleId>{073A0DAA-6AF3-43AB-8588-CEC1D06C72B9}</a:tableStyleId>
              </a:tblPr>
              <a:tblGrid>
                <a:gridCol w="1729744">
                  <a:extLst>
                    <a:ext uri="{9D8B030D-6E8A-4147-A177-3AD203B41FA5}">
                      <a16:colId xmlns:a16="http://schemas.microsoft.com/office/drawing/2014/main" val="429943062"/>
                    </a:ext>
                  </a:extLst>
                </a:gridCol>
                <a:gridCol w="1729744">
                  <a:extLst>
                    <a:ext uri="{9D8B030D-6E8A-4147-A177-3AD203B41FA5}">
                      <a16:colId xmlns:a16="http://schemas.microsoft.com/office/drawing/2014/main" val="1138281403"/>
                    </a:ext>
                  </a:extLst>
                </a:gridCol>
              </a:tblGrid>
              <a:tr h="263165">
                <a:tc>
                  <a:txBody>
                    <a:bodyPr/>
                    <a:lstStyle/>
                    <a:p>
                      <a:r>
                        <a:rPr lang="en-US" dirty="0" smtClean="0"/>
                        <a:t>Time-based</a:t>
                      </a:r>
                      <a:endParaRPr lang="en-US" dirty="0"/>
                    </a:p>
                  </a:txBody>
                  <a:tcPr/>
                </a:tc>
                <a:tc>
                  <a:txBody>
                    <a:bodyPr/>
                    <a:lstStyle/>
                    <a:p>
                      <a:r>
                        <a:rPr lang="en-US" dirty="0" smtClean="0"/>
                        <a:t>Count-based</a:t>
                      </a:r>
                      <a:endParaRPr lang="en-US" dirty="0"/>
                    </a:p>
                  </a:txBody>
                  <a:tcPr/>
                </a:tc>
                <a:extLst>
                  <a:ext uri="{0D108BD9-81ED-4DB2-BD59-A6C34878D82A}">
                    <a16:rowId xmlns:a16="http://schemas.microsoft.com/office/drawing/2014/main" val="2724814258"/>
                  </a:ext>
                </a:extLst>
              </a:tr>
              <a:tr h="263165">
                <a:tc>
                  <a:txBody>
                    <a:bodyPr/>
                    <a:lstStyle/>
                    <a:p>
                      <a:r>
                        <a:rPr lang="en-US" dirty="0" smtClean="0"/>
                        <a:t>Tumbling</a:t>
                      </a:r>
                      <a:endParaRPr lang="en-US" dirty="0"/>
                    </a:p>
                  </a:txBody>
                  <a:tcPr/>
                </a:tc>
                <a:tc>
                  <a:txBody>
                    <a:bodyPr/>
                    <a:lstStyle/>
                    <a:p>
                      <a:r>
                        <a:rPr lang="en-US" altLang="zh-CN" dirty="0" smtClean="0"/>
                        <a:t>Counting </a:t>
                      </a:r>
                      <a:endParaRPr lang="en-US" altLang="zh-CN" dirty="0"/>
                    </a:p>
                  </a:txBody>
                  <a:tcPr/>
                </a:tc>
                <a:extLst>
                  <a:ext uri="{0D108BD9-81ED-4DB2-BD59-A6C34878D82A}">
                    <a16:rowId xmlns:a16="http://schemas.microsoft.com/office/drawing/2014/main" val="4220155151"/>
                  </a:ext>
                </a:extLst>
              </a:tr>
              <a:tr h="263165">
                <a:tc>
                  <a:txBody>
                    <a:bodyPr/>
                    <a:lstStyle/>
                    <a:p>
                      <a:r>
                        <a:rPr lang="en-US" dirty="0" smtClean="0"/>
                        <a:t>Sliding</a:t>
                      </a:r>
                      <a:endParaRPr lang="en-US" dirty="0"/>
                    </a:p>
                  </a:txBody>
                  <a:tcPr/>
                </a:tc>
                <a:tc>
                  <a:txBody>
                    <a:bodyPr/>
                    <a:lstStyle/>
                    <a:p>
                      <a:endParaRPr lang="zh-CN" altLang="en-US" dirty="0"/>
                    </a:p>
                  </a:txBody>
                  <a:tcPr/>
                </a:tc>
                <a:extLst>
                  <a:ext uri="{0D108BD9-81ED-4DB2-BD59-A6C34878D82A}">
                    <a16:rowId xmlns:a16="http://schemas.microsoft.com/office/drawing/2014/main" val="668435988"/>
                  </a:ext>
                </a:extLst>
              </a:tr>
              <a:tr h="263165">
                <a:tc>
                  <a:txBody>
                    <a:bodyPr/>
                    <a:lstStyle/>
                    <a:p>
                      <a:r>
                        <a:rPr lang="en-US" dirty="0" smtClean="0"/>
                        <a:t>Session</a:t>
                      </a:r>
                      <a:endParaRPr lang="en-US" dirty="0"/>
                    </a:p>
                  </a:txBody>
                  <a:tcPr/>
                </a:tc>
                <a:tc>
                  <a:txBody>
                    <a:bodyPr/>
                    <a:lstStyle/>
                    <a:p>
                      <a:endParaRPr lang="zh-CN" altLang="en-US" dirty="0"/>
                    </a:p>
                  </a:txBody>
                  <a:tcPr/>
                </a:tc>
                <a:extLst>
                  <a:ext uri="{0D108BD9-81ED-4DB2-BD59-A6C34878D82A}">
                    <a16:rowId xmlns:a16="http://schemas.microsoft.com/office/drawing/2014/main" val="2807112938"/>
                  </a:ext>
                </a:extLst>
              </a:tr>
              <a:tr h="263165">
                <a:tc>
                  <a:txBody>
                    <a:bodyPr/>
                    <a:lstStyle/>
                    <a:p>
                      <a:r>
                        <a:rPr lang="en-US" dirty="0" smtClean="0"/>
                        <a:t>User-define</a:t>
                      </a:r>
                      <a:r>
                        <a:rPr lang="en-US" baseline="0" dirty="0" smtClean="0"/>
                        <a:t> </a:t>
                      </a:r>
                      <a:endParaRPr lang="en-US" dirty="0"/>
                    </a:p>
                  </a:txBody>
                  <a:tcPr/>
                </a:tc>
                <a:tc>
                  <a:txBody>
                    <a:bodyPr/>
                    <a:lstStyle/>
                    <a:p>
                      <a:endParaRPr lang="en-US" dirty="0"/>
                    </a:p>
                  </a:txBody>
                  <a:tcPr/>
                </a:tc>
                <a:extLst>
                  <a:ext uri="{0D108BD9-81ED-4DB2-BD59-A6C34878D82A}">
                    <a16:rowId xmlns:a16="http://schemas.microsoft.com/office/drawing/2014/main" val="2854474576"/>
                  </a:ext>
                </a:extLst>
              </a:tr>
            </a:tbl>
          </a:graphicData>
        </a:graphic>
      </p:graphicFrame>
    </p:spTree>
    <p:extLst>
      <p:ext uri="{BB962C8B-B14F-4D97-AF65-F5344CB8AC3E}">
        <p14:creationId xmlns:p14="http://schemas.microsoft.com/office/powerpoint/2010/main" val="3897892354"/>
      </p:ext>
    </p:extLst>
  </p:cSld>
  <p:clrMapOvr>
    <a:masterClrMapping/>
  </p:clrMapOvr>
  <p:transition spd="slow" advTm="22052"/>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Background</a:t>
            </a:r>
          </a:p>
        </p:txBody>
      </p:sp>
      <p:sp>
        <p:nvSpPr>
          <p:cNvPr id="13" name="TextBox 12"/>
          <p:cNvSpPr txBox="1"/>
          <p:nvPr/>
        </p:nvSpPr>
        <p:spPr>
          <a:xfrm>
            <a:off x="2543810" y="577099"/>
            <a:ext cx="4606480" cy="338554"/>
          </a:xfrm>
          <a:prstGeom prst="rect">
            <a:avLst/>
          </a:prstGeom>
          <a:noFill/>
        </p:spPr>
        <p:txBody>
          <a:bodyPr wrap="square" rtlCol="0">
            <a:spAutoFit/>
          </a:bodyPr>
          <a:lstStyle/>
          <a:p>
            <a:r>
              <a:rPr lang="en-US" sz="1600" dirty="0" smtClean="0"/>
              <a:t>aggregation function</a:t>
            </a:r>
            <a:endParaRPr lang="en-US" sz="1600" dirty="0"/>
          </a:p>
        </p:txBody>
      </p:sp>
      <p:sp>
        <p:nvSpPr>
          <p:cNvPr id="14" name="Rectangle 13"/>
          <p:cNvSpPr/>
          <p:nvPr/>
        </p:nvSpPr>
        <p:spPr>
          <a:xfrm>
            <a:off x="539634" y="3089318"/>
            <a:ext cx="2857236"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ight Triangle 15"/>
          <p:cNvSpPr/>
          <p:nvPr/>
        </p:nvSpPr>
        <p:spPr>
          <a:xfrm rot="2446739">
            <a:off x="3214255" y="2936993"/>
            <a:ext cx="449580" cy="527211"/>
          </a:xfrm>
          <a:prstGeom prst="r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le 17"/>
          <p:cNvSpPr/>
          <p:nvPr/>
        </p:nvSpPr>
        <p:spPr>
          <a:xfrm>
            <a:off x="3312928" y="2838927"/>
            <a:ext cx="613410" cy="913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Isosceles Triangle 18"/>
          <p:cNvSpPr/>
          <p:nvPr/>
        </p:nvSpPr>
        <p:spPr>
          <a:xfrm>
            <a:off x="638694" y="314265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sosceles Triangle 20"/>
          <p:cNvSpPr/>
          <p:nvPr/>
        </p:nvSpPr>
        <p:spPr>
          <a:xfrm>
            <a:off x="941467" y="314265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Isosceles Triangle 21"/>
          <p:cNvSpPr/>
          <p:nvPr/>
        </p:nvSpPr>
        <p:spPr>
          <a:xfrm>
            <a:off x="1244240" y="314265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Straight Connector 23"/>
          <p:cNvCxnSpPr/>
          <p:nvPr/>
        </p:nvCxnSpPr>
        <p:spPr>
          <a:xfrm>
            <a:off x="539634" y="3475413"/>
            <a:ext cx="0" cy="1600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539634" y="3551613"/>
            <a:ext cx="27732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311149" y="1243122"/>
            <a:ext cx="7544377" cy="523220"/>
          </a:xfrm>
          <a:prstGeom prst="rect">
            <a:avLst/>
          </a:prstGeom>
        </p:spPr>
        <p:txBody>
          <a:bodyPr wrap="square">
            <a:spAutoFit/>
          </a:bodyPr>
          <a:lstStyle/>
          <a:p>
            <a:r>
              <a:rPr lang="en-US" altLang="zh-CN" b="1" dirty="0" smtClean="0">
                <a:latin typeface="+mn-lt"/>
              </a:rPr>
              <a:t>Aggregation Function is the approach to calculate data that in a window.</a:t>
            </a:r>
            <a:endParaRPr lang="en-US" altLang="zh-CN" b="1" dirty="0">
              <a:latin typeface="+mn-lt"/>
            </a:endParaRPr>
          </a:p>
          <a:p>
            <a:r>
              <a:rPr lang="en-US" altLang="zh-CN" b="1" dirty="0" smtClean="0">
                <a:latin typeface="+mn-lt"/>
              </a:rPr>
              <a:t> </a:t>
            </a:r>
            <a:endParaRPr lang="zh-CN" altLang="en-US" b="1" dirty="0">
              <a:latin typeface="+mn-lt"/>
            </a:endParaRPr>
          </a:p>
        </p:txBody>
      </p:sp>
      <p:graphicFrame>
        <p:nvGraphicFramePr>
          <p:cNvPr id="20" name="Table 19"/>
          <p:cNvGraphicFramePr>
            <a:graphicFrameLocks noGrp="1"/>
          </p:cNvGraphicFramePr>
          <p:nvPr>
            <p:extLst>
              <p:ext uri="{D42A27DB-BD31-4B8C-83A1-F6EECF244321}">
                <p14:modId xmlns:p14="http://schemas.microsoft.com/office/powerpoint/2010/main" val="3431180544"/>
              </p:ext>
            </p:extLst>
          </p:nvPr>
        </p:nvGraphicFramePr>
        <p:xfrm>
          <a:off x="4238513" y="2438598"/>
          <a:ext cx="4058698" cy="1524000"/>
        </p:xfrm>
        <a:graphic>
          <a:graphicData uri="http://schemas.openxmlformats.org/drawingml/2006/table">
            <a:tbl>
              <a:tblPr firstRow="1" bandRow="1">
                <a:tableStyleId>{073A0DAA-6AF3-43AB-8588-CEC1D06C72B9}</a:tableStyleId>
              </a:tblPr>
              <a:tblGrid>
                <a:gridCol w="2029349">
                  <a:extLst>
                    <a:ext uri="{9D8B030D-6E8A-4147-A177-3AD203B41FA5}">
                      <a16:colId xmlns:a16="http://schemas.microsoft.com/office/drawing/2014/main" val="429943062"/>
                    </a:ext>
                  </a:extLst>
                </a:gridCol>
                <a:gridCol w="2029349">
                  <a:extLst>
                    <a:ext uri="{9D8B030D-6E8A-4147-A177-3AD203B41FA5}">
                      <a16:colId xmlns:a16="http://schemas.microsoft.com/office/drawing/2014/main" val="1138281403"/>
                    </a:ext>
                  </a:extLst>
                </a:gridCol>
              </a:tblGrid>
              <a:tr h="263165">
                <a:tc>
                  <a:txBody>
                    <a:bodyPr/>
                    <a:lstStyle/>
                    <a:p>
                      <a:r>
                        <a:rPr lang="en-US" dirty="0" smtClean="0"/>
                        <a:t>decomposable</a:t>
                      </a:r>
                      <a:endParaRPr lang="en-US" dirty="0"/>
                    </a:p>
                  </a:txBody>
                  <a:tcPr/>
                </a:tc>
                <a:tc>
                  <a:txBody>
                    <a:bodyPr/>
                    <a:lstStyle/>
                    <a:p>
                      <a:r>
                        <a:rPr lang="en-US" dirty="0" smtClean="0"/>
                        <a:t>Non-decomposable</a:t>
                      </a:r>
                      <a:endParaRPr lang="en-US" dirty="0"/>
                    </a:p>
                  </a:txBody>
                  <a:tcPr/>
                </a:tc>
                <a:extLst>
                  <a:ext uri="{0D108BD9-81ED-4DB2-BD59-A6C34878D82A}">
                    <a16:rowId xmlns:a16="http://schemas.microsoft.com/office/drawing/2014/main" val="2724814258"/>
                  </a:ext>
                </a:extLst>
              </a:tr>
              <a:tr h="263165">
                <a:tc>
                  <a:txBody>
                    <a:bodyPr/>
                    <a:lstStyle/>
                    <a:p>
                      <a:r>
                        <a:rPr lang="en-US" dirty="0" smtClean="0"/>
                        <a:t>Average</a:t>
                      </a:r>
                      <a:endParaRPr lang="en-US" dirty="0"/>
                    </a:p>
                  </a:txBody>
                  <a:tcPr/>
                </a:tc>
                <a:tc>
                  <a:txBody>
                    <a:bodyPr/>
                    <a:lstStyle/>
                    <a:p>
                      <a:r>
                        <a:rPr lang="en-US" altLang="zh-CN" dirty="0" smtClean="0"/>
                        <a:t>Median </a:t>
                      </a:r>
                      <a:endParaRPr lang="en-US" altLang="zh-CN" dirty="0"/>
                    </a:p>
                  </a:txBody>
                  <a:tcPr/>
                </a:tc>
                <a:extLst>
                  <a:ext uri="{0D108BD9-81ED-4DB2-BD59-A6C34878D82A}">
                    <a16:rowId xmlns:a16="http://schemas.microsoft.com/office/drawing/2014/main" val="4220155151"/>
                  </a:ext>
                </a:extLst>
              </a:tr>
              <a:tr h="263165">
                <a:tc>
                  <a:txBody>
                    <a:bodyPr/>
                    <a:lstStyle/>
                    <a:p>
                      <a:r>
                        <a:rPr lang="en-US" dirty="0" smtClean="0"/>
                        <a:t>Max</a:t>
                      </a:r>
                      <a:endParaRPr lang="en-US" dirty="0"/>
                    </a:p>
                  </a:txBody>
                  <a:tcPr/>
                </a:tc>
                <a:tc>
                  <a:txBody>
                    <a:bodyPr/>
                    <a:lstStyle/>
                    <a:p>
                      <a:endParaRPr lang="zh-CN" altLang="en-US" dirty="0"/>
                    </a:p>
                  </a:txBody>
                  <a:tcPr/>
                </a:tc>
                <a:extLst>
                  <a:ext uri="{0D108BD9-81ED-4DB2-BD59-A6C34878D82A}">
                    <a16:rowId xmlns:a16="http://schemas.microsoft.com/office/drawing/2014/main" val="668435988"/>
                  </a:ext>
                </a:extLst>
              </a:tr>
              <a:tr h="263165">
                <a:tc>
                  <a:txBody>
                    <a:bodyPr/>
                    <a:lstStyle/>
                    <a:p>
                      <a:r>
                        <a:rPr lang="en-US" dirty="0" smtClean="0"/>
                        <a:t>Min</a:t>
                      </a:r>
                      <a:endParaRPr lang="en-US" dirty="0"/>
                    </a:p>
                  </a:txBody>
                  <a:tcPr/>
                </a:tc>
                <a:tc>
                  <a:txBody>
                    <a:bodyPr/>
                    <a:lstStyle/>
                    <a:p>
                      <a:endParaRPr lang="zh-CN" altLang="en-US" dirty="0"/>
                    </a:p>
                  </a:txBody>
                  <a:tcPr/>
                </a:tc>
                <a:extLst>
                  <a:ext uri="{0D108BD9-81ED-4DB2-BD59-A6C34878D82A}">
                    <a16:rowId xmlns:a16="http://schemas.microsoft.com/office/drawing/2014/main" val="2807112938"/>
                  </a:ext>
                </a:extLst>
              </a:tr>
              <a:tr h="263165">
                <a:tc>
                  <a:txBody>
                    <a:bodyPr/>
                    <a:lstStyle/>
                    <a:p>
                      <a:r>
                        <a:rPr lang="en-US" dirty="0" smtClean="0"/>
                        <a:t>Count</a:t>
                      </a:r>
                      <a:endParaRPr lang="en-US" dirty="0"/>
                    </a:p>
                  </a:txBody>
                  <a:tcPr/>
                </a:tc>
                <a:tc>
                  <a:txBody>
                    <a:bodyPr/>
                    <a:lstStyle/>
                    <a:p>
                      <a:endParaRPr lang="en-US" dirty="0"/>
                    </a:p>
                  </a:txBody>
                  <a:tcPr/>
                </a:tc>
                <a:extLst>
                  <a:ext uri="{0D108BD9-81ED-4DB2-BD59-A6C34878D82A}">
                    <a16:rowId xmlns:a16="http://schemas.microsoft.com/office/drawing/2014/main" val="2854474576"/>
                  </a:ext>
                </a:extLst>
              </a:tr>
            </a:tbl>
          </a:graphicData>
        </a:graphic>
      </p:graphicFrame>
    </p:spTree>
    <p:extLst>
      <p:ext uri="{BB962C8B-B14F-4D97-AF65-F5344CB8AC3E}">
        <p14:creationId xmlns:p14="http://schemas.microsoft.com/office/powerpoint/2010/main" val="2720550798"/>
      </p:ext>
    </p:extLst>
  </p:cSld>
  <p:clrMapOvr>
    <a:masterClrMapping/>
  </p:clrMapOvr>
  <p:transition spd="slow" advTm="22052"/>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Background</a:t>
            </a:r>
          </a:p>
        </p:txBody>
      </p:sp>
      <p:sp>
        <p:nvSpPr>
          <p:cNvPr id="13" name="TextBox 12"/>
          <p:cNvSpPr txBox="1"/>
          <p:nvPr/>
        </p:nvSpPr>
        <p:spPr>
          <a:xfrm>
            <a:off x="2543810" y="577099"/>
            <a:ext cx="4606480" cy="338554"/>
          </a:xfrm>
          <a:prstGeom prst="rect">
            <a:avLst/>
          </a:prstGeom>
          <a:noFill/>
        </p:spPr>
        <p:txBody>
          <a:bodyPr wrap="square" rtlCol="0">
            <a:spAutoFit/>
          </a:bodyPr>
          <a:lstStyle/>
          <a:p>
            <a:r>
              <a:rPr lang="en-US" sz="1600" dirty="0" smtClean="0"/>
              <a:t>aggregation function</a:t>
            </a:r>
            <a:endParaRPr lang="en-US" sz="1600" dirty="0"/>
          </a:p>
        </p:txBody>
      </p:sp>
      <p:sp>
        <p:nvSpPr>
          <p:cNvPr id="14" name="Rectangle 13"/>
          <p:cNvSpPr/>
          <p:nvPr/>
        </p:nvSpPr>
        <p:spPr>
          <a:xfrm>
            <a:off x="509269" y="2645834"/>
            <a:ext cx="2857236"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Isosceles Triangle 18"/>
          <p:cNvSpPr/>
          <p:nvPr/>
        </p:nvSpPr>
        <p:spPr>
          <a:xfrm>
            <a:off x="608329"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sosceles Triangle 20"/>
          <p:cNvSpPr/>
          <p:nvPr/>
        </p:nvSpPr>
        <p:spPr>
          <a:xfrm>
            <a:off x="911102"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Isosceles Triangle 21"/>
          <p:cNvSpPr/>
          <p:nvPr/>
        </p:nvSpPr>
        <p:spPr>
          <a:xfrm>
            <a:off x="1213875"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2"/>
          <p:cNvSpPr/>
          <p:nvPr/>
        </p:nvSpPr>
        <p:spPr>
          <a:xfrm>
            <a:off x="311149" y="1243122"/>
            <a:ext cx="7544377" cy="523220"/>
          </a:xfrm>
          <a:prstGeom prst="rect">
            <a:avLst/>
          </a:prstGeom>
        </p:spPr>
        <p:txBody>
          <a:bodyPr wrap="square">
            <a:spAutoFit/>
          </a:bodyPr>
          <a:lstStyle/>
          <a:p>
            <a:r>
              <a:rPr lang="en-US" altLang="zh-CN" b="1" dirty="0" smtClean="0">
                <a:latin typeface="+mn-lt"/>
              </a:rPr>
              <a:t>Aggregation Function is the approach to calculate data that in a window.</a:t>
            </a:r>
            <a:endParaRPr lang="en-US" altLang="zh-CN" b="1" dirty="0">
              <a:latin typeface="+mn-lt"/>
            </a:endParaRPr>
          </a:p>
          <a:p>
            <a:r>
              <a:rPr lang="en-US" altLang="zh-CN" b="1" dirty="0" smtClean="0">
                <a:latin typeface="+mn-lt"/>
              </a:rPr>
              <a:t> </a:t>
            </a:r>
            <a:endParaRPr lang="zh-CN" altLang="en-US" b="1" dirty="0">
              <a:latin typeface="+mn-lt"/>
            </a:endParaRPr>
          </a:p>
        </p:txBody>
      </p:sp>
      <p:graphicFrame>
        <p:nvGraphicFramePr>
          <p:cNvPr id="20" name="Table 19"/>
          <p:cNvGraphicFramePr>
            <a:graphicFrameLocks noGrp="1"/>
          </p:cNvGraphicFramePr>
          <p:nvPr>
            <p:extLst>
              <p:ext uri="{D42A27DB-BD31-4B8C-83A1-F6EECF244321}">
                <p14:modId xmlns:p14="http://schemas.microsoft.com/office/powerpoint/2010/main" val="2986620843"/>
              </p:ext>
            </p:extLst>
          </p:nvPr>
        </p:nvGraphicFramePr>
        <p:xfrm>
          <a:off x="4572000" y="2452171"/>
          <a:ext cx="4058698" cy="1524000"/>
        </p:xfrm>
        <a:graphic>
          <a:graphicData uri="http://schemas.openxmlformats.org/drawingml/2006/table">
            <a:tbl>
              <a:tblPr firstRow="1" bandRow="1">
                <a:tableStyleId>{073A0DAA-6AF3-43AB-8588-CEC1D06C72B9}</a:tableStyleId>
              </a:tblPr>
              <a:tblGrid>
                <a:gridCol w="2029349">
                  <a:extLst>
                    <a:ext uri="{9D8B030D-6E8A-4147-A177-3AD203B41FA5}">
                      <a16:colId xmlns:a16="http://schemas.microsoft.com/office/drawing/2014/main" val="429943062"/>
                    </a:ext>
                  </a:extLst>
                </a:gridCol>
                <a:gridCol w="2029349">
                  <a:extLst>
                    <a:ext uri="{9D8B030D-6E8A-4147-A177-3AD203B41FA5}">
                      <a16:colId xmlns:a16="http://schemas.microsoft.com/office/drawing/2014/main" val="1138281403"/>
                    </a:ext>
                  </a:extLst>
                </a:gridCol>
              </a:tblGrid>
              <a:tr h="263165">
                <a:tc>
                  <a:txBody>
                    <a:bodyPr/>
                    <a:lstStyle/>
                    <a:p>
                      <a:r>
                        <a:rPr lang="en-US" dirty="0" smtClean="0"/>
                        <a:t>decomposable</a:t>
                      </a:r>
                      <a:endParaRPr lang="en-US" dirty="0"/>
                    </a:p>
                  </a:txBody>
                  <a:tcPr/>
                </a:tc>
                <a:tc>
                  <a:txBody>
                    <a:bodyPr/>
                    <a:lstStyle/>
                    <a:p>
                      <a:r>
                        <a:rPr lang="en-US" dirty="0" smtClean="0"/>
                        <a:t>Non-decomposable</a:t>
                      </a:r>
                      <a:endParaRPr lang="en-US" dirty="0"/>
                    </a:p>
                  </a:txBody>
                  <a:tcPr/>
                </a:tc>
                <a:extLst>
                  <a:ext uri="{0D108BD9-81ED-4DB2-BD59-A6C34878D82A}">
                    <a16:rowId xmlns:a16="http://schemas.microsoft.com/office/drawing/2014/main" val="2724814258"/>
                  </a:ext>
                </a:extLst>
              </a:tr>
              <a:tr h="263165">
                <a:tc>
                  <a:txBody>
                    <a:bodyPr/>
                    <a:lstStyle/>
                    <a:p>
                      <a:r>
                        <a:rPr lang="en-US" dirty="0" smtClean="0"/>
                        <a:t>Average</a:t>
                      </a:r>
                      <a:endParaRPr lang="en-US" dirty="0"/>
                    </a:p>
                  </a:txBody>
                  <a:tcPr/>
                </a:tc>
                <a:tc>
                  <a:txBody>
                    <a:bodyPr/>
                    <a:lstStyle/>
                    <a:p>
                      <a:r>
                        <a:rPr lang="en-US" altLang="zh-CN" dirty="0" smtClean="0"/>
                        <a:t>Median </a:t>
                      </a:r>
                      <a:endParaRPr lang="en-US" altLang="zh-CN" dirty="0"/>
                    </a:p>
                  </a:txBody>
                  <a:tcPr/>
                </a:tc>
                <a:extLst>
                  <a:ext uri="{0D108BD9-81ED-4DB2-BD59-A6C34878D82A}">
                    <a16:rowId xmlns:a16="http://schemas.microsoft.com/office/drawing/2014/main" val="4220155151"/>
                  </a:ext>
                </a:extLst>
              </a:tr>
              <a:tr h="263165">
                <a:tc>
                  <a:txBody>
                    <a:bodyPr/>
                    <a:lstStyle/>
                    <a:p>
                      <a:r>
                        <a:rPr lang="en-US" dirty="0" smtClean="0"/>
                        <a:t>Max</a:t>
                      </a:r>
                      <a:endParaRPr lang="en-US" dirty="0"/>
                    </a:p>
                  </a:txBody>
                  <a:tcPr/>
                </a:tc>
                <a:tc>
                  <a:txBody>
                    <a:bodyPr/>
                    <a:lstStyle/>
                    <a:p>
                      <a:endParaRPr lang="zh-CN" altLang="en-US" dirty="0"/>
                    </a:p>
                  </a:txBody>
                  <a:tcPr/>
                </a:tc>
                <a:extLst>
                  <a:ext uri="{0D108BD9-81ED-4DB2-BD59-A6C34878D82A}">
                    <a16:rowId xmlns:a16="http://schemas.microsoft.com/office/drawing/2014/main" val="668435988"/>
                  </a:ext>
                </a:extLst>
              </a:tr>
              <a:tr h="263165">
                <a:tc>
                  <a:txBody>
                    <a:bodyPr/>
                    <a:lstStyle/>
                    <a:p>
                      <a:r>
                        <a:rPr lang="en-US" dirty="0" smtClean="0"/>
                        <a:t>Min</a:t>
                      </a:r>
                      <a:endParaRPr lang="en-US" dirty="0"/>
                    </a:p>
                  </a:txBody>
                  <a:tcPr/>
                </a:tc>
                <a:tc>
                  <a:txBody>
                    <a:bodyPr/>
                    <a:lstStyle/>
                    <a:p>
                      <a:endParaRPr lang="zh-CN" altLang="en-US" dirty="0"/>
                    </a:p>
                  </a:txBody>
                  <a:tcPr/>
                </a:tc>
                <a:extLst>
                  <a:ext uri="{0D108BD9-81ED-4DB2-BD59-A6C34878D82A}">
                    <a16:rowId xmlns:a16="http://schemas.microsoft.com/office/drawing/2014/main" val="2807112938"/>
                  </a:ext>
                </a:extLst>
              </a:tr>
              <a:tr h="263165">
                <a:tc>
                  <a:txBody>
                    <a:bodyPr/>
                    <a:lstStyle/>
                    <a:p>
                      <a:r>
                        <a:rPr lang="en-US" dirty="0" smtClean="0"/>
                        <a:t>Count</a:t>
                      </a:r>
                      <a:endParaRPr lang="en-US" dirty="0"/>
                    </a:p>
                  </a:txBody>
                  <a:tcPr/>
                </a:tc>
                <a:tc>
                  <a:txBody>
                    <a:bodyPr/>
                    <a:lstStyle/>
                    <a:p>
                      <a:endParaRPr lang="en-US" dirty="0"/>
                    </a:p>
                  </a:txBody>
                  <a:tcPr/>
                </a:tc>
                <a:extLst>
                  <a:ext uri="{0D108BD9-81ED-4DB2-BD59-A6C34878D82A}">
                    <a16:rowId xmlns:a16="http://schemas.microsoft.com/office/drawing/2014/main" val="2854474576"/>
                  </a:ext>
                </a:extLst>
              </a:tr>
            </a:tbl>
          </a:graphicData>
        </a:graphic>
      </p:graphicFrame>
      <p:sp>
        <p:nvSpPr>
          <p:cNvPr id="29" name="Isosceles Triangle 28"/>
          <p:cNvSpPr/>
          <p:nvPr/>
        </p:nvSpPr>
        <p:spPr>
          <a:xfrm>
            <a:off x="1516648"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Isosceles Triangle 29"/>
          <p:cNvSpPr/>
          <p:nvPr/>
        </p:nvSpPr>
        <p:spPr>
          <a:xfrm>
            <a:off x="1819421"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Isosceles Triangle 30"/>
          <p:cNvSpPr/>
          <p:nvPr/>
        </p:nvSpPr>
        <p:spPr>
          <a:xfrm>
            <a:off x="2122194"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Isosceles Triangle 31"/>
          <p:cNvSpPr/>
          <p:nvPr/>
        </p:nvSpPr>
        <p:spPr>
          <a:xfrm>
            <a:off x="2416342" y="2696740"/>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Isosceles Triangle 32"/>
          <p:cNvSpPr/>
          <p:nvPr/>
        </p:nvSpPr>
        <p:spPr>
          <a:xfrm>
            <a:off x="2719115" y="2696740"/>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Isosceles Triangle 33"/>
          <p:cNvSpPr/>
          <p:nvPr/>
        </p:nvSpPr>
        <p:spPr>
          <a:xfrm>
            <a:off x="3021888" y="2696740"/>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Left Brace 3"/>
          <p:cNvSpPr/>
          <p:nvPr/>
        </p:nvSpPr>
        <p:spPr>
          <a:xfrm rot="16200000">
            <a:off x="914200" y="2723286"/>
            <a:ext cx="127659" cy="78930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Left Brace 46"/>
          <p:cNvSpPr/>
          <p:nvPr/>
        </p:nvSpPr>
        <p:spPr>
          <a:xfrm rot="16200000">
            <a:off x="1899407" y="2723286"/>
            <a:ext cx="127659" cy="78930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Rectangle 47"/>
          <p:cNvSpPr/>
          <p:nvPr/>
        </p:nvSpPr>
        <p:spPr>
          <a:xfrm>
            <a:off x="2543810" y="3267100"/>
            <a:ext cx="786638"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Isosceles Triangle 48"/>
          <p:cNvSpPr/>
          <p:nvPr/>
        </p:nvSpPr>
        <p:spPr>
          <a:xfrm>
            <a:off x="2586978"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Isosceles Triangle 49"/>
          <p:cNvSpPr/>
          <p:nvPr/>
        </p:nvSpPr>
        <p:spPr>
          <a:xfrm>
            <a:off x="2826639"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Isosceles Triangle 50"/>
          <p:cNvSpPr/>
          <p:nvPr/>
        </p:nvSpPr>
        <p:spPr>
          <a:xfrm>
            <a:off x="3070471"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Left Brace 51"/>
          <p:cNvSpPr/>
          <p:nvPr/>
        </p:nvSpPr>
        <p:spPr>
          <a:xfrm rot="16200000">
            <a:off x="2845850" y="2720379"/>
            <a:ext cx="127659" cy="78930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Rectangle 52"/>
          <p:cNvSpPr/>
          <p:nvPr/>
        </p:nvSpPr>
        <p:spPr>
          <a:xfrm>
            <a:off x="1574682" y="3267100"/>
            <a:ext cx="786638"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Isosceles Triangle 53"/>
          <p:cNvSpPr/>
          <p:nvPr/>
        </p:nvSpPr>
        <p:spPr>
          <a:xfrm>
            <a:off x="1617850"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Isosceles Triangle 54"/>
          <p:cNvSpPr/>
          <p:nvPr/>
        </p:nvSpPr>
        <p:spPr>
          <a:xfrm>
            <a:off x="1857511"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Isosceles Triangle 55"/>
          <p:cNvSpPr/>
          <p:nvPr/>
        </p:nvSpPr>
        <p:spPr>
          <a:xfrm>
            <a:off x="2101343"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Rectangle 56"/>
          <p:cNvSpPr/>
          <p:nvPr/>
        </p:nvSpPr>
        <p:spPr>
          <a:xfrm>
            <a:off x="568946" y="3267100"/>
            <a:ext cx="786638"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Isosceles Triangle 57"/>
          <p:cNvSpPr/>
          <p:nvPr/>
        </p:nvSpPr>
        <p:spPr>
          <a:xfrm>
            <a:off x="612114"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Isosceles Triangle 58"/>
          <p:cNvSpPr/>
          <p:nvPr/>
        </p:nvSpPr>
        <p:spPr>
          <a:xfrm>
            <a:off x="851775"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Isosceles Triangle 59"/>
          <p:cNvSpPr/>
          <p:nvPr/>
        </p:nvSpPr>
        <p:spPr>
          <a:xfrm>
            <a:off x="1095607"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347735" y="3708790"/>
            <a:ext cx="3425689" cy="253916"/>
          </a:xfrm>
          <a:prstGeom prst="rect">
            <a:avLst/>
          </a:prstGeom>
          <a:noFill/>
        </p:spPr>
        <p:txBody>
          <a:bodyPr wrap="square" rtlCol="0">
            <a:spAutoFit/>
          </a:bodyPr>
          <a:lstStyle/>
          <a:p>
            <a:r>
              <a:rPr lang="en-US" altLang="zh-CN" sz="1050" dirty="0" smtClean="0"/>
              <a:t>partial average  +  partial average  +  partial average</a:t>
            </a:r>
            <a:endParaRPr lang="zh-CN" altLang="en-US" sz="1050" dirty="0"/>
          </a:p>
        </p:txBody>
      </p:sp>
      <p:sp>
        <p:nvSpPr>
          <p:cNvPr id="61" name="TextBox 60"/>
          <p:cNvSpPr txBox="1"/>
          <p:nvPr/>
        </p:nvSpPr>
        <p:spPr>
          <a:xfrm>
            <a:off x="2713277" y="2262077"/>
            <a:ext cx="1331941" cy="307777"/>
          </a:xfrm>
          <a:prstGeom prst="rect">
            <a:avLst/>
          </a:prstGeom>
          <a:noFill/>
        </p:spPr>
        <p:txBody>
          <a:bodyPr wrap="square" rtlCol="0">
            <a:spAutoFit/>
          </a:bodyPr>
          <a:lstStyle/>
          <a:p>
            <a:r>
              <a:rPr lang="en-US" altLang="zh-CN" b="1" dirty="0" smtClean="0"/>
              <a:t>average</a:t>
            </a:r>
            <a:r>
              <a:rPr lang="en-US" altLang="zh-CN" dirty="0" smtClean="0"/>
              <a:t> </a:t>
            </a:r>
            <a:r>
              <a:rPr lang="en-US" altLang="zh-CN" b="1" dirty="0" smtClean="0"/>
              <a:t>= ?</a:t>
            </a:r>
            <a:endParaRPr lang="zh-CN" altLang="en-US" b="1" dirty="0"/>
          </a:p>
        </p:txBody>
      </p:sp>
      <p:sp>
        <p:nvSpPr>
          <p:cNvPr id="8" name="TextBox 7"/>
          <p:cNvSpPr txBox="1"/>
          <p:nvPr/>
        </p:nvSpPr>
        <p:spPr>
          <a:xfrm rot="5400000">
            <a:off x="889477" y="3537542"/>
            <a:ext cx="264228" cy="307777"/>
          </a:xfrm>
          <a:prstGeom prst="rect">
            <a:avLst/>
          </a:prstGeom>
          <a:noFill/>
        </p:spPr>
        <p:txBody>
          <a:bodyPr wrap="square" rtlCol="0">
            <a:spAutoFit/>
          </a:bodyPr>
          <a:lstStyle/>
          <a:p>
            <a:r>
              <a:rPr lang="en-US" altLang="zh-CN" dirty="0" smtClean="0"/>
              <a:t>=</a:t>
            </a:r>
            <a:endParaRPr lang="zh-CN" altLang="en-US" dirty="0"/>
          </a:p>
        </p:txBody>
      </p:sp>
      <p:sp>
        <p:nvSpPr>
          <p:cNvPr id="62" name="TextBox 61"/>
          <p:cNvSpPr txBox="1"/>
          <p:nvPr/>
        </p:nvSpPr>
        <p:spPr>
          <a:xfrm rot="5400000">
            <a:off x="1904140" y="3537543"/>
            <a:ext cx="264228" cy="307777"/>
          </a:xfrm>
          <a:prstGeom prst="rect">
            <a:avLst/>
          </a:prstGeom>
          <a:noFill/>
        </p:spPr>
        <p:txBody>
          <a:bodyPr wrap="square" rtlCol="0">
            <a:spAutoFit/>
          </a:bodyPr>
          <a:lstStyle/>
          <a:p>
            <a:r>
              <a:rPr lang="en-US" altLang="zh-CN" dirty="0" smtClean="0"/>
              <a:t>=</a:t>
            </a:r>
            <a:endParaRPr lang="zh-CN" altLang="en-US" dirty="0"/>
          </a:p>
        </p:txBody>
      </p:sp>
      <p:sp>
        <p:nvSpPr>
          <p:cNvPr id="63" name="TextBox 62"/>
          <p:cNvSpPr txBox="1"/>
          <p:nvPr/>
        </p:nvSpPr>
        <p:spPr>
          <a:xfrm rot="5400000">
            <a:off x="2805015" y="3521489"/>
            <a:ext cx="264228" cy="307777"/>
          </a:xfrm>
          <a:prstGeom prst="rect">
            <a:avLst/>
          </a:prstGeom>
          <a:noFill/>
        </p:spPr>
        <p:txBody>
          <a:bodyPr wrap="square" rtlCol="0">
            <a:spAutoFit/>
          </a:bodyPr>
          <a:lstStyle/>
          <a:p>
            <a:r>
              <a:rPr lang="en-US" altLang="zh-CN" dirty="0" smtClean="0"/>
              <a:t>=</a:t>
            </a:r>
            <a:endParaRPr lang="zh-CN" altLang="en-US" dirty="0"/>
          </a:p>
        </p:txBody>
      </p:sp>
      <p:sp>
        <p:nvSpPr>
          <p:cNvPr id="64" name="TextBox 63"/>
          <p:cNvSpPr txBox="1"/>
          <p:nvPr/>
        </p:nvSpPr>
        <p:spPr>
          <a:xfrm>
            <a:off x="1471699" y="4248402"/>
            <a:ext cx="1331941" cy="307777"/>
          </a:xfrm>
          <a:prstGeom prst="rect">
            <a:avLst/>
          </a:prstGeom>
          <a:noFill/>
        </p:spPr>
        <p:txBody>
          <a:bodyPr wrap="square" rtlCol="0">
            <a:spAutoFit/>
          </a:bodyPr>
          <a:lstStyle/>
          <a:p>
            <a:r>
              <a:rPr lang="en-US" altLang="zh-CN" b="1" dirty="0" smtClean="0"/>
              <a:t>average</a:t>
            </a:r>
            <a:endParaRPr lang="zh-CN" altLang="en-US" b="1" dirty="0"/>
          </a:p>
        </p:txBody>
      </p:sp>
      <p:sp>
        <p:nvSpPr>
          <p:cNvPr id="65" name="Left Brace 64"/>
          <p:cNvSpPr/>
          <p:nvPr/>
        </p:nvSpPr>
        <p:spPr>
          <a:xfrm rot="16200000">
            <a:off x="1841270" y="3083030"/>
            <a:ext cx="125755" cy="207189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673673396"/>
      </p:ext>
    </p:extLst>
  </p:cSld>
  <p:clrMapOvr>
    <a:masterClrMapping/>
  </p:clrMapOvr>
  <p:transition spd="slow" advTm="22052"/>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Background</a:t>
            </a:r>
          </a:p>
        </p:txBody>
      </p:sp>
      <p:sp>
        <p:nvSpPr>
          <p:cNvPr id="13" name="TextBox 12"/>
          <p:cNvSpPr txBox="1"/>
          <p:nvPr/>
        </p:nvSpPr>
        <p:spPr>
          <a:xfrm>
            <a:off x="2543810" y="577099"/>
            <a:ext cx="4606480" cy="338554"/>
          </a:xfrm>
          <a:prstGeom prst="rect">
            <a:avLst/>
          </a:prstGeom>
          <a:noFill/>
        </p:spPr>
        <p:txBody>
          <a:bodyPr wrap="square" rtlCol="0">
            <a:spAutoFit/>
          </a:bodyPr>
          <a:lstStyle/>
          <a:p>
            <a:r>
              <a:rPr lang="en-US" sz="1600" dirty="0" smtClean="0"/>
              <a:t>aggregation function</a:t>
            </a:r>
            <a:endParaRPr lang="en-US" sz="1600" dirty="0"/>
          </a:p>
        </p:txBody>
      </p:sp>
      <p:sp>
        <p:nvSpPr>
          <p:cNvPr id="14" name="Rectangle 13"/>
          <p:cNvSpPr/>
          <p:nvPr/>
        </p:nvSpPr>
        <p:spPr>
          <a:xfrm>
            <a:off x="509269" y="2645834"/>
            <a:ext cx="2857236"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Isosceles Triangle 18"/>
          <p:cNvSpPr/>
          <p:nvPr/>
        </p:nvSpPr>
        <p:spPr>
          <a:xfrm>
            <a:off x="608329"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sosceles Triangle 20"/>
          <p:cNvSpPr/>
          <p:nvPr/>
        </p:nvSpPr>
        <p:spPr>
          <a:xfrm>
            <a:off x="911102"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Isosceles Triangle 21"/>
          <p:cNvSpPr/>
          <p:nvPr/>
        </p:nvSpPr>
        <p:spPr>
          <a:xfrm>
            <a:off x="1213875"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ctangle 2"/>
          <p:cNvSpPr/>
          <p:nvPr/>
        </p:nvSpPr>
        <p:spPr>
          <a:xfrm>
            <a:off x="311149" y="1243122"/>
            <a:ext cx="7544377" cy="523220"/>
          </a:xfrm>
          <a:prstGeom prst="rect">
            <a:avLst/>
          </a:prstGeom>
        </p:spPr>
        <p:txBody>
          <a:bodyPr wrap="square">
            <a:spAutoFit/>
          </a:bodyPr>
          <a:lstStyle/>
          <a:p>
            <a:r>
              <a:rPr lang="en-US" altLang="zh-CN" b="1" dirty="0" smtClean="0">
                <a:latin typeface="+mn-lt"/>
              </a:rPr>
              <a:t>Aggregation Function is the approach to calculate data that in a window.</a:t>
            </a:r>
            <a:endParaRPr lang="en-US" altLang="zh-CN" b="1" dirty="0">
              <a:latin typeface="+mn-lt"/>
            </a:endParaRPr>
          </a:p>
          <a:p>
            <a:r>
              <a:rPr lang="en-US" altLang="zh-CN" b="1" dirty="0" smtClean="0">
                <a:latin typeface="+mn-lt"/>
              </a:rPr>
              <a:t> </a:t>
            </a:r>
            <a:endParaRPr lang="zh-CN" altLang="en-US" b="1" dirty="0">
              <a:latin typeface="+mn-lt"/>
            </a:endParaRPr>
          </a:p>
        </p:txBody>
      </p:sp>
      <p:graphicFrame>
        <p:nvGraphicFramePr>
          <p:cNvPr id="20" name="Table 19"/>
          <p:cNvGraphicFramePr>
            <a:graphicFrameLocks noGrp="1"/>
          </p:cNvGraphicFramePr>
          <p:nvPr>
            <p:extLst/>
          </p:nvPr>
        </p:nvGraphicFramePr>
        <p:xfrm>
          <a:off x="4572000" y="2452171"/>
          <a:ext cx="4058698" cy="1524000"/>
        </p:xfrm>
        <a:graphic>
          <a:graphicData uri="http://schemas.openxmlformats.org/drawingml/2006/table">
            <a:tbl>
              <a:tblPr firstRow="1" bandRow="1">
                <a:tableStyleId>{073A0DAA-6AF3-43AB-8588-CEC1D06C72B9}</a:tableStyleId>
              </a:tblPr>
              <a:tblGrid>
                <a:gridCol w="2029349">
                  <a:extLst>
                    <a:ext uri="{9D8B030D-6E8A-4147-A177-3AD203B41FA5}">
                      <a16:colId xmlns:a16="http://schemas.microsoft.com/office/drawing/2014/main" val="429943062"/>
                    </a:ext>
                  </a:extLst>
                </a:gridCol>
                <a:gridCol w="2029349">
                  <a:extLst>
                    <a:ext uri="{9D8B030D-6E8A-4147-A177-3AD203B41FA5}">
                      <a16:colId xmlns:a16="http://schemas.microsoft.com/office/drawing/2014/main" val="1138281403"/>
                    </a:ext>
                  </a:extLst>
                </a:gridCol>
              </a:tblGrid>
              <a:tr h="263165">
                <a:tc>
                  <a:txBody>
                    <a:bodyPr/>
                    <a:lstStyle/>
                    <a:p>
                      <a:r>
                        <a:rPr lang="en-US" dirty="0" smtClean="0"/>
                        <a:t>decomposable</a:t>
                      </a:r>
                      <a:endParaRPr lang="en-US" dirty="0"/>
                    </a:p>
                  </a:txBody>
                  <a:tcPr/>
                </a:tc>
                <a:tc>
                  <a:txBody>
                    <a:bodyPr/>
                    <a:lstStyle/>
                    <a:p>
                      <a:r>
                        <a:rPr lang="en-US" dirty="0" smtClean="0"/>
                        <a:t>Non-decomposable</a:t>
                      </a:r>
                      <a:endParaRPr lang="en-US" dirty="0"/>
                    </a:p>
                  </a:txBody>
                  <a:tcPr/>
                </a:tc>
                <a:extLst>
                  <a:ext uri="{0D108BD9-81ED-4DB2-BD59-A6C34878D82A}">
                    <a16:rowId xmlns:a16="http://schemas.microsoft.com/office/drawing/2014/main" val="2724814258"/>
                  </a:ext>
                </a:extLst>
              </a:tr>
              <a:tr h="263165">
                <a:tc>
                  <a:txBody>
                    <a:bodyPr/>
                    <a:lstStyle/>
                    <a:p>
                      <a:r>
                        <a:rPr lang="en-US" dirty="0" smtClean="0"/>
                        <a:t>Average</a:t>
                      </a:r>
                      <a:endParaRPr lang="en-US" dirty="0"/>
                    </a:p>
                  </a:txBody>
                  <a:tcPr/>
                </a:tc>
                <a:tc>
                  <a:txBody>
                    <a:bodyPr/>
                    <a:lstStyle/>
                    <a:p>
                      <a:r>
                        <a:rPr lang="en-US" altLang="zh-CN" dirty="0" smtClean="0"/>
                        <a:t>Median </a:t>
                      </a:r>
                      <a:endParaRPr lang="en-US" altLang="zh-CN" dirty="0"/>
                    </a:p>
                  </a:txBody>
                  <a:tcPr/>
                </a:tc>
                <a:extLst>
                  <a:ext uri="{0D108BD9-81ED-4DB2-BD59-A6C34878D82A}">
                    <a16:rowId xmlns:a16="http://schemas.microsoft.com/office/drawing/2014/main" val="4220155151"/>
                  </a:ext>
                </a:extLst>
              </a:tr>
              <a:tr h="263165">
                <a:tc>
                  <a:txBody>
                    <a:bodyPr/>
                    <a:lstStyle/>
                    <a:p>
                      <a:r>
                        <a:rPr lang="en-US" dirty="0" smtClean="0"/>
                        <a:t>Max</a:t>
                      </a:r>
                      <a:endParaRPr lang="en-US" dirty="0"/>
                    </a:p>
                  </a:txBody>
                  <a:tcPr/>
                </a:tc>
                <a:tc>
                  <a:txBody>
                    <a:bodyPr/>
                    <a:lstStyle/>
                    <a:p>
                      <a:endParaRPr lang="zh-CN" altLang="en-US" dirty="0"/>
                    </a:p>
                  </a:txBody>
                  <a:tcPr/>
                </a:tc>
                <a:extLst>
                  <a:ext uri="{0D108BD9-81ED-4DB2-BD59-A6C34878D82A}">
                    <a16:rowId xmlns:a16="http://schemas.microsoft.com/office/drawing/2014/main" val="668435988"/>
                  </a:ext>
                </a:extLst>
              </a:tr>
              <a:tr h="263165">
                <a:tc>
                  <a:txBody>
                    <a:bodyPr/>
                    <a:lstStyle/>
                    <a:p>
                      <a:r>
                        <a:rPr lang="en-US" dirty="0" smtClean="0"/>
                        <a:t>Min</a:t>
                      </a:r>
                      <a:endParaRPr lang="en-US" dirty="0"/>
                    </a:p>
                  </a:txBody>
                  <a:tcPr/>
                </a:tc>
                <a:tc>
                  <a:txBody>
                    <a:bodyPr/>
                    <a:lstStyle/>
                    <a:p>
                      <a:endParaRPr lang="zh-CN" altLang="en-US" dirty="0"/>
                    </a:p>
                  </a:txBody>
                  <a:tcPr/>
                </a:tc>
                <a:extLst>
                  <a:ext uri="{0D108BD9-81ED-4DB2-BD59-A6C34878D82A}">
                    <a16:rowId xmlns:a16="http://schemas.microsoft.com/office/drawing/2014/main" val="2807112938"/>
                  </a:ext>
                </a:extLst>
              </a:tr>
              <a:tr h="263165">
                <a:tc>
                  <a:txBody>
                    <a:bodyPr/>
                    <a:lstStyle/>
                    <a:p>
                      <a:r>
                        <a:rPr lang="en-US" dirty="0" smtClean="0"/>
                        <a:t>Count</a:t>
                      </a:r>
                      <a:endParaRPr lang="en-US" dirty="0"/>
                    </a:p>
                  </a:txBody>
                  <a:tcPr/>
                </a:tc>
                <a:tc>
                  <a:txBody>
                    <a:bodyPr/>
                    <a:lstStyle/>
                    <a:p>
                      <a:endParaRPr lang="en-US" dirty="0"/>
                    </a:p>
                  </a:txBody>
                  <a:tcPr/>
                </a:tc>
                <a:extLst>
                  <a:ext uri="{0D108BD9-81ED-4DB2-BD59-A6C34878D82A}">
                    <a16:rowId xmlns:a16="http://schemas.microsoft.com/office/drawing/2014/main" val="2854474576"/>
                  </a:ext>
                </a:extLst>
              </a:tr>
            </a:tbl>
          </a:graphicData>
        </a:graphic>
      </p:graphicFrame>
      <p:sp>
        <p:nvSpPr>
          <p:cNvPr id="29" name="Isosceles Triangle 28"/>
          <p:cNvSpPr/>
          <p:nvPr/>
        </p:nvSpPr>
        <p:spPr>
          <a:xfrm>
            <a:off x="1516648"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Isosceles Triangle 29"/>
          <p:cNvSpPr/>
          <p:nvPr/>
        </p:nvSpPr>
        <p:spPr>
          <a:xfrm>
            <a:off x="1819421"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Isosceles Triangle 30"/>
          <p:cNvSpPr/>
          <p:nvPr/>
        </p:nvSpPr>
        <p:spPr>
          <a:xfrm>
            <a:off x="2122194" y="2699174"/>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Isosceles Triangle 31"/>
          <p:cNvSpPr/>
          <p:nvPr/>
        </p:nvSpPr>
        <p:spPr>
          <a:xfrm>
            <a:off x="2416342" y="2696740"/>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Isosceles Triangle 32"/>
          <p:cNvSpPr/>
          <p:nvPr/>
        </p:nvSpPr>
        <p:spPr>
          <a:xfrm>
            <a:off x="2719115" y="2696740"/>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Isosceles Triangle 33"/>
          <p:cNvSpPr/>
          <p:nvPr/>
        </p:nvSpPr>
        <p:spPr>
          <a:xfrm>
            <a:off x="3021888" y="2696740"/>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Left Brace 3"/>
          <p:cNvSpPr/>
          <p:nvPr/>
        </p:nvSpPr>
        <p:spPr>
          <a:xfrm rot="16200000">
            <a:off x="914200" y="2723286"/>
            <a:ext cx="127659" cy="78930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Left Brace 46"/>
          <p:cNvSpPr/>
          <p:nvPr/>
        </p:nvSpPr>
        <p:spPr>
          <a:xfrm rot="16200000">
            <a:off x="1899407" y="2723286"/>
            <a:ext cx="127659" cy="78930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8" name="Rectangle 47"/>
          <p:cNvSpPr/>
          <p:nvPr/>
        </p:nvSpPr>
        <p:spPr>
          <a:xfrm>
            <a:off x="2543810" y="3267100"/>
            <a:ext cx="786638"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Isosceles Triangle 48"/>
          <p:cNvSpPr/>
          <p:nvPr/>
        </p:nvSpPr>
        <p:spPr>
          <a:xfrm>
            <a:off x="2586978"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Isosceles Triangle 49"/>
          <p:cNvSpPr/>
          <p:nvPr/>
        </p:nvSpPr>
        <p:spPr>
          <a:xfrm>
            <a:off x="2826639"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Isosceles Triangle 50"/>
          <p:cNvSpPr/>
          <p:nvPr/>
        </p:nvSpPr>
        <p:spPr>
          <a:xfrm>
            <a:off x="3070471"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Left Brace 51"/>
          <p:cNvSpPr/>
          <p:nvPr/>
        </p:nvSpPr>
        <p:spPr>
          <a:xfrm rot="16200000">
            <a:off x="2845850" y="2720379"/>
            <a:ext cx="127659" cy="78930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Rectangle 52"/>
          <p:cNvSpPr/>
          <p:nvPr/>
        </p:nvSpPr>
        <p:spPr>
          <a:xfrm>
            <a:off x="1574682" y="3267100"/>
            <a:ext cx="786638"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Isosceles Triangle 53"/>
          <p:cNvSpPr/>
          <p:nvPr/>
        </p:nvSpPr>
        <p:spPr>
          <a:xfrm>
            <a:off x="1617850"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Isosceles Triangle 54"/>
          <p:cNvSpPr/>
          <p:nvPr/>
        </p:nvSpPr>
        <p:spPr>
          <a:xfrm>
            <a:off x="1857511"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Isosceles Triangle 55"/>
          <p:cNvSpPr/>
          <p:nvPr/>
        </p:nvSpPr>
        <p:spPr>
          <a:xfrm>
            <a:off x="2101343"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Rectangle 56"/>
          <p:cNvSpPr/>
          <p:nvPr/>
        </p:nvSpPr>
        <p:spPr>
          <a:xfrm>
            <a:off x="568946" y="3267100"/>
            <a:ext cx="786638"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Isosceles Triangle 57"/>
          <p:cNvSpPr/>
          <p:nvPr/>
        </p:nvSpPr>
        <p:spPr>
          <a:xfrm>
            <a:off x="612114"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Isosceles Triangle 58"/>
          <p:cNvSpPr/>
          <p:nvPr/>
        </p:nvSpPr>
        <p:spPr>
          <a:xfrm>
            <a:off x="851775"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Isosceles Triangle 59"/>
          <p:cNvSpPr/>
          <p:nvPr/>
        </p:nvSpPr>
        <p:spPr>
          <a:xfrm>
            <a:off x="1095607" y="3321181"/>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431413" y="3708790"/>
            <a:ext cx="4884655" cy="253916"/>
          </a:xfrm>
          <a:prstGeom prst="rect">
            <a:avLst/>
          </a:prstGeom>
          <a:noFill/>
        </p:spPr>
        <p:txBody>
          <a:bodyPr wrap="square" rtlCol="0">
            <a:spAutoFit/>
          </a:bodyPr>
          <a:lstStyle/>
          <a:p>
            <a:r>
              <a:rPr lang="en-US" altLang="zh-CN" sz="1050" dirty="0"/>
              <a:t>partial median </a:t>
            </a:r>
            <a:r>
              <a:rPr lang="en-US" altLang="zh-CN" sz="1050" dirty="0" smtClean="0"/>
              <a:t> +  </a:t>
            </a:r>
            <a:r>
              <a:rPr lang="en-US" altLang="zh-CN" sz="1050" dirty="0"/>
              <a:t>partial </a:t>
            </a:r>
            <a:r>
              <a:rPr lang="en-US" altLang="zh-CN" sz="1050" dirty="0" smtClean="0"/>
              <a:t>median  +  </a:t>
            </a:r>
            <a:r>
              <a:rPr lang="en-US" altLang="zh-CN" sz="1050" dirty="0"/>
              <a:t>partial </a:t>
            </a:r>
            <a:r>
              <a:rPr lang="en-US" altLang="zh-CN" sz="1050" dirty="0" smtClean="0"/>
              <a:t>median</a:t>
            </a:r>
            <a:endParaRPr lang="zh-CN" altLang="en-US" sz="1050" dirty="0"/>
          </a:p>
        </p:txBody>
      </p:sp>
      <p:sp>
        <p:nvSpPr>
          <p:cNvPr id="61" name="TextBox 60"/>
          <p:cNvSpPr txBox="1"/>
          <p:nvPr/>
        </p:nvSpPr>
        <p:spPr>
          <a:xfrm>
            <a:off x="2713277" y="2262077"/>
            <a:ext cx="1331941" cy="307777"/>
          </a:xfrm>
          <a:prstGeom prst="rect">
            <a:avLst/>
          </a:prstGeom>
          <a:noFill/>
        </p:spPr>
        <p:txBody>
          <a:bodyPr wrap="square" rtlCol="0">
            <a:spAutoFit/>
          </a:bodyPr>
          <a:lstStyle/>
          <a:p>
            <a:r>
              <a:rPr lang="en-US" altLang="zh-CN" b="1" dirty="0" smtClean="0"/>
              <a:t>median</a:t>
            </a:r>
            <a:r>
              <a:rPr lang="en-US" altLang="zh-CN" dirty="0" smtClean="0"/>
              <a:t> </a:t>
            </a:r>
            <a:r>
              <a:rPr lang="en-US" altLang="zh-CN" b="1" dirty="0" smtClean="0"/>
              <a:t>= ?</a:t>
            </a:r>
            <a:endParaRPr lang="zh-CN" altLang="en-US" b="1" dirty="0"/>
          </a:p>
        </p:txBody>
      </p:sp>
      <p:sp>
        <p:nvSpPr>
          <p:cNvPr id="8" name="TextBox 7"/>
          <p:cNvSpPr txBox="1"/>
          <p:nvPr/>
        </p:nvSpPr>
        <p:spPr>
          <a:xfrm rot="5400000">
            <a:off x="889477" y="3537542"/>
            <a:ext cx="264228" cy="307777"/>
          </a:xfrm>
          <a:prstGeom prst="rect">
            <a:avLst/>
          </a:prstGeom>
          <a:noFill/>
        </p:spPr>
        <p:txBody>
          <a:bodyPr wrap="square" rtlCol="0">
            <a:spAutoFit/>
          </a:bodyPr>
          <a:lstStyle/>
          <a:p>
            <a:r>
              <a:rPr lang="en-US" altLang="zh-CN" dirty="0" smtClean="0"/>
              <a:t>=</a:t>
            </a:r>
            <a:endParaRPr lang="zh-CN" altLang="en-US" dirty="0"/>
          </a:p>
        </p:txBody>
      </p:sp>
      <p:sp>
        <p:nvSpPr>
          <p:cNvPr id="62" name="TextBox 61"/>
          <p:cNvSpPr txBox="1"/>
          <p:nvPr/>
        </p:nvSpPr>
        <p:spPr>
          <a:xfrm rot="5400000">
            <a:off x="1904140" y="3537543"/>
            <a:ext cx="264228" cy="307777"/>
          </a:xfrm>
          <a:prstGeom prst="rect">
            <a:avLst/>
          </a:prstGeom>
          <a:noFill/>
        </p:spPr>
        <p:txBody>
          <a:bodyPr wrap="square" rtlCol="0">
            <a:spAutoFit/>
          </a:bodyPr>
          <a:lstStyle/>
          <a:p>
            <a:r>
              <a:rPr lang="en-US" altLang="zh-CN" dirty="0" smtClean="0"/>
              <a:t>=</a:t>
            </a:r>
            <a:endParaRPr lang="zh-CN" altLang="en-US" dirty="0"/>
          </a:p>
        </p:txBody>
      </p:sp>
      <p:sp>
        <p:nvSpPr>
          <p:cNvPr id="63" name="TextBox 62"/>
          <p:cNvSpPr txBox="1"/>
          <p:nvPr/>
        </p:nvSpPr>
        <p:spPr>
          <a:xfrm rot="5400000">
            <a:off x="2805015" y="3521489"/>
            <a:ext cx="264228" cy="307777"/>
          </a:xfrm>
          <a:prstGeom prst="rect">
            <a:avLst/>
          </a:prstGeom>
          <a:noFill/>
        </p:spPr>
        <p:txBody>
          <a:bodyPr wrap="square" rtlCol="0">
            <a:spAutoFit/>
          </a:bodyPr>
          <a:lstStyle/>
          <a:p>
            <a:r>
              <a:rPr lang="en-US" altLang="zh-CN" dirty="0" smtClean="0"/>
              <a:t>=</a:t>
            </a:r>
            <a:endParaRPr lang="zh-CN" altLang="en-US" dirty="0"/>
          </a:p>
        </p:txBody>
      </p:sp>
      <p:sp>
        <p:nvSpPr>
          <p:cNvPr id="64" name="TextBox 63"/>
          <p:cNvSpPr txBox="1"/>
          <p:nvPr/>
        </p:nvSpPr>
        <p:spPr>
          <a:xfrm>
            <a:off x="1471699" y="4248402"/>
            <a:ext cx="1331941" cy="307777"/>
          </a:xfrm>
          <a:prstGeom prst="rect">
            <a:avLst/>
          </a:prstGeom>
          <a:noFill/>
        </p:spPr>
        <p:txBody>
          <a:bodyPr wrap="square" rtlCol="0">
            <a:spAutoFit/>
          </a:bodyPr>
          <a:lstStyle/>
          <a:p>
            <a:r>
              <a:rPr lang="en-US" altLang="zh-CN" b="1" dirty="0" smtClean="0"/>
              <a:t>median</a:t>
            </a:r>
            <a:endParaRPr lang="zh-CN" altLang="en-US" b="1" dirty="0"/>
          </a:p>
        </p:txBody>
      </p:sp>
      <p:sp>
        <p:nvSpPr>
          <p:cNvPr id="65" name="Left Brace 64"/>
          <p:cNvSpPr/>
          <p:nvPr/>
        </p:nvSpPr>
        <p:spPr>
          <a:xfrm rot="16200000">
            <a:off x="1841270" y="3083030"/>
            <a:ext cx="125755" cy="207189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39" name="Picture 38"/>
          <p:cNvPicPr>
            <a:picLocks noChangeAspect="1"/>
          </p:cNvPicPr>
          <p:nvPr/>
        </p:nvPicPr>
        <p:blipFill>
          <a:blip r:embed="rId4"/>
          <a:stretch>
            <a:fillRect/>
          </a:stretch>
        </p:blipFill>
        <p:spPr>
          <a:xfrm>
            <a:off x="1980848" y="3930457"/>
            <a:ext cx="377043" cy="377043"/>
          </a:xfrm>
          <a:prstGeom prst="rect">
            <a:avLst/>
          </a:prstGeom>
        </p:spPr>
      </p:pic>
    </p:spTree>
    <p:extLst>
      <p:ext uri="{BB962C8B-B14F-4D97-AF65-F5344CB8AC3E}">
        <p14:creationId xmlns:p14="http://schemas.microsoft.com/office/powerpoint/2010/main" val="3247788717"/>
      </p:ext>
    </p:extLst>
  </p:cSld>
  <p:clrMapOvr>
    <a:masterClrMapping/>
  </p:clrMapOvr>
  <p:transition spd="slow" advTm="22052"/>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Background</a:t>
            </a:r>
          </a:p>
        </p:txBody>
      </p:sp>
      <p:sp>
        <p:nvSpPr>
          <p:cNvPr id="13" name="TextBox 12"/>
          <p:cNvSpPr txBox="1"/>
          <p:nvPr/>
        </p:nvSpPr>
        <p:spPr>
          <a:xfrm>
            <a:off x="2543810" y="577099"/>
            <a:ext cx="4606480" cy="338554"/>
          </a:xfrm>
          <a:prstGeom prst="rect">
            <a:avLst/>
          </a:prstGeom>
          <a:noFill/>
        </p:spPr>
        <p:txBody>
          <a:bodyPr wrap="square" rtlCol="0">
            <a:spAutoFit/>
          </a:bodyPr>
          <a:lstStyle/>
          <a:p>
            <a:r>
              <a:rPr lang="en-US" sz="1600" dirty="0" smtClean="0"/>
              <a:t>What is window aggregation?</a:t>
            </a:r>
            <a:endParaRPr lang="en-US" sz="1600" dirty="0"/>
          </a:p>
        </p:txBody>
      </p:sp>
      <p:sp>
        <p:nvSpPr>
          <p:cNvPr id="5" name="Rectangle 4"/>
          <p:cNvSpPr/>
          <p:nvPr/>
        </p:nvSpPr>
        <p:spPr>
          <a:xfrm>
            <a:off x="311150" y="1150187"/>
            <a:ext cx="4839970" cy="954107"/>
          </a:xfrm>
          <a:prstGeom prst="rect">
            <a:avLst/>
          </a:prstGeom>
        </p:spPr>
        <p:txBody>
          <a:bodyPr wrap="square">
            <a:spAutoFit/>
          </a:bodyPr>
          <a:lstStyle/>
          <a:p>
            <a:r>
              <a:rPr lang="en-US" altLang="zh-CN" dirty="0">
                <a:latin typeface="Consolas" panose="020B0609020204030204" pitchFamily="49" charset="0"/>
              </a:rPr>
              <a:t>SELECT MAX(wstart), wend</a:t>
            </a:r>
            <a:r>
              <a:rPr lang="en-US" altLang="zh-CN" dirty="0" smtClean="0">
                <a:latin typeface="Consolas" panose="020B0609020204030204" pitchFamily="49" charset="0"/>
              </a:rPr>
              <a:t>, average(Speed) </a:t>
            </a:r>
          </a:p>
          <a:p>
            <a:r>
              <a:rPr lang="en-US" altLang="zh-CN" dirty="0" smtClean="0">
                <a:latin typeface="Consolas" panose="020B0609020204030204" pitchFamily="49" charset="0"/>
              </a:rPr>
              <a:t>FROM </a:t>
            </a:r>
            <a:r>
              <a:rPr lang="en-US" altLang="zh-CN" dirty="0">
                <a:latin typeface="Consolas" panose="020B0609020204030204" pitchFamily="49" charset="0"/>
              </a:rPr>
              <a:t>Tumble(data =&gt; </a:t>
            </a:r>
            <a:r>
              <a:rPr lang="en-US" altLang="zh-CN" dirty="0" smtClean="0">
                <a:latin typeface="Consolas" panose="020B0609020204030204" pitchFamily="49" charset="0"/>
              </a:rPr>
              <a:t>Table(RawData), </a:t>
            </a:r>
          </a:p>
          <a:p>
            <a:r>
              <a:rPr lang="en-US" altLang="zh-CN" dirty="0" smtClean="0">
                <a:latin typeface="Consolas" panose="020B0609020204030204" pitchFamily="49" charset="0"/>
              </a:rPr>
              <a:t>            timecol </a:t>
            </a:r>
            <a:r>
              <a:rPr lang="en-US" altLang="zh-CN" dirty="0">
                <a:latin typeface="Consolas" panose="020B0609020204030204" pitchFamily="49" charset="0"/>
              </a:rPr>
              <a:t>=&gt; DESCRIPTOR(time), </a:t>
            </a:r>
            <a:endParaRPr lang="en-US" altLang="zh-CN" dirty="0" smtClean="0">
              <a:latin typeface="Consolas" panose="020B0609020204030204" pitchFamily="49" charset="0"/>
            </a:endParaRPr>
          </a:p>
          <a:p>
            <a:r>
              <a:rPr lang="en-US" altLang="zh-CN" dirty="0" smtClean="0">
                <a:latin typeface="Consolas" panose="020B0609020204030204" pitchFamily="49" charset="0"/>
              </a:rPr>
              <a:t>            dur </a:t>
            </a:r>
            <a:r>
              <a:rPr lang="en-US" altLang="zh-CN" dirty="0">
                <a:latin typeface="Consolas" panose="020B0609020204030204" pitchFamily="49" charset="0"/>
              </a:rPr>
              <a:t>=&gt; INTERVAL '5' </a:t>
            </a:r>
            <a:r>
              <a:rPr lang="en-US" altLang="zh-CN" dirty="0" smtClean="0">
                <a:latin typeface="Consolas" panose="020B0609020204030204" pitchFamily="49" charset="0"/>
              </a:rPr>
              <a:t>Second)</a:t>
            </a:r>
            <a:endParaRPr lang="zh-CN" altLang="en-US" dirty="0">
              <a:latin typeface="Consolas" panose="020B0609020204030204" pitchFamily="49" charset="0"/>
            </a:endParaRPr>
          </a:p>
        </p:txBody>
      </p:sp>
      <p:sp>
        <p:nvSpPr>
          <p:cNvPr id="15" name="TextBox 14"/>
          <p:cNvSpPr txBox="1"/>
          <p:nvPr/>
        </p:nvSpPr>
        <p:spPr>
          <a:xfrm>
            <a:off x="215118" y="2315456"/>
            <a:ext cx="2236237" cy="738664"/>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Tumbling window</a:t>
            </a:r>
          </a:p>
          <a:p>
            <a:pPr marL="285750" indent="-285750">
              <a:buFont typeface="Arial" panose="020B0604020202020204" pitchFamily="34" charset="0"/>
              <a:buChar char="•"/>
            </a:pPr>
            <a:r>
              <a:rPr lang="en-US" altLang="zh-CN" dirty="0" smtClean="0"/>
              <a:t>Average</a:t>
            </a:r>
          </a:p>
          <a:p>
            <a:pPr marL="285750" indent="-285750">
              <a:buFont typeface="Arial" panose="020B0604020202020204" pitchFamily="34" charset="0"/>
              <a:buChar char="•"/>
            </a:pPr>
            <a:r>
              <a:rPr lang="en-US" altLang="zh-CN" dirty="0" smtClean="0"/>
              <a:t>5 seconds</a:t>
            </a:r>
            <a:endParaRPr lang="zh-CN" altLang="en-US" dirty="0"/>
          </a:p>
        </p:txBody>
      </p:sp>
      <p:sp>
        <p:nvSpPr>
          <p:cNvPr id="14" name="Rectangle 13"/>
          <p:cNvSpPr/>
          <p:nvPr/>
        </p:nvSpPr>
        <p:spPr>
          <a:xfrm>
            <a:off x="556260" y="3446765"/>
            <a:ext cx="2857236"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ight Triangle 15"/>
          <p:cNvSpPr/>
          <p:nvPr/>
        </p:nvSpPr>
        <p:spPr>
          <a:xfrm rot="2446739">
            <a:off x="3230881" y="3294440"/>
            <a:ext cx="449580" cy="527211"/>
          </a:xfrm>
          <a:prstGeom prst="r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le 17"/>
          <p:cNvSpPr/>
          <p:nvPr/>
        </p:nvSpPr>
        <p:spPr>
          <a:xfrm>
            <a:off x="3329554" y="3196374"/>
            <a:ext cx="613410" cy="913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Isosceles Triangle 18"/>
          <p:cNvSpPr/>
          <p:nvPr/>
        </p:nvSpPr>
        <p:spPr>
          <a:xfrm>
            <a:off x="655320"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sosceles Triangle 20"/>
          <p:cNvSpPr/>
          <p:nvPr/>
        </p:nvSpPr>
        <p:spPr>
          <a:xfrm>
            <a:off x="958093"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Isosceles Triangle 21"/>
          <p:cNvSpPr/>
          <p:nvPr/>
        </p:nvSpPr>
        <p:spPr>
          <a:xfrm>
            <a:off x="1260866"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Straight Connector 23"/>
          <p:cNvCxnSpPr/>
          <p:nvPr/>
        </p:nvCxnSpPr>
        <p:spPr>
          <a:xfrm>
            <a:off x="556260" y="3832860"/>
            <a:ext cx="0" cy="1600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556260" y="3909060"/>
            <a:ext cx="27732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56260" y="3970021"/>
            <a:ext cx="1059180" cy="307777"/>
          </a:xfrm>
          <a:prstGeom prst="rect">
            <a:avLst/>
          </a:prstGeom>
          <a:noFill/>
        </p:spPr>
        <p:txBody>
          <a:bodyPr wrap="square" rtlCol="0">
            <a:spAutoFit/>
          </a:bodyPr>
          <a:lstStyle/>
          <a:p>
            <a:r>
              <a:rPr lang="en-US" altLang="zh-CN" b="1" dirty="0"/>
              <a:t>t</a:t>
            </a:r>
            <a:r>
              <a:rPr lang="en-US" altLang="zh-CN" b="1" dirty="0" smtClean="0"/>
              <a:t>ime</a:t>
            </a:r>
            <a:r>
              <a:rPr lang="en-US" altLang="zh-CN" dirty="0" smtClean="0"/>
              <a:t> </a:t>
            </a:r>
            <a:r>
              <a:rPr lang="en-US" altLang="zh-CN" b="1" dirty="0" smtClean="0"/>
              <a:t>= ?</a:t>
            </a:r>
            <a:endParaRPr lang="zh-CN" altLang="en-US" b="1" dirty="0"/>
          </a:p>
        </p:txBody>
      </p:sp>
    </p:spTree>
    <p:extLst>
      <p:ext uri="{BB962C8B-B14F-4D97-AF65-F5344CB8AC3E}">
        <p14:creationId xmlns:p14="http://schemas.microsoft.com/office/powerpoint/2010/main" val="3007513095"/>
      </p:ext>
    </p:extLst>
  </p:cSld>
  <p:clrMapOvr>
    <a:masterClrMapping/>
  </p:clrMapOvr>
  <p:transition spd="slow" advTm="22052"/>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Background</a:t>
            </a:r>
          </a:p>
        </p:txBody>
      </p:sp>
      <p:sp>
        <p:nvSpPr>
          <p:cNvPr id="13" name="TextBox 12"/>
          <p:cNvSpPr txBox="1"/>
          <p:nvPr/>
        </p:nvSpPr>
        <p:spPr>
          <a:xfrm>
            <a:off x="2543810" y="577099"/>
            <a:ext cx="4606480" cy="338554"/>
          </a:xfrm>
          <a:prstGeom prst="rect">
            <a:avLst/>
          </a:prstGeom>
          <a:noFill/>
        </p:spPr>
        <p:txBody>
          <a:bodyPr wrap="square" rtlCol="0">
            <a:spAutoFit/>
          </a:bodyPr>
          <a:lstStyle/>
          <a:p>
            <a:r>
              <a:rPr lang="en-US" sz="1600" dirty="0" smtClean="0"/>
              <a:t>What is window aggregation?</a:t>
            </a:r>
            <a:endParaRPr lang="en-US" sz="1600" dirty="0"/>
          </a:p>
        </p:txBody>
      </p:sp>
      <p:sp>
        <p:nvSpPr>
          <p:cNvPr id="15" name="TextBox 14"/>
          <p:cNvSpPr txBox="1"/>
          <p:nvPr/>
        </p:nvSpPr>
        <p:spPr>
          <a:xfrm>
            <a:off x="215118" y="2315456"/>
            <a:ext cx="2236237" cy="52322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Tumbling window</a:t>
            </a:r>
          </a:p>
          <a:p>
            <a:pPr marL="285750" indent="-285750">
              <a:buFont typeface="Arial" panose="020B0604020202020204" pitchFamily="34" charset="0"/>
              <a:buChar char="•"/>
            </a:pPr>
            <a:r>
              <a:rPr lang="en-US" altLang="zh-CN" dirty="0"/>
              <a:t>A</a:t>
            </a:r>
            <a:r>
              <a:rPr lang="en-US" altLang="zh-CN" dirty="0" smtClean="0"/>
              <a:t>verage</a:t>
            </a:r>
            <a:endParaRPr lang="zh-CN" altLang="en-US" dirty="0"/>
          </a:p>
        </p:txBody>
      </p:sp>
      <p:sp>
        <p:nvSpPr>
          <p:cNvPr id="14" name="Rectangle 13"/>
          <p:cNvSpPr/>
          <p:nvPr/>
        </p:nvSpPr>
        <p:spPr>
          <a:xfrm>
            <a:off x="556260" y="3446765"/>
            <a:ext cx="1987550"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Isosceles Triangle 18"/>
          <p:cNvSpPr/>
          <p:nvPr/>
        </p:nvSpPr>
        <p:spPr>
          <a:xfrm>
            <a:off x="655320"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sosceles Triangle 20"/>
          <p:cNvSpPr/>
          <p:nvPr/>
        </p:nvSpPr>
        <p:spPr>
          <a:xfrm>
            <a:off x="958093"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Isosceles Triangle 21"/>
          <p:cNvSpPr/>
          <p:nvPr/>
        </p:nvSpPr>
        <p:spPr>
          <a:xfrm>
            <a:off x="1260866"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Isosceles Triangle 16"/>
          <p:cNvSpPr/>
          <p:nvPr/>
        </p:nvSpPr>
        <p:spPr>
          <a:xfrm>
            <a:off x="1582675"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Isosceles Triangle 19"/>
          <p:cNvSpPr/>
          <p:nvPr/>
        </p:nvSpPr>
        <p:spPr>
          <a:xfrm>
            <a:off x="1885448"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Isosceles Triangle 22"/>
          <p:cNvSpPr/>
          <p:nvPr/>
        </p:nvSpPr>
        <p:spPr>
          <a:xfrm>
            <a:off x="2188221" y="3500105"/>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ight Arrow 2"/>
          <p:cNvSpPr/>
          <p:nvPr/>
        </p:nvSpPr>
        <p:spPr>
          <a:xfrm>
            <a:off x="3238388" y="3429564"/>
            <a:ext cx="487680" cy="325135"/>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Isosceles Triangle 23"/>
          <p:cNvSpPr/>
          <p:nvPr/>
        </p:nvSpPr>
        <p:spPr>
          <a:xfrm>
            <a:off x="3927098" y="3429564"/>
            <a:ext cx="372110" cy="309930"/>
          </a:xfrm>
          <a:prstGeom prst="triangle">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Straight Connector 24"/>
          <p:cNvCxnSpPr/>
          <p:nvPr/>
        </p:nvCxnSpPr>
        <p:spPr>
          <a:xfrm>
            <a:off x="556260" y="3832860"/>
            <a:ext cx="0" cy="1600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556260" y="3909060"/>
            <a:ext cx="19875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56259" y="3970021"/>
            <a:ext cx="1247395" cy="307777"/>
          </a:xfrm>
          <a:prstGeom prst="rect">
            <a:avLst/>
          </a:prstGeom>
          <a:noFill/>
        </p:spPr>
        <p:txBody>
          <a:bodyPr wrap="square" rtlCol="0">
            <a:spAutoFit/>
          </a:bodyPr>
          <a:lstStyle/>
          <a:p>
            <a:r>
              <a:rPr lang="en-US" altLang="zh-CN" b="1" dirty="0"/>
              <a:t>t</a:t>
            </a:r>
            <a:r>
              <a:rPr lang="en-US" altLang="zh-CN" b="1" dirty="0" smtClean="0"/>
              <a:t>ime</a:t>
            </a:r>
            <a:r>
              <a:rPr lang="en-US" altLang="zh-CN" dirty="0" smtClean="0"/>
              <a:t> </a:t>
            </a:r>
            <a:r>
              <a:rPr lang="en-US" altLang="zh-CN" b="1" dirty="0" smtClean="0"/>
              <a:t>= 5s</a:t>
            </a:r>
            <a:endParaRPr lang="zh-CN" altLang="en-US" b="1" dirty="0"/>
          </a:p>
        </p:txBody>
      </p:sp>
      <p:sp>
        <p:nvSpPr>
          <p:cNvPr id="7" name="TextBox 6"/>
          <p:cNvSpPr txBox="1"/>
          <p:nvPr/>
        </p:nvSpPr>
        <p:spPr>
          <a:xfrm>
            <a:off x="2589148" y="3010274"/>
            <a:ext cx="854710" cy="307777"/>
          </a:xfrm>
          <a:prstGeom prst="rect">
            <a:avLst/>
          </a:prstGeom>
          <a:noFill/>
        </p:spPr>
        <p:txBody>
          <a:bodyPr wrap="square" rtlCol="0">
            <a:spAutoFit/>
          </a:bodyPr>
          <a:lstStyle/>
          <a:p>
            <a:r>
              <a:rPr lang="en-US" altLang="zh-CN" b="1" dirty="0" smtClean="0"/>
              <a:t>average</a:t>
            </a:r>
            <a:endParaRPr lang="zh-CN" altLang="en-US" b="1" dirty="0"/>
          </a:p>
        </p:txBody>
      </p:sp>
      <p:pic>
        <p:nvPicPr>
          <p:cNvPr id="1026" name="Picture 2" descr="calculator Icon - Free Ic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9041" y="3324668"/>
            <a:ext cx="534925" cy="534925"/>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p:cNvCxnSpPr/>
          <p:nvPr/>
        </p:nvCxnSpPr>
        <p:spPr>
          <a:xfrm>
            <a:off x="2543810" y="3829050"/>
            <a:ext cx="0" cy="1600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11150" y="1150187"/>
            <a:ext cx="4839970" cy="954107"/>
          </a:xfrm>
          <a:prstGeom prst="rect">
            <a:avLst/>
          </a:prstGeom>
        </p:spPr>
        <p:txBody>
          <a:bodyPr wrap="square">
            <a:spAutoFit/>
          </a:bodyPr>
          <a:lstStyle/>
          <a:p>
            <a:r>
              <a:rPr lang="en-US" altLang="zh-CN" dirty="0">
                <a:latin typeface="Consolas" panose="020B0609020204030204" pitchFamily="49" charset="0"/>
              </a:rPr>
              <a:t>SELECT MAX(wstart), wend</a:t>
            </a:r>
            <a:r>
              <a:rPr lang="en-US" altLang="zh-CN" dirty="0" smtClean="0">
                <a:latin typeface="Consolas" panose="020B0609020204030204" pitchFamily="49" charset="0"/>
              </a:rPr>
              <a:t>, average(Speed) </a:t>
            </a:r>
          </a:p>
          <a:p>
            <a:r>
              <a:rPr lang="en-US" altLang="zh-CN" dirty="0" smtClean="0">
                <a:latin typeface="Consolas" panose="020B0609020204030204" pitchFamily="49" charset="0"/>
              </a:rPr>
              <a:t>FROM </a:t>
            </a:r>
            <a:r>
              <a:rPr lang="en-US" altLang="zh-CN" dirty="0">
                <a:latin typeface="Consolas" panose="020B0609020204030204" pitchFamily="49" charset="0"/>
              </a:rPr>
              <a:t>Tumble(data =&gt; </a:t>
            </a:r>
            <a:r>
              <a:rPr lang="en-US" altLang="zh-CN" dirty="0" smtClean="0">
                <a:latin typeface="Consolas" panose="020B0609020204030204" pitchFamily="49" charset="0"/>
              </a:rPr>
              <a:t>Table(RawData), </a:t>
            </a:r>
          </a:p>
          <a:p>
            <a:r>
              <a:rPr lang="en-US" altLang="zh-CN" dirty="0" smtClean="0">
                <a:latin typeface="Consolas" panose="020B0609020204030204" pitchFamily="49" charset="0"/>
              </a:rPr>
              <a:t>            timecol </a:t>
            </a:r>
            <a:r>
              <a:rPr lang="en-US" altLang="zh-CN" dirty="0">
                <a:latin typeface="Consolas" panose="020B0609020204030204" pitchFamily="49" charset="0"/>
              </a:rPr>
              <a:t>=&gt; DESCRIPTOR(time), </a:t>
            </a:r>
            <a:endParaRPr lang="en-US" altLang="zh-CN" dirty="0" smtClean="0">
              <a:latin typeface="Consolas" panose="020B0609020204030204" pitchFamily="49" charset="0"/>
            </a:endParaRPr>
          </a:p>
          <a:p>
            <a:r>
              <a:rPr lang="en-US" altLang="zh-CN" dirty="0" smtClean="0">
                <a:latin typeface="Consolas" panose="020B0609020204030204" pitchFamily="49" charset="0"/>
              </a:rPr>
              <a:t>            dur </a:t>
            </a:r>
            <a:r>
              <a:rPr lang="en-US" altLang="zh-CN" dirty="0">
                <a:latin typeface="Consolas" panose="020B0609020204030204" pitchFamily="49" charset="0"/>
              </a:rPr>
              <a:t>=&gt; INTERVAL '5' </a:t>
            </a:r>
            <a:r>
              <a:rPr lang="en-US" altLang="zh-CN" dirty="0" smtClean="0">
                <a:latin typeface="Consolas" panose="020B0609020204030204" pitchFamily="49" charset="0"/>
              </a:rPr>
              <a:t>Second)</a:t>
            </a:r>
            <a:endParaRPr lang="zh-CN" altLang="en-US" dirty="0">
              <a:latin typeface="Consolas" panose="020B0609020204030204" pitchFamily="49" charset="0"/>
            </a:endParaRPr>
          </a:p>
        </p:txBody>
      </p:sp>
    </p:spTree>
    <p:extLst>
      <p:ext uri="{BB962C8B-B14F-4D97-AF65-F5344CB8AC3E}">
        <p14:creationId xmlns:p14="http://schemas.microsoft.com/office/powerpoint/2010/main" val="1676039441"/>
      </p:ext>
    </p:extLst>
  </p:cSld>
  <p:clrMapOvr>
    <a:masterClrMapping/>
  </p:clrMapOvr>
  <p:transition spd="slow" advTm="22052"/>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Background</a:t>
            </a:r>
          </a:p>
        </p:txBody>
      </p:sp>
      <p:sp>
        <p:nvSpPr>
          <p:cNvPr id="13" name="TextBox 12"/>
          <p:cNvSpPr txBox="1"/>
          <p:nvPr/>
        </p:nvSpPr>
        <p:spPr>
          <a:xfrm>
            <a:off x="2543810" y="577099"/>
            <a:ext cx="4606480" cy="338554"/>
          </a:xfrm>
          <a:prstGeom prst="rect">
            <a:avLst/>
          </a:prstGeom>
          <a:noFill/>
        </p:spPr>
        <p:txBody>
          <a:bodyPr wrap="square" rtlCol="0">
            <a:spAutoFit/>
          </a:bodyPr>
          <a:lstStyle/>
          <a:p>
            <a:r>
              <a:rPr lang="en-US" altLang="zh-CN" sz="1600" dirty="0" smtClean="0"/>
              <a:t>Use Case</a:t>
            </a:r>
            <a:endParaRPr lang="en-US" sz="1600" dirty="0"/>
          </a:p>
        </p:txBody>
      </p:sp>
      <p:sp>
        <p:nvSpPr>
          <p:cNvPr id="14" name="TextBox 13"/>
          <p:cNvSpPr txBox="1"/>
          <p:nvPr/>
        </p:nvSpPr>
        <p:spPr>
          <a:xfrm>
            <a:off x="465961" y="2581601"/>
            <a:ext cx="2850817" cy="307777"/>
          </a:xfrm>
          <a:prstGeom prst="rect">
            <a:avLst/>
          </a:prstGeom>
          <a:noFill/>
        </p:spPr>
        <p:txBody>
          <a:bodyPr wrap="square" rtlCol="0">
            <a:spAutoFit/>
          </a:bodyPr>
          <a:lstStyle/>
          <a:p>
            <a:pPr algn="ctr"/>
            <a:r>
              <a:rPr lang="en-US" altLang="zh-CN" dirty="0"/>
              <a:t>Vehicle </a:t>
            </a:r>
            <a:r>
              <a:rPr lang="en-US" altLang="zh-CN" dirty="0" smtClean="0"/>
              <a:t>Engineer or Administrator</a:t>
            </a:r>
            <a:endParaRPr lang="en-US" altLang="zh-CN" dirty="0"/>
          </a:p>
        </p:txBody>
      </p:sp>
      <p:pic>
        <p:nvPicPr>
          <p:cNvPr id="15" name="Picture 14"/>
          <p:cNvPicPr>
            <a:picLocks noChangeAspect="1"/>
          </p:cNvPicPr>
          <p:nvPr/>
        </p:nvPicPr>
        <p:blipFill>
          <a:blip r:embed="rId4"/>
          <a:stretch>
            <a:fillRect/>
          </a:stretch>
        </p:blipFill>
        <p:spPr>
          <a:xfrm>
            <a:off x="1074913" y="1117016"/>
            <a:ext cx="579362" cy="1464585"/>
          </a:xfrm>
          <a:prstGeom prst="rect">
            <a:avLst/>
          </a:prstGeom>
        </p:spPr>
      </p:pic>
      <p:sp>
        <p:nvSpPr>
          <p:cNvPr id="16" name="TextBox 15"/>
          <p:cNvSpPr txBox="1"/>
          <p:nvPr/>
        </p:nvSpPr>
        <p:spPr>
          <a:xfrm>
            <a:off x="311150" y="3398207"/>
            <a:ext cx="4606480" cy="523220"/>
          </a:xfrm>
          <a:prstGeom prst="rect">
            <a:avLst/>
          </a:prstGeom>
          <a:noFill/>
        </p:spPr>
        <p:txBody>
          <a:bodyPr wrap="square" rtlCol="0">
            <a:spAutoFit/>
          </a:bodyPr>
          <a:lstStyle/>
          <a:p>
            <a:r>
              <a:rPr lang="en-US" dirty="0" smtClean="0"/>
              <a:t>Query 1</a:t>
            </a:r>
            <a:r>
              <a:rPr lang="en-US" dirty="0"/>
              <a:t>: </a:t>
            </a:r>
            <a:r>
              <a:rPr lang="en-US" dirty="0" smtClean="0"/>
              <a:t>the average speed </a:t>
            </a:r>
            <a:r>
              <a:rPr lang="en-US" dirty="0"/>
              <a:t>of the </a:t>
            </a:r>
            <a:r>
              <a:rPr lang="en-US" dirty="0" smtClean="0"/>
              <a:t>cars in Babelsberg </a:t>
            </a:r>
          </a:p>
          <a:p>
            <a:endParaRPr lang="en-US" dirty="0"/>
          </a:p>
        </p:txBody>
      </p:sp>
      <p:pic>
        <p:nvPicPr>
          <p:cNvPr id="17" name="Picture 16"/>
          <p:cNvPicPr>
            <a:picLocks noChangeAspect="1"/>
          </p:cNvPicPr>
          <p:nvPr/>
        </p:nvPicPr>
        <p:blipFill>
          <a:blip r:embed="rId5"/>
          <a:stretch>
            <a:fillRect/>
          </a:stretch>
        </p:blipFill>
        <p:spPr>
          <a:xfrm>
            <a:off x="6979814" y="1351267"/>
            <a:ext cx="1762179" cy="1606166"/>
          </a:xfrm>
          <a:prstGeom prst="rect">
            <a:avLst/>
          </a:prstGeom>
        </p:spPr>
      </p:pic>
      <p:sp>
        <p:nvSpPr>
          <p:cNvPr id="5" name="TextBox 4"/>
          <p:cNvSpPr txBox="1"/>
          <p:nvPr/>
        </p:nvSpPr>
        <p:spPr>
          <a:xfrm>
            <a:off x="311150" y="3847351"/>
            <a:ext cx="1944730" cy="738664"/>
          </a:xfrm>
          <a:prstGeom prst="rect">
            <a:avLst/>
          </a:prstGeom>
          <a:noFill/>
        </p:spPr>
        <p:txBody>
          <a:bodyPr wrap="square" rtlCol="0">
            <a:spAutoFit/>
          </a:bodyPr>
          <a:lstStyle/>
          <a:p>
            <a:r>
              <a:rPr lang="en-US" altLang="zh-CN" dirty="0" smtClean="0"/>
              <a:t>Driver Profile</a:t>
            </a:r>
          </a:p>
          <a:p>
            <a:r>
              <a:rPr lang="en-US" altLang="zh-CN" dirty="0" smtClean="0"/>
              <a:t>Route Profile</a:t>
            </a:r>
          </a:p>
          <a:p>
            <a:r>
              <a:rPr lang="en-US" altLang="zh-CN" dirty="0" smtClean="0"/>
              <a:t>Real-Time Alerting</a:t>
            </a:r>
            <a:endParaRPr lang="zh-CN" altLang="en-US" dirty="0"/>
          </a:p>
        </p:txBody>
      </p:sp>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11194" y="1424482"/>
            <a:ext cx="2272239" cy="1262355"/>
          </a:xfrm>
          <a:prstGeom prst="rect">
            <a:avLst/>
          </a:prstGeom>
        </p:spPr>
      </p:pic>
      <p:sp>
        <p:nvSpPr>
          <p:cNvPr id="21" name="TextBox 20"/>
          <p:cNvSpPr txBox="1"/>
          <p:nvPr/>
        </p:nvSpPr>
        <p:spPr>
          <a:xfrm>
            <a:off x="7231969" y="3090430"/>
            <a:ext cx="1510024" cy="307777"/>
          </a:xfrm>
          <a:prstGeom prst="rect">
            <a:avLst/>
          </a:prstGeom>
          <a:noFill/>
        </p:spPr>
        <p:txBody>
          <a:bodyPr wrap="square" rtlCol="0">
            <a:spAutoFit/>
          </a:bodyPr>
          <a:lstStyle/>
          <a:p>
            <a:r>
              <a:rPr lang="en-US" altLang="zh-CN" dirty="0"/>
              <a:t>Brandenburg</a:t>
            </a:r>
          </a:p>
        </p:txBody>
      </p:sp>
      <p:pic>
        <p:nvPicPr>
          <p:cNvPr id="20" name="Picture 19"/>
          <p:cNvPicPr>
            <a:picLocks noChangeAspect="1"/>
          </p:cNvPicPr>
          <p:nvPr/>
        </p:nvPicPr>
        <p:blipFill>
          <a:blip r:embed="rId7"/>
          <a:stretch>
            <a:fillRect/>
          </a:stretch>
        </p:blipFill>
        <p:spPr>
          <a:xfrm>
            <a:off x="5145466" y="1982908"/>
            <a:ext cx="451709" cy="402808"/>
          </a:xfrm>
          <a:prstGeom prst="rect">
            <a:avLst/>
          </a:prstGeom>
        </p:spPr>
      </p:pic>
      <p:pic>
        <p:nvPicPr>
          <p:cNvPr id="23" name="Picture 22"/>
          <p:cNvPicPr>
            <a:picLocks noChangeAspect="1"/>
          </p:cNvPicPr>
          <p:nvPr/>
        </p:nvPicPr>
        <p:blipFill>
          <a:blip r:embed="rId7"/>
          <a:stretch>
            <a:fillRect/>
          </a:stretch>
        </p:blipFill>
        <p:spPr>
          <a:xfrm>
            <a:off x="5597175" y="1977885"/>
            <a:ext cx="451709" cy="402808"/>
          </a:xfrm>
          <a:prstGeom prst="rect">
            <a:avLst/>
          </a:prstGeom>
        </p:spPr>
      </p:pic>
    </p:spTree>
    <p:extLst>
      <p:ext uri="{BB962C8B-B14F-4D97-AF65-F5344CB8AC3E}">
        <p14:creationId xmlns:p14="http://schemas.microsoft.com/office/powerpoint/2010/main" val="720866156"/>
      </p:ext>
    </p:extLst>
  </p:cSld>
  <p:clrMapOvr>
    <a:masterClrMapping/>
  </p:clrMapOvr>
  <p:transition spd="slow" advTm="22052"/>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Background</a:t>
            </a:r>
          </a:p>
        </p:txBody>
      </p:sp>
      <p:sp>
        <p:nvSpPr>
          <p:cNvPr id="13" name="TextBox 12"/>
          <p:cNvSpPr txBox="1"/>
          <p:nvPr/>
        </p:nvSpPr>
        <p:spPr>
          <a:xfrm>
            <a:off x="2543810" y="577099"/>
            <a:ext cx="4606480" cy="338554"/>
          </a:xfrm>
          <a:prstGeom prst="rect">
            <a:avLst/>
          </a:prstGeom>
          <a:noFill/>
        </p:spPr>
        <p:txBody>
          <a:bodyPr wrap="square" rtlCol="0">
            <a:spAutoFit/>
          </a:bodyPr>
          <a:lstStyle/>
          <a:p>
            <a:r>
              <a:rPr lang="en-US" altLang="zh-CN" sz="1600" dirty="0" smtClean="0"/>
              <a:t>Use Case</a:t>
            </a:r>
            <a:endParaRPr lang="en-US" sz="1600" dirty="0"/>
          </a:p>
        </p:txBody>
      </p:sp>
      <p:pic>
        <p:nvPicPr>
          <p:cNvPr id="4" name="Picture 3"/>
          <p:cNvPicPr>
            <a:picLocks noChangeAspect="1"/>
          </p:cNvPicPr>
          <p:nvPr/>
        </p:nvPicPr>
        <p:blipFill>
          <a:blip r:embed="rId4"/>
          <a:stretch>
            <a:fillRect/>
          </a:stretch>
        </p:blipFill>
        <p:spPr>
          <a:xfrm>
            <a:off x="5398783" y="1216689"/>
            <a:ext cx="2838450" cy="2952750"/>
          </a:xfrm>
          <a:prstGeom prst="rect">
            <a:avLst/>
          </a:prstGeom>
        </p:spPr>
      </p:pic>
      <p:sp>
        <p:nvSpPr>
          <p:cNvPr id="7" name="TextBox 6"/>
          <p:cNvSpPr txBox="1"/>
          <p:nvPr/>
        </p:nvSpPr>
        <p:spPr>
          <a:xfrm>
            <a:off x="6521678" y="4368540"/>
            <a:ext cx="1076154" cy="307777"/>
          </a:xfrm>
          <a:prstGeom prst="rect">
            <a:avLst/>
          </a:prstGeom>
          <a:noFill/>
        </p:spPr>
        <p:txBody>
          <a:bodyPr wrap="square" rtlCol="0">
            <a:spAutoFit/>
          </a:bodyPr>
          <a:lstStyle/>
          <a:p>
            <a:r>
              <a:rPr lang="en-US" altLang="zh-CN" dirty="0" smtClean="0"/>
              <a:t>Germany</a:t>
            </a:r>
            <a:endParaRPr lang="zh-CN" altLang="en-US" dirty="0"/>
          </a:p>
        </p:txBody>
      </p:sp>
      <p:pic>
        <p:nvPicPr>
          <p:cNvPr id="8" name="Picture 7"/>
          <p:cNvPicPr>
            <a:picLocks noChangeAspect="1"/>
          </p:cNvPicPr>
          <p:nvPr/>
        </p:nvPicPr>
        <p:blipFill>
          <a:blip r:embed="rId5"/>
          <a:stretch>
            <a:fillRect/>
          </a:stretch>
        </p:blipFill>
        <p:spPr>
          <a:xfrm>
            <a:off x="800593" y="1349772"/>
            <a:ext cx="579362" cy="1464585"/>
          </a:xfrm>
          <a:prstGeom prst="rect">
            <a:avLst/>
          </a:prstGeom>
        </p:spPr>
      </p:pic>
      <p:pic>
        <p:nvPicPr>
          <p:cNvPr id="9" name="Picture 8"/>
          <p:cNvPicPr>
            <a:picLocks noChangeAspect="1"/>
          </p:cNvPicPr>
          <p:nvPr/>
        </p:nvPicPr>
        <p:blipFill>
          <a:blip r:embed="rId5"/>
          <a:stretch>
            <a:fillRect/>
          </a:stretch>
        </p:blipFill>
        <p:spPr>
          <a:xfrm>
            <a:off x="1379955" y="1349772"/>
            <a:ext cx="579362" cy="1464585"/>
          </a:xfrm>
          <a:prstGeom prst="rect">
            <a:avLst/>
          </a:prstGeom>
        </p:spPr>
      </p:pic>
      <p:pic>
        <p:nvPicPr>
          <p:cNvPr id="10" name="Picture 9"/>
          <p:cNvPicPr>
            <a:picLocks noChangeAspect="1"/>
          </p:cNvPicPr>
          <p:nvPr/>
        </p:nvPicPr>
        <p:blipFill>
          <a:blip r:embed="rId5"/>
          <a:stretch>
            <a:fillRect/>
          </a:stretch>
        </p:blipFill>
        <p:spPr>
          <a:xfrm>
            <a:off x="1934421" y="1349771"/>
            <a:ext cx="579362" cy="1464585"/>
          </a:xfrm>
          <a:prstGeom prst="rect">
            <a:avLst/>
          </a:prstGeom>
        </p:spPr>
      </p:pic>
      <p:sp>
        <p:nvSpPr>
          <p:cNvPr id="11" name="TextBox 10"/>
          <p:cNvSpPr txBox="1"/>
          <p:nvPr/>
        </p:nvSpPr>
        <p:spPr>
          <a:xfrm>
            <a:off x="311150" y="3396294"/>
            <a:ext cx="4606480" cy="738664"/>
          </a:xfrm>
          <a:prstGeom prst="rect">
            <a:avLst/>
          </a:prstGeom>
          <a:noFill/>
        </p:spPr>
        <p:txBody>
          <a:bodyPr wrap="square" rtlCol="0">
            <a:spAutoFit/>
          </a:bodyPr>
          <a:lstStyle/>
          <a:p>
            <a:r>
              <a:rPr lang="en-US" dirty="0"/>
              <a:t>Q1: </a:t>
            </a:r>
            <a:r>
              <a:rPr lang="en-US" dirty="0" smtClean="0"/>
              <a:t>the average speed </a:t>
            </a:r>
            <a:r>
              <a:rPr lang="en-US" dirty="0"/>
              <a:t>of the </a:t>
            </a:r>
            <a:r>
              <a:rPr lang="en-US" dirty="0" smtClean="0"/>
              <a:t>cars</a:t>
            </a:r>
          </a:p>
          <a:p>
            <a:r>
              <a:rPr lang="en-US" dirty="0" smtClean="0"/>
              <a:t>Q2 :Max Temperature of the car engines</a:t>
            </a:r>
          </a:p>
          <a:p>
            <a:endParaRPr lang="en-US" dirty="0"/>
          </a:p>
        </p:txBody>
      </p:sp>
      <p:sp>
        <p:nvSpPr>
          <p:cNvPr id="12" name="TextBox 11"/>
          <p:cNvSpPr txBox="1"/>
          <p:nvPr/>
        </p:nvSpPr>
        <p:spPr>
          <a:xfrm>
            <a:off x="509012" y="2838762"/>
            <a:ext cx="2850817" cy="307777"/>
          </a:xfrm>
          <a:prstGeom prst="rect">
            <a:avLst/>
          </a:prstGeom>
          <a:noFill/>
        </p:spPr>
        <p:txBody>
          <a:bodyPr wrap="square" rtlCol="0">
            <a:spAutoFit/>
          </a:bodyPr>
          <a:lstStyle/>
          <a:p>
            <a:pPr algn="ctr"/>
            <a:r>
              <a:rPr lang="en-US" altLang="zh-CN" dirty="0"/>
              <a:t>Vehicle </a:t>
            </a:r>
            <a:r>
              <a:rPr lang="en-US" altLang="zh-CN" dirty="0" smtClean="0"/>
              <a:t>Engineer or Administrator</a:t>
            </a:r>
            <a:endParaRPr lang="en-US" altLang="zh-CN" dirty="0"/>
          </a:p>
        </p:txBody>
      </p:sp>
    </p:spTree>
    <p:extLst>
      <p:ext uri="{BB962C8B-B14F-4D97-AF65-F5344CB8AC3E}">
        <p14:creationId xmlns:p14="http://schemas.microsoft.com/office/powerpoint/2010/main" val="3386871844"/>
      </p:ext>
    </p:extLst>
  </p:cSld>
  <p:clrMapOvr>
    <a:masterClrMapping/>
  </p:clrMapOvr>
  <p:transition spd="slow" advTm="22052"/>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Challenge</a:t>
            </a:r>
          </a:p>
        </p:txBody>
      </p:sp>
      <p:sp>
        <p:nvSpPr>
          <p:cNvPr id="13" name="TextBox 12"/>
          <p:cNvSpPr txBox="1"/>
          <p:nvPr/>
        </p:nvSpPr>
        <p:spPr>
          <a:xfrm>
            <a:off x="2218658" y="584719"/>
            <a:ext cx="4606480" cy="338554"/>
          </a:xfrm>
          <a:prstGeom prst="rect">
            <a:avLst/>
          </a:prstGeom>
          <a:noFill/>
        </p:spPr>
        <p:txBody>
          <a:bodyPr wrap="square" rtlCol="0">
            <a:spAutoFit/>
          </a:bodyPr>
          <a:lstStyle/>
          <a:p>
            <a:r>
              <a:rPr lang="en-US" sz="1600" dirty="0" smtClean="0"/>
              <a:t>Current SPEs?</a:t>
            </a:r>
            <a:endParaRPr lang="en-US" sz="1600" dirty="0"/>
          </a:p>
        </p:txBody>
      </p:sp>
      <p:sp>
        <p:nvSpPr>
          <p:cNvPr id="23" name="TextBox 22"/>
          <p:cNvSpPr txBox="1"/>
          <p:nvPr/>
        </p:nvSpPr>
        <p:spPr>
          <a:xfrm>
            <a:off x="143510" y="1200686"/>
            <a:ext cx="3034030" cy="338554"/>
          </a:xfrm>
          <a:prstGeom prst="rect">
            <a:avLst/>
          </a:prstGeom>
          <a:noFill/>
        </p:spPr>
        <p:txBody>
          <a:bodyPr wrap="square" rtlCol="0">
            <a:spAutoFit/>
          </a:bodyPr>
          <a:lstStyle/>
          <a:p>
            <a:pPr algn="ctr"/>
            <a:r>
              <a:rPr lang="en-US" sz="1600" b="1" dirty="0" smtClean="0"/>
              <a:t>Production-ready SPEs: </a:t>
            </a:r>
          </a:p>
        </p:txBody>
      </p:sp>
      <p:sp>
        <p:nvSpPr>
          <p:cNvPr id="3" name="TextBox 2"/>
          <p:cNvSpPr txBox="1"/>
          <p:nvPr/>
        </p:nvSpPr>
        <p:spPr>
          <a:xfrm>
            <a:off x="413238" y="1661160"/>
            <a:ext cx="2236237" cy="769441"/>
          </a:xfrm>
          <a:prstGeom prst="rect">
            <a:avLst/>
          </a:prstGeom>
          <a:noFill/>
        </p:spPr>
        <p:txBody>
          <a:bodyPr wrap="square" rtlCol="0">
            <a:spAutoFit/>
          </a:bodyPr>
          <a:lstStyle/>
          <a:p>
            <a:r>
              <a:rPr lang="en-US" altLang="zh-CN" sz="1600" dirty="0" smtClean="0"/>
              <a:t>Flink/Spark/Storm</a:t>
            </a:r>
          </a:p>
          <a:p>
            <a:pPr marL="285750" indent="-285750">
              <a:buFont typeface="Arial" panose="020B0604020202020204" pitchFamily="34" charset="0"/>
              <a:buChar char="•"/>
            </a:pPr>
            <a:r>
              <a:rPr lang="en-US" altLang="zh-CN" dirty="0" smtClean="0"/>
              <a:t>Distributed Network</a:t>
            </a:r>
          </a:p>
          <a:p>
            <a:pPr marL="285750" indent="-285750">
              <a:buFont typeface="Arial" panose="020B0604020202020204" pitchFamily="34" charset="0"/>
              <a:buChar char="•"/>
            </a:pPr>
            <a:r>
              <a:rPr lang="en-US" altLang="zh-CN" dirty="0"/>
              <a:t>Sharing Computation</a:t>
            </a:r>
            <a:endParaRPr lang="zh-CN" altLang="en-US" dirty="0"/>
          </a:p>
        </p:txBody>
      </p:sp>
      <p:sp>
        <p:nvSpPr>
          <p:cNvPr id="4" name="Rounded Rectangle 3"/>
          <p:cNvSpPr/>
          <p:nvPr/>
        </p:nvSpPr>
        <p:spPr>
          <a:xfrm>
            <a:off x="6166351" y="1259518"/>
            <a:ext cx="725738" cy="40164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rPr>
              <a:t>SPEs</a:t>
            </a: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5" name="Oval 4"/>
          <p:cNvSpPr/>
          <p:nvPr/>
        </p:nvSpPr>
        <p:spPr>
          <a:xfrm>
            <a:off x="5479411" y="197218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Oval 16"/>
          <p:cNvSpPr/>
          <p:nvPr/>
        </p:nvSpPr>
        <p:spPr>
          <a:xfrm>
            <a:off x="5599842" y="197218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Oval 32"/>
          <p:cNvSpPr/>
          <p:nvPr/>
        </p:nvSpPr>
        <p:spPr>
          <a:xfrm>
            <a:off x="5727893" y="197218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Oval 33"/>
          <p:cNvSpPr/>
          <p:nvPr/>
        </p:nvSpPr>
        <p:spPr>
          <a:xfrm>
            <a:off x="5848324" y="197218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Oval 34"/>
          <p:cNvSpPr/>
          <p:nvPr/>
        </p:nvSpPr>
        <p:spPr>
          <a:xfrm>
            <a:off x="5968755" y="197218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Oval 35"/>
          <p:cNvSpPr/>
          <p:nvPr/>
        </p:nvSpPr>
        <p:spPr>
          <a:xfrm>
            <a:off x="6089186" y="197218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Oval 36"/>
          <p:cNvSpPr/>
          <p:nvPr/>
        </p:nvSpPr>
        <p:spPr>
          <a:xfrm>
            <a:off x="6217237" y="197218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Oval 37"/>
          <p:cNvSpPr/>
          <p:nvPr/>
        </p:nvSpPr>
        <p:spPr>
          <a:xfrm>
            <a:off x="6337668" y="197218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Oval 38"/>
          <p:cNvSpPr/>
          <p:nvPr/>
        </p:nvSpPr>
        <p:spPr>
          <a:xfrm>
            <a:off x="6450479" y="196456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Oval 39"/>
          <p:cNvSpPr/>
          <p:nvPr/>
        </p:nvSpPr>
        <p:spPr>
          <a:xfrm>
            <a:off x="6570910" y="196456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Oval 40"/>
          <p:cNvSpPr/>
          <p:nvPr/>
        </p:nvSpPr>
        <p:spPr>
          <a:xfrm>
            <a:off x="6698961" y="196456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Oval 41"/>
          <p:cNvSpPr/>
          <p:nvPr/>
        </p:nvSpPr>
        <p:spPr>
          <a:xfrm>
            <a:off x="6819392" y="196456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Oval 42"/>
          <p:cNvSpPr/>
          <p:nvPr/>
        </p:nvSpPr>
        <p:spPr>
          <a:xfrm>
            <a:off x="6939823" y="196456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Oval 43"/>
          <p:cNvSpPr/>
          <p:nvPr/>
        </p:nvSpPr>
        <p:spPr>
          <a:xfrm>
            <a:off x="7060254" y="196456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Oval 44"/>
          <p:cNvSpPr/>
          <p:nvPr/>
        </p:nvSpPr>
        <p:spPr>
          <a:xfrm>
            <a:off x="7188305" y="196456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Oval 45"/>
          <p:cNvSpPr/>
          <p:nvPr/>
        </p:nvSpPr>
        <p:spPr>
          <a:xfrm>
            <a:off x="7308736" y="1964562"/>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Straight Arrow Connector 7"/>
          <p:cNvCxnSpPr>
            <a:stCxn id="5" idx="0"/>
            <a:endCxn id="4" idx="2"/>
          </p:cNvCxnSpPr>
          <p:nvPr/>
        </p:nvCxnSpPr>
        <p:spPr>
          <a:xfrm flipV="1">
            <a:off x="5607463" y="1661160"/>
            <a:ext cx="921757" cy="3110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7" idx="0"/>
            <a:endCxn id="4" idx="2"/>
          </p:cNvCxnSpPr>
          <p:nvPr/>
        </p:nvCxnSpPr>
        <p:spPr>
          <a:xfrm flipV="1">
            <a:off x="5727894" y="1661160"/>
            <a:ext cx="801326" cy="3110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endCxn id="4" idx="2"/>
          </p:cNvCxnSpPr>
          <p:nvPr/>
        </p:nvCxnSpPr>
        <p:spPr>
          <a:xfrm flipV="1">
            <a:off x="5826690" y="1661160"/>
            <a:ext cx="702530" cy="3186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4" idx="2"/>
          </p:cNvCxnSpPr>
          <p:nvPr/>
        </p:nvCxnSpPr>
        <p:spPr>
          <a:xfrm flipV="1">
            <a:off x="5949661" y="1661160"/>
            <a:ext cx="579559" cy="3186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endCxn id="4" idx="2"/>
          </p:cNvCxnSpPr>
          <p:nvPr/>
        </p:nvCxnSpPr>
        <p:spPr>
          <a:xfrm flipV="1">
            <a:off x="6081566" y="1661160"/>
            <a:ext cx="447654" cy="3224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endCxn id="4" idx="2"/>
          </p:cNvCxnSpPr>
          <p:nvPr/>
        </p:nvCxnSpPr>
        <p:spPr>
          <a:xfrm flipV="1">
            <a:off x="6194292" y="1661160"/>
            <a:ext cx="334928" cy="3091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endCxn id="4" idx="2"/>
          </p:cNvCxnSpPr>
          <p:nvPr/>
        </p:nvCxnSpPr>
        <p:spPr>
          <a:xfrm flipV="1">
            <a:off x="6317281" y="1661160"/>
            <a:ext cx="211939" cy="3072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endCxn id="4" idx="2"/>
          </p:cNvCxnSpPr>
          <p:nvPr/>
        </p:nvCxnSpPr>
        <p:spPr>
          <a:xfrm flipH="1" flipV="1">
            <a:off x="6529220" y="1661160"/>
            <a:ext cx="149445" cy="2943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endCxn id="4" idx="2"/>
          </p:cNvCxnSpPr>
          <p:nvPr/>
        </p:nvCxnSpPr>
        <p:spPr>
          <a:xfrm flipV="1">
            <a:off x="6445728" y="1661160"/>
            <a:ext cx="83492" cy="3032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endCxn id="4" idx="2"/>
          </p:cNvCxnSpPr>
          <p:nvPr/>
        </p:nvCxnSpPr>
        <p:spPr>
          <a:xfrm flipH="1" flipV="1">
            <a:off x="6529220" y="1661160"/>
            <a:ext cx="14491" cy="3072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endCxn id="4" idx="2"/>
          </p:cNvCxnSpPr>
          <p:nvPr/>
        </p:nvCxnSpPr>
        <p:spPr>
          <a:xfrm flipH="1" flipV="1">
            <a:off x="6529220" y="1661160"/>
            <a:ext cx="259957" cy="3032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4" idx="2"/>
          </p:cNvCxnSpPr>
          <p:nvPr/>
        </p:nvCxnSpPr>
        <p:spPr>
          <a:xfrm flipH="1" flipV="1">
            <a:off x="6529220" y="1661160"/>
            <a:ext cx="533558" cy="301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4" idx="2"/>
          </p:cNvCxnSpPr>
          <p:nvPr/>
        </p:nvCxnSpPr>
        <p:spPr>
          <a:xfrm flipH="1" flipV="1">
            <a:off x="6529220" y="1661160"/>
            <a:ext cx="403903" cy="301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4" idx="2"/>
          </p:cNvCxnSpPr>
          <p:nvPr/>
        </p:nvCxnSpPr>
        <p:spPr>
          <a:xfrm flipH="1" flipV="1">
            <a:off x="6529220" y="1661160"/>
            <a:ext cx="641025" cy="301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endCxn id="4" idx="2"/>
          </p:cNvCxnSpPr>
          <p:nvPr/>
        </p:nvCxnSpPr>
        <p:spPr>
          <a:xfrm flipH="1" flipV="1">
            <a:off x="6529220" y="1661160"/>
            <a:ext cx="794039" cy="3021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endCxn id="4" idx="2"/>
          </p:cNvCxnSpPr>
          <p:nvPr/>
        </p:nvCxnSpPr>
        <p:spPr>
          <a:xfrm flipH="1" flipV="1">
            <a:off x="6529220" y="1661160"/>
            <a:ext cx="918281" cy="2980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0" y="3004476"/>
            <a:ext cx="3034030" cy="338554"/>
          </a:xfrm>
          <a:prstGeom prst="rect">
            <a:avLst/>
          </a:prstGeom>
          <a:noFill/>
        </p:spPr>
        <p:txBody>
          <a:bodyPr wrap="square" rtlCol="0">
            <a:spAutoFit/>
          </a:bodyPr>
          <a:lstStyle/>
          <a:p>
            <a:pPr algn="ctr"/>
            <a:r>
              <a:rPr lang="en-US" sz="1600" b="1" dirty="0" smtClean="0"/>
              <a:t>Research Prototypes: </a:t>
            </a:r>
          </a:p>
        </p:txBody>
      </p:sp>
      <p:sp>
        <p:nvSpPr>
          <p:cNvPr id="74" name="TextBox 73"/>
          <p:cNvSpPr txBox="1"/>
          <p:nvPr/>
        </p:nvSpPr>
        <p:spPr>
          <a:xfrm>
            <a:off x="413238" y="3424311"/>
            <a:ext cx="2693155" cy="984885"/>
          </a:xfrm>
          <a:prstGeom prst="rect">
            <a:avLst/>
          </a:prstGeom>
          <a:noFill/>
        </p:spPr>
        <p:txBody>
          <a:bodyPr wrap="square" rtlCol="0">
            <a:spAutoFit/>
          </a:bodyPr>
          <a:lstStyle/>
          <a:p>
            <a:r>
              <a:rPr lang="en-US" altLang="zh-CN" sz="1600" dirty="0" smtClean="0"/>
              <a:t>LEACH/Disco/Scotty</a:t>
            </a:r>
          </a:p>
          <a:p>
            <a:pPr marL="285750" indent="-285750">
              <a:buFont typeface="Arial" panose="020B0604020202020204" pitchFamily="34" charset="0"/>
              <a:buChar char="•"/>
            </a:pPr>
            <a:r>
              <a:rPr lang="en-US" altLang="zh-CN" dirty="0"/>
              <a:t>Distributed Network</a:t>
            </a:r>
          </a:p>
          <a:p>
            <a:pPr marL="285750" indent="-285750">
              <a:buFont typeface="Arial" panose="020B0604020202020204" pitchFamily="34" charset="0"/>
              <a:buChar char="•"/>
            </a:pPr>
            <a:r>
              <a:rPr lang="en-US" altLang="zh-CN" dirty="0"/>
              <a:t>Sharing Computation</a:t>
            </a:r>
            <a:endParaRPr lang="zh-CN" altLang="en-US" dirty="0"/>
          </a:p>
          <a:p>
            <a:endParaRPr lang="zh-CN" altLang="en-US" dirty="0"/>
          </a:p>
        </p:txBody>
      </p:sp>
      <p:pic>
        <p:nvPicPr>
          <p:cNvPr id="75" name="Picture 74"/>
          <p:cNvPicPr>
            <a:picLocks noChangeAspect="1"/>
          </p:cNvPicPr>
          <p:nvPr/>
        </p:nvPicPr>
        <p:blipFill>
          <a:blip r:embed="rId4"/>
          <a:stretch>
            <a:fillRect/>
          </a:stretch>
        </p:blipFill>
        <p:spPr>
          <a:xfrm>
            <a:off x="2893878" y="3464184"/>
            <a:ext cx="567324" cy="474554"/>
          </a:xfrm>
          <a:prstGeom prst="rect">
            <a:avLst/>
          </a:prstGeom>
        </p:spPr>
      </p:pic>
      <p:pic>
        <p:nvPicPr>
          <p:cNvPr id="76" name="Picture 75"/>
          <p:cNvPicPr>
            <a:picLocks noChangeAspect="1"/>
          </p:cNvPicPr>
          <p:nvPr/>
        </p:nvPicPr>
        <p:blipFill>
          <a:blip r:embed="rId5"/>
          <a:stretch>
            <a:fillRect/>
          </a:stretch>
        </p:blipFill>
        <p:spPr>
          <a:xfrm>
            <a:off x="2989018" y="3916753"/>
            <a:ext cx="377043" cy="377043"/>
          </a:xfrm>
          <a:prstGeom prst="rect">
            <a:avLst/>
          </a:prstGeom>
        </p:spPr>
      </p:pic>
      <p:pic>
        <p:nvPicPr>
          <p:cNvPr id="77" name="Picture 76"/>
          <p:cNvPicPr>
            <a:picLocks noChangeAspect="1"/>
          </p:cNvPicPr>
          <p:nvPr/>
        </p:nvPicPr>
        <p:blipFill>
          <a:blip r:embed="rId5"/>
          <a:stretch>
            <a:fillRect/>
          </a:stretch>
        </p:blipFill>
        <p:spPr>
          <a:xfrm>
            <a:off x="2705356" y="1783465"/>
            <a:ext cx="377043" cy="377043"/>
          </a:xfrm>
          <a:prstGeom prst="rect">
            <a:avLst/>
          </a:prstGeom>
        </p:spPr>
      </p:pic>
      <p:pic>
        <p:nvPicPr>
          <p:cNvPr id="78" name="Picture 77"/>
          <p:cNvPicPr>
            <a:picLocks noChangeAspect="1"/>
          </p:cNvPicPr>
          <p:nvPr/>
        </p:nvPicPr>
        <p:blipFill>
          <a:blip r:embed="rId5"/>
          <a:stretch>
            <a:fillRect/>
          </a:stretch>
        </p:blipFill>
        <p:spPr>
          <a:xfrm>
            <a:off x="2705356" y="2149516"/>
            <a:ext cx="377043" cy="377043"/>
          </a:xfrm>
          <a:prstGeom prst="rect">
            <a:avLst/>
          </a:prstGeom>
        </p:spPr>
      </p:pic>
      <p:sp>
        <p:nvSpPr>
          <p:cNvPr id="80" name="Oval 79"/>
          <p:cNvSpPr/>
          <p:nvPr/>
        </p:nvSpPr>
        <p:spPr>
          <a:xfrm>
            <a:off x="4415922" y="3936834"/>
            <a:ext cx="245832"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Oval 80"/>
          <p:cNvSpPr/>
          <p:nvPr/>
        </p:nvSpPr>
        <p:spPr>
          <a:xfrm>
            <a:off x="4536353" y="3936834"/>
            <a:ext cx="245832"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Oval 81"/>
          <p:cNvSpPr/>
          <p:nvPr/>
        </p:nvSpPr>
        <p:spPr>
          <a:xfrm>
            <a:off x="5033766" y="3936834"/>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Oval 82"/>
          <p:cNvSpPr/>
          <p:nvPr/>
        </p:nvSpPr>
        <p:spPr>
          <a:xfrm>
            <a:off x="5154197" y="3936834"/>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Oval 83"/>
          <p:cNvSpPr/>
          <p:nvPr/>
        </p:nvSpPr>
        <p:spPr>
          <a:xfrm>
            <a:off x="5274628" y="3936834"/>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Oval 84"/>
          <p:cNvSpPr/>
          <p:nvPr/>
        </p:nvSpPr>
        <p:spPr>
          <a:xfrm>
            <a:off x="5990178" y="3913747"/>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Oval 85"/>
          <p:cNvSpPr/>
          <p:nvPr/>
        </p:nvSpPr>
        <p:spPr>
          <a:xfrm>
            <a:off x="6118229" y="3913747"/>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Oval 86"/>
          <p:cNvSpPr/>
          <p:nvPr/>
        </p:nvSpPr>
        <p:spPr>
          <a:xfrm>
            <a:off x="6238660" y="3913747"/>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Oval 87"/>
          <p:cNvSpPr/>
          <p:nvPr/>
        </p:nvSpPr>
        <p:spPr>
          <a:xfrm>
            <a:off x="6866775" y="3906127"/>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Oval 88"/>
          <p:cNvSpPr/>
          <p:nvPr/>
        </p:nvSpPr>
        <p:spPr>
          <a:xfrm>
            <a:off x="6987206" y="3906127"/>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Oval 89"/>
          <p:cNvSpPr/>
          <p:nvPr/>
        </p:nvSpPr>
        <p:spPr>
          <a:xfrm>
            <a:off x="7115257" y="3906127"/>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Oval 90"/>
          <p:cNvSpPr/>
          <p:nvPr/>
        </p:nvSpPr>
        <p:spPr>
          <a:xfrm>
            <a:off x="7679872" y="3913747"/>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Oval 91"/>
          <p:cNvSpPr/>
          <p:nvPr/>
        </p:nvSpPr>
        <p:spPr>
          <a:xfrm>
            <a:off x="7800303" y="3913747"/>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Oval 92"/>
          <p:cNvSpPr/>
          <p:nvPr/>
        </p:nvSpPr>
        <p:spPr>
          <a:xfrm>
            <a:off x="8293501" y="3876369"/>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Oval 93"/>
          <p:cNvSpPr/>
          <p:nvPr/>
        </p:nvSpPr>
        <p:spPr>
          <a:xfrm>
            <a:off x="8421552" y="3876369"/>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Oval 94"/>
          <p:cNvSpPr/>
          <p:nvPr/>
        </p:nvSpPr>
        <p:spPr>
          <a:xfrm>
            <a:off x="8541983" y="3876369"/>
            <a:ext cx="256103" cy="25610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6" name="Straight Arrow Connector 95"/>
          <p:cNvCxnSpPr>
            <a:stCxn id="80" idx="0"/>
          </p:cNvCxnSpPr>
          <p:nvPr/>
        </p:nvCxnSpPr>
        <p:spPr>
          <a:xfrm flipV="1">
            <a:off x="4538838" y="3625812"/>
            <a:ext cx="916622" cy="3110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81" idx="0"/>
          </p:cNvCxnSpPr>
          <p:nvPr/>
        </p:nvCxnSpPr>
        <p:spPr>
          <a:xfrm flipV="1">
            <a:off x="4659269" y="3625812"/>
            <a:ext cx="796191" cy="3110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flipV="1">
            <a:off x="5132563" y="3625812"/>
            <a:ext cx="702530" cy="3186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flipV="1">
            <a:off x="5255534" y="3625812"/>
            <a:ext cx="579559" cy="3186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flipV="1">
            <a:off x="5387439" y="3625812"/>
            <a:ext cx="447654" cy="32245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flipV="1">
            <a:off x="6095284" y="3602725"/>
            <a:ext cx="334928" cy="3091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flipV="1">
            <a:off x="6218273" y="3602725"/>
            <a:ext cx="211939" cy="3072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flipH="1" flipV="1">
            <a:off x="6945516" y="3602725"/>
            <a:ext cx="149445" cy="2943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flipV="1">
            <a:off x="6346720" y="3602725"/>
            <a:ext cx="83492" cy="3032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flipH="1" flipV="1">
            <a:off x="6945516" y="3602725"/>
            <a:ext cx="14491" cy="3072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flipH="1" flipV="1">
            <a:off x="6945516" y="3602725"/>
            <a:ext cx="259957" cy="3032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p:nvPr/>
        </p:nvCxnSpPr>
        <p:spPr>
          <a:xfrm flipH="1" flipV="1">
            <a:off x="7389700" y="3610345"/>
            <a:ext cx="533558" cy="301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flipH="1" flipV="1">
            <a:off x="7404020" y="3618676"/>
            <a:ext cx="403903" cy="301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p:nvPr/>
        </p:nvCxnSpPr>
        <p:spPr>
          <a:xfrm flipH="1" flipV="1">
            <a:off x="7769167" y="3573823"/>
            <a:ext cx="641025" cy="3015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p:nvPr/>
        </p:nvCxnSpPr>
        <p:spPr>
          <a:xfrm flipH="1" flipV="1">
            <a:off x="7762467" y="3572967"/>
            <a:ext cx="794039" cy="3021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flipH="1" flipV="1">
            <a:off x="7769167" y="3573823"/>
            <a:ext cx="918281" cy="2980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Rounded Rectangle 128"/>
          <p:cNvSpPr/>
          <p:nvPr/>
        </p:nvSpPr>
        <p:spPr>
          <a:xfrm>
            <a:off x="5062920" y="3285865"/>
            <a:ext cx="584571" cy="34886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rPr>
              <a:t>local</a:t>
            </a: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130" name="Rounded Rectangle 129"/>
          <p:cNvSpPr/>
          <p:nvPr/>
        </p:nvSpPr>
        <p:spPr>
          <a:xfrm>
            <a:off x="5684089" y="3276957"/>
            <a:ext cx="584571" cy="34886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rPr>
              <a:t>local</a:t>
            </a: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131" name="Rounded Rectangle 130"/>
          <p:cNvSpPr/>
          <p:nvPr/>
        </p:nvSpPr>
        <p:spPr>
          <a:xfrm>
            <a:off x="6301485" y="3280767"/>
            <a:ext cx="584571" cy="34886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rPr>
              <a:t>local</a:t>
            </a: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132" name="Rounded Rectangle 131"/>
          <p:cNvSpPr/>
          <p:nvPr/>
        </p:nvSpPr>
        <p:spPr>
          <a:xfrm>
            <a:off x="6910394" y="3276957"/>
            <a:ext cx="584571" cy="34886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rPr>
              <a:t>local</a:t>
            </a: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133" name="Rounded Rectangle 132"/>
          <p:cNvSpPr/>
          <p:nvPr/>
        </p:nvSpPr>
        <p:spPr>
          <a:xfrm>
            <a:off x="7520948" y="3286252"/>
            <a:ext cx="584571" cy="34886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rPr>
              <a:t>local</a:t>
            </a:r>
            <a:endParaRPr lang="zh-CN" altLang="en-US" dirty="0">
              <a:ln w="0"/>
              <a:solidFill>
                <a:schemeClr val="tx1"/>
              </a:solidFill>
              <a:effectLst>
                <a:outerShdw blurRad="38100" dist="19050" dir="2700000" algn="tl" rotWithShape="0">
                  <a:schemeClr val="dk1">
                    <a:alpha val="40000"/>
                  </a:schemeClr>
                </a:outerShdw>
              </a:effectLst>
            </a:endParaRPr>
          </a:p>
        </p:txBody>
      </p:sp>
      <p:sp>
        <p:nvSpPr>
          <p:cNvPr id="134" name="Rounded Rectangle 133"/>
          <p:cNvSpPr/>
          <p:nvPr/>
        </p:nvSpPr>
        <p:spPr>
          <a:xfrm>
            <a:off x="6311656" y="2726022"/>
            <a:ext cx="584571" cy="34886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rPr>
              <a:t>root</a:t>
            </a:r>
            <a:endParaRPr lang="zh-CN" altLang="en-US" dirty="0">
              <a:ln w="0"/>
              <a:solidFill>
                <a:schemeClr val="tx1"/>
              </a:solidFill>
              <a:effectLst>
                <a:outerShdw blurRad="38100" dist="19050" dir="2700000" algn="tl" rotWithShape="0">
                  <a:schemeClr val="dk1">
                    <a:alpha val="40000"/>
                  </a:schemeClr>
                </a:outerShdw>
              </a:effectLst>
            </a:endParaRPr>
          </a:p>
        </p:txBody>
      </p:sp>
      <p:cxnSp>
        <p:nvCxnSpPr>
          <p:cNvPr id="135" name="Straight Arrow Connector 134"/>
          <p:cNvCxnSpPr>
            <a:endCxn id="134" idx="2"/>
          </p:cNvCxnSpPr>
          <p:nvPr/>
        </p:nvCxnSpPr>
        <p:spPr>
          <a:xfrm flipV="1">
            <a:off x="5373487" y="3074886"/>
            <a:ext cx="1230455" cy="2100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a:endCxn id="134" idx="2"/>
          </p:cNvCxnSpPr>
          <p:nvPr/>
        </p:nvCxnSpPr>
        <p:spPr>
          <a:xfrm flipV="1">
            <a:off x="5957850" y="3074886"/>
            <a:ext cx="646092" cy="2105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a:endCxn id="134" idx="2"/>
          </p:cNvCxnSpPr>
          <p:nvPr/>
        </p:nvCxnSpPr>
        <p:spPr>
          <a:xfrm flipV="1">
            <a:off x="6587348" y="3074886"/>
            <a:ext cx="16594" cy="21747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a:stCxn id="132" idx="0"/>
            <a:endCxn id="134" idx="2"/>
          </p:cNvCxnSpPr>
          <p:nvPr/>
        </p:nvCxnSpPr>
        <p:spPr>
          <a:xfrm flipH="1" flipV="1">
            <a:off x="6603942" y="3074886"/>
            <a:ext cx="598738" cy="2020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a:endCxn id="134" idx="2"/>
          </p:cNvCxnSpPr>
          <p:nvPr/>
        </p:nvCxnSpPr>
        <p:spPr>
          <a:xfrm flipH="1" flipV="1">
            <a:off x="6603942" y="3074886"/>
            <a:ext cx="1227453" cy="2152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380063"/>
      </p:ext>
    </p:extLst>
  </p:cSld>
  <p:clrMapOvr>
    <a:masterClrMapping/>
  </p:clrMapOvr>
  <p:transition spd="slow" advTm="22052"/>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Research Goal</a:t>
            </a:r>
          </a:p>
        </p:txBody>
      </p:sp>
      <p:sp>
        <p:nvSpPr>
          <p:cNvPr id="8" name="TextBox 7"/>
          <p:cNvSpPr txBox="1"/>
          <p:nvPr/>
        </p:nvSpPr>
        <p:spPr>
          <a:xfrm>
            <a:off x="494030" y="2426145"/>
            <a:ext cx="4606480" cy="1600438"/>
          </a:xfrm>
          <a:prstGeom prst="rect">
            <a:avLst/>
          </a:prstGeom>
          <a:noFill/>
        </p:spPr>
        <p:txBody>
          <a:bodyPr wrap="square" rtlCol="0">
            <a:spAutoFit/>
          </a:bodyPr>
          <a:lstStyle/>
          <a:p>
            <a:pPr marL="285750" indent="-285750">
              <a:buFont typeface="Arial" panose="020B0604020202020204" pitchFamily="34" charset="0"/>
              <a:buChar char="•"/>
            </a:pPr>
            <a:r>
              <a:rPr lang="en-US" dirty="0" smtClean="0"/>
              <a:t>Distributed Network</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Share Computation</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a:t>General </a:t>
            </a:r>
            <a:r>
              <a:rPr lang="en-US" dirty="0" smtClean="0"/>
              <a:t>Applicability</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Runtime Optimizations</a:t>
            </a:r>
            <a:endParaRPr lang="en-US" dirty="0"/>
          </a:p>
        </p:txBody>
      </p:sp>
      <p:sp>
        <p:nvSpPr>
          <p:cNvPr id="15" name="TextBox 14"/>
          <p:cNvSpPr txBox="1"/>
          <p:nvPr/>
        </p:nvSpPr>
        <p:spPr>
          <a:xfrm>
            <a:off x="410210" y="1183972"/>
            <a:ext cx="6722110" cy="830997"/>
          </a:xfrm>
          <a:prstGeom prst="rect">
            <a:avLst/>
          </a:prstGeom>
          <a:noFill/>
        </p:spPr>
        <p:txBody>
          <a:bodyPr wrap="square" rtlCol="0">
            <a:spAutoFit/>
          </a:bodyPr>
          <a:lstStyle/>
          <a:p>
            <a:pPr algn="ctr"/>
            <a:r>
              <a:rPr lang="en-US" sz="1600" b="1" dirty="0" smtClean="0">
                <a:solidFill>
                  <a:schemeClr val="tx1"/>
                </a:solidFill>
                <a:latin typeface="+mn-lt"/>
              </a:rPr>
              <a:t>Efficient share intermediate result between multiple arbitrary streamed queries in distributed network</a:t>
            </a:r>
          </a:p>
          <a:p>
            <a:endParaRPr lang="en-US" sz="1600" dirty="0" smtClean="0">
              <a:solidFill>
                <a:srgbClr val="FF0000"/>
              </a:solidFill>
              <a:latin typeface="+mn-lt"/>
            </a:endParaRPr>
          </a:p>
        </p:txBody>
      </p:sp>
    </p:spTree>
    <p:extLst>
      <p:ext uri="{BB962C8B-B14F-4D97-AF65-F5344CB8AC3E}">
        <p14:creationId xmlns:p14="http://schemas.microsoft.com/office/powerpoint/2010/main" val="342650758"/>
      </p:ext>
    </p:extLst>
  </p:cSld>
  <p:clrMapOvr>
    <a:masterClrMapping/>
  </p:clrMapOvr>
  <p:transition spd="slow" advTm="22052"/>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lvl="0" algn="l" eaLnBrk="0" hangingPunct="0">
              <a:spcBef>
                <a:spcPct val="0"/>
              </a:spcBef>
              <a:spcAft>
                <a:spcPct val="0"/>
              </a:spcAft>
              <a:buClrTx/>
              <a:buSzTx/>
            </a:pPr>
            <a:r>
              <a:rPr lang="en-GB" altLang="en-US" sz="2800" kern="0" dirty="0" smtClean="0">
                <a:latin typeface="Nunito" charset="0"/>
                <a:cs typeface="Nunito" charset="0"/>
                <a:sym typeface="Nunito" charset="0"/>
              </a:rPr>
              <a:t>Related Work </a:t>
            </a:r>
            <a:r>
              <a:rPr lang="en-US" altLang="en-US" sz="1600" dirty="0">
                <a:latin typeface="Arial" panose="020B0604020202020204" pitchFamily="34" charset="0"/>
                <a:ea typeface="+mn-ea"/>
                <a:cs typeface="Arial" panose="020B0604020202020204" pitchFamily="34" charset="0"/>
              </a:rPr>
              <a:t> </a:t>
            </a:r>
            <a:r>
              <a:rPr lang="en-US" altLang="en-US" sz="1600" dirty="0" smtClean="0">
                <a:latin typeface="Arial" panose="020B0604020202020204" pitchFamily="34" charset="0"/>
                <a:ea typeface="+mn-ea"/>
                <a:cs typeface="Arial" panose="020B0604020202020204" pitchFamily="34" charset="0"/>
              </a:rPr>
              <a:t>  </a:t>
            </a:r>
            <a:r>
              <a:rPr lang="en-US" altLang="zh-CN" sz="1600" dirty="0" smtClean="0">
                <a:latin typeface="Arial" panose="020B0604020202020204" pitchFamily="34" charset="0"/>
                <a:ea typeface="+mn-ea"/>
                <a:cs typeface="Arial" panose="020B0604020202020204" pitchFamily="34" charset="0"/>
              </a:rPr>
              <a:t>Disco</a:t>
            </a:r>
            <a:endParaRPr lang="en-US" altLang="zh-CN" sz="1600" dirty="0">
              <a:latin typeface="Arial" panose="020B0604020202020204" pitchFamily="34" charset="0"/>
              <a:ea typeface="+mn-ea"/>
              <a:cs typeface="Arial" panose="020B0604020202020204" pitchFamily="34" charset="0"/>
            </a:endParaRPr>
          </a:p>
        </p:txBody>
      </p:sp>
      <p:sp>
        <p:nvSpPr>
          <p:cNvPr id="7" name="Rectangle 6"/>
          <p:cNvSpPr/>
          <p:nvPr/>
        </p:nvSpPr>
        <p:spPr>
          <a:xfrm>
            <a:off x="252961" y="4258484"/>
            <a:ext cx="4572000" cy="430887"/>
          </a:xfrm>
          <a:prstGeom prst="rect">
            <a:avLst/>
          </a:prstGeom>
        </p:spPr>
        <p:txBody>
          <a:bodyPr>
            <a:spAutoFit/>
          </a:bodyPr>
          <a:lstStyle/>
          <a:p>
            <a:r>
              <a:rPr lang="en-US" sz="1050" i="1" dirty="0"/>
              <a:t>Benson, Lawrence, et al. "Disco: Efficient Distributed Window Aggregation." EDBT. Vol. 20. 2020.</a:t>
            </a:r>
            <a:endParaRPr lang="en-US" sz="700" i="1" dirty="0"/>
          </a:p>
        </p:txBody>
      </p:sp>
      <p:pic>
        <p:nvPicPr>
          <p:cNvPr id="4" name="Picture 3"/>
          <p:cNvPicPr>
            <a:picLocks noChangeAspect="1"/>
          </p:cNvPicPr>
          <p:nvPr/>
        </p:nvPicPr>
        <p:blipFill>
          <a:blip r:embed="rId4"/>
          <a:stretch>
            <a:fillRect/>
          </a:stretch>
        </p:blipFill>
        <p:spPr>
          <a:xfrm>
            <a:off x="0" y="874364"/>
            <a:ext cx="6252037" cy="3325906"/>
          </a:xfrm>
          <a:prstGeom prst="rect">
            <a:avLst/>
          </a:prstGeom>
        </p:spPr>
      </p:pic>
      <p:sp>
        <p:nvSpPr>
          <p:cNvPr id="12" name="TextBox 11"/>
          <p:cNvSpPr txBox="1"/>
          <p:nvPr/>
        </p:nvSpPr>
        <p:spPr>
          <a:xfrm>
            <a:off x="6351516" y="2580962"/>
            <a:ext cx="2236237" cy="584775"/>
          </a:xfrm>
          <a:prstGeom prst="rect">
            <a:avLst/>
          </a:prstGeom>
          <a:noFill/>
        </p:spPr>
        <p:txBody>
          <a:bodyPr wrap="square" rtlCol="0">
            <a:spAutoFit/>
          </a:bodyPr>
          <a:lstStyle/>
          <a:p>
            <a:r>
              <a:rPr lang="en-US" altLang="zh-CN" sz="1600" dirty="0" smtClean="0"/>
              <a:t>Time-based window</a:t>
            </a:r>
          </a:p>
          <a:p>
            <a:r>
              <a:rPr lang="en-US" altLang="zh-CN" sz="1600" dirty="0" smtClean="0"/>
              <a:t>Count-based window</a:t>
            </a:r>
          </a:p>
        </p:txBody>
      </p:sp>
      <p:pic>
        <p:nvPicPr>
          <p:cNvPr id="14" name="Picture 13"/>
          <p:cNvPicPr>
            <a:picLocks noChangeAspect="1"/>
          </p:cNvPicPr>
          <p:nvPr/>
        </p:nvPicPr>
        <p:blipFill>
          <a:blip r:embed="rId5"/>
          <a:stretch>
            <a:fillRect/>
          </a:stretch>
        </p:blipFill>
        <p:spPr>
          <a:xfrm>
            <a:off x="8568952" y="2836177"/>
            <a:ext cx="377043" cy="377043"/>
          </a:xfrm>
          <a:prstGeom prst="rect">
            <a:avLst/>
          </a:prstGeom>
        </p:spPr>
      </p:pic>
      <p:pic>
        <p:nvPicPr>
          <p:cNvPr id="16" name="Picture 15"/>
          <p:cNvPicPr>
            <a:picLocks noChangeAspect="1"/>
          </p:cNvPicPr>
          <p:nvPr/>
        </p:nvPicPr>
        <p:blipFill>
          <a:blip r:embed="rId6"/>
          <a:stretch>
            <a:fillRect/>
          </a:stretch>
        </p:blipFill>
        <p:spPr>
          <a:xfrm>
            <a:off x="8473812" y="2431086"/>
            <a:ext cx="567324" cy="474554"/>
          </a:xfrm>
          <a:prstGeom prst="rect">
            <a:avLst/>
          </a:prstGeom>
        </p:spPr>
      </p:pic>
      <p:sp>
        <p:nvSpPr>
          <p:cNvPr id="17" name="TextBox 16"/>
          <p:cNvSpPr txBox="1"/>
          <p:nvPr/>
        </p:nvSpPr>
        <p:spPr>
          <a:xfrm>
            <a:off x="6262450" y="1422679"/>
            <a:ext cx="2414367" cy="523220"/>
          </a:xfrm>
          <a:prstGeom prst="rect">
            <a:avLst/>
          </a:prstGeom>
          <a:noFill/>
        </p:spPr>
        <p:txBody>
          <a:bodyPr wrap="square" rtlCol="0">
            <a:spAutoFit/>
          </a:bodyPr>
          <a:lstStyle/>
          <a:p>
            <a:r>
              <a:rPr lang="en-US" altLang="zh-CN" dirty="0" smtClean="0"/>
              <a:t>1. Pre-aggregate</a:t>
            </a:r>
          </a:p>
          <a:p>
            <a:r>
              <a:rPr lang="en-US" altLang="zh-CN" dirty="0" smtClean="0"/>
              <a:t>2. Final-aggregate</a:t>
            </a:r>
            <a:endParaRPr lang="zh-CN" altLang="en-US" dirty="0"/>
          </a:p>
        </p:txBody>
      </p:sp>
    </p:spTree>
    <p:extLst>
      <p:ext uri="{BB962C8B-B14F-4D97-AF65-F5344CB8AC3E}">
        <p14:creationId xmlns:p14="http://schemas.microsoft.com/office/powerpoint/2010/main" val="1378332946"/>
      </p:ext>
    </p:extLst>
  </p:cSld>
  <p:clrMapOvr>
    <a:masterClrMapping/>
  </p:clrMapOvr>
  <p:transition spd="slow" advTm="22052"/>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lvl="0" algn="l" eaLnBrk="0" hangingPunct="0">
              <a:spcBef>
                <a:spcPct val="0"/>
              </a:spcBef>
              <a:spcAft>
                <a:spcPct val="0"/>
              </a:spcAft>
              <a:buClrTx/>
              <a:buSzTx/>
            </a:pPr>
            <a:r>
              <a:rPr lang="en-GB" altLang="en-US" sz="2800" kern="0" dirty="0" smtClean="0">
                <a:latin typeface="Nunito" charset="0"/>
                <a:cs typeface="Nunito" charset="0"/>
                <a:sym typeface="Nunito" charset="0"/>
              </a:rPr>
              <a:t>Related Work </a:t>
            </a:r>
            <a:r>
              <a:rPr lang="en-US" altLang="en-US" sz="1600" dirty="0">
                <a:latin typeface="Arial" panose="020B0604020202020204" pitchFamily="34" charset="0"/>
                <a:ea typeface="+mn-ea"/>
                <a:cs typeface="Arial" panose="020B0604020202020204" pitchFamily="34" charset="0"/>
              </a:rPr>
              <a:t> </a:t>
            </a:r>
            <a:r>
              <a:rPr lang="en-US" altLang="en-US" sz="1600" dirty="0" smtClean="0">
                <a:latin typeface="Arial" panose="020B0604020202020204" pitchFamily="34" charset="0"/>
                <a:ea typeface="+mn-ea"/>
                <a:cs typeface="Arial" panose="020B0604020202020204" pitchFamily="34" charset="0"/>
              </a:rPr>
              <a:t>  </a:t>
            </a:r>
            <a:r>
              <a:rPr lang="en-US" altLang="zh-CN" sz="1600" dirty="0" smtClean="0">
                <a:latin typeface="Arial" panose="020B0604020202020204" pitchFamily="34" charset="0"/>
                <a:ea typeface="+mn-ea"/>
                <a:cs typeface="Arial" panose="020B0604020202020204" pitchFamily="34" charset="0"/>
              </a:rPr>
              <a:t>scotty</a:t>
            </a:r>
            <a:endParaRPr lang="en-US" altLang="zh-CN" sz="1600" dirty="0">
              <a:latin typeface="Arial" panose="020B0604020202020204" pitchFamily="34" charset="0"/>
              <a:ea typeface="+mn-ea"/>
              <a:cs typeface="Arial" panose="020B0604020202020204" pitchFamily="34" charset="0"/>
            </a:endParaRPr>
          </a:p>
        </p:txBody>
      </p:sp>
      <p:sp>
        <p:nvSpPr>
          <p:cNvPr id="7" name="Rectangle 6"/>
          <p:cNvSpPr/>
          <p:nvPr/>
        </p:nvSpPr>
        <p:spPr>
          <a:xfrm>
            <a:off x="252961" y="4258484"/>
            <a:ext cx="4572000" cy="430887"/>
          </a:xfrm>
          <a:prstGeom prst="rect">
            <a:avLst/>
          </a:prstGeom>
        </p:spPr>
        <p:txBody>
          <a:bodyPr>
            <a:spAutoFit/>
          </a:bodyPr>
          <a:lstStyle/>
          <a:p>
            <a:r>
              <a:rPr lang="en-US" sz="1050" i="1" dirty="0" err="1"/>
              <a:t>Traub</a:t>
            </a:r>
            <a:r>
              <a:rPr lang="en-US" sz="1050" i="1" dirty="0"/>
              <a:t>, Jonas. "Demand-based data stream gathering, processing, and transmission." (2019</a:t>
            </a:r>
            <a:r>
              <a:rPr lang="en-US" sz="1050" i="1" dirty="0" smtClean="0"/>
              <a:t>). Chapter 4</a:t>
            </a:r>
            <a:endParaRPr lang="en-US" sz="700" i="1" dirty="0"/>
          </a:p>
        </p:txBody>
      </p:sp>
      <p:pic>
        <p:nvPicPr>
          <p:cNvPr id="3" name="Picture 2"/>
          <p:cNvPicPr>
            <a:picLocks noChangeAspect="1"/>
          </p:cNvPicPr>
          <p:nvPr/>
        </p:nvPicPr>
        <p:blipFill>
          <a:blip r:embed="rId4"/>
          <a:stretch>
            <a:fillRect/>
          </a:stretch>
        </p:blipFill>
        <p:spPr>
          <a:xfrm>
            <a:off x="150501" y="1371600"/>
            <a:ext cx="6495985" cy="1975172"/>
          </a:xfrm>
          <a:prstGeom prst="rect">
            <a:avLst/>
          </a:prstGeom>
        </p:spPr>
      </p:pic>
      <p:sp>
        <p:nvSpPr>
          <p:cNvPr id="8" name="TextBox 7"/>
          <p:cNvSpPr txBox="1"/>
          <p:nvPr/>
        </p:nvSpPr>
        <p:spPr>
          <a:xfrm>
            <a:off x="6729633" y="1653086"/>
            <a:ext cx="2414367" cy="523220"/>
          </a:xfrm>
          <a:prstGeom prst="rect">
            <a:avLst/>
          </a:prstGeom>
          <a:noFill/>
        </p:spPr>
        <p:txBody>
          <a:bodyPr wrap="square" rtlCol="0">
            <a:spAutoFit/>
          </a:bodyPr>
          <a:lstStyle/>
          <a:p>
            <a:r>
              <a:rPr lang="en-US" altLang="zh-CN" dirty="0" smtClean="0"/>
              <a:t>pre-aggregation</a:t>
            </a:r>
          </a:p>
          <a:p>
            <a:r>
              <a:rPr lang="en-US" altLang="zh-CN" dirty="0" smtClean="0"/>
              <a:t>result sharing</a:t>
            </a:r>
          </a:p>
        </p:txBody>
      </p:sp>
    </p:spTree>
    <p:extLst>
      <p:ext uri="{BB962C8B-B14F-4D97-AF65-F5344CB8AC3E}">
        <p14:creationId xmlns:p14="http://schemas.microsoft.com/office/powerpoint/2010/main" val="1284938770"/>
      </p:ext>
    </p:extLst>
  </p:cSld>
  <p:clrMapOvr>
    <a:masterClrMapping/>
  </p:clrMapOvr>
  <p:transition spd="slow" advTm="22052"/>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lvl="0" algn="l" eaLnBrk="0" hangingPunct="0">
              <a:spcBef>
                <a:spcPct val="0"/>
              </a:spcBef>
              <a:spcAft>
                <a:spcPct val="0"/>
              </a:spcAft>
              <a:buClrTx/>
              <a:buSzTx/>
            </a:pPr>
            <a:r>
              <a:rPr lang="en-GB" altLang="en-US" sz="2800" kern="0" dirty="0" smtClean="0">
                <a:latin typeface="Nunito" charset="0"/>
                <a:cs typeface="Nunito" charset="0"/>
                <a:sym typeface="Nunito" charset="0"/>
              </a:rPr>
              <a:t>Related Work </a:t>
            </a:r>
            <a:r>
              <a:rPr lang="en-US" altLang="en-US" sz="1600" dirty="0">
                <a:latin typeface="Arial" panose="020B0604020202020204" pitchFamily="34" charset="0"/>
                <a:ea typeface="+mn-ea"/>
                <a:cs typeface="Arial" panose="020B0604020202020204" pitchFamily="34" charset="0"/>
              </a:rPr>
              <a:t> </a:t>
            </a:r>
            <a:r>
              <a:rPr lang="en-US" altLang="en-US" sz="1600" dirty="0" smtClean="0">
                <a:latin typeface="Arial" panose="020B0604020202020204" pitchFamily="34" charset="0"/>
                <a:ea typeface="+mn-ea"/>
                <a:cs typeface="Arial" panose="020B0604020202020204" pitchFamily="34" charset="0"/>
              </a:rPr>
              <a:t>  </a:t>
            </a:r>
            <a:r>
              <a:rPr lang="en-US" altLang="zh-CN" sz="1600" dirty="0" smtClean="0">
                <a:latin typeface="Arial" panose="020B0604020202020204" pitchFamily="34" charset="0"/>
                <a:ea typeface="+mn-ea"/>
                <a:cs typeface="Arial" panose="020B0604020202020204" pitchFamily="34" charset="0"/>
              </a:rPr>
              <a:t>scotty</a:t>
            </a:r>
            <a:endParaRPr lang="en-US" altLang="zh-CN" sz="1600" dirty="0">
              <a:latin typeface="Arial" panose="020B0604020202020204" pitchFamily="34" charset="0"/>
              <a:ea typeface="+mn-ea"/>
              <a:cs typeface="Arial" panose="020B0604020202020204" pitchFamily="34" charset="0"/>
            </a:endParaRPr>
          </a:p>
        </p:txBody>
      </p:sp>
      <p:sp>
        <p:nvSpPr>
          <p:cNvPr id="7" name="Rectangle 6"/>
          <p:cNvSpPr/>
          <p:nvPr/>
        </p:nvSpPr>
        <p:spPr>
          <a:xfrm>
            <a:off x="252961" y="4258484"/>
            <a:ext cx="4572000" cy="430887"/>
          </a:xfrm>
          <a:prstGeom prst="rect">
            <a:avLst/>
          </a:prstGeom>
        </p:spPr>
        <p:txBody>
          <a:bodyPr>
            <a:spAutoFit/>
          </a:bodyPr>
          <a:lstStyle/>
          <a:p>
            <a:r>
              <a:rPr lang="en-US" sz="1050" i="1" dirty="0" err="1"/>
              <a:t>Traub</a:t>
            </a:r>
            <a:r>
              <a:rPr lang="en-US" sz="1050" i="1" dirty="0"/>
              <a:t>, Jonas. "Demand-based data stream gathering, processing, and transmission." (2019</a:t>
            </a:r>
            <a:r>
              <a:rPr lang="en-US" sz="1050" i="1" dirty="0" smtClean="0"/>
              <a:t>). Chapter 4</a:t>
            </a:r>
            <a:endParaRPr lang="en-US" sz="700" i="1" dirty="0"/>
          </a:p>
        </p:txBody>
      </p:sp>
      <p:pic>
        <p:nvPicPr>
          <p:cNvPr id="4" name="Picture 3"/>
          <p:cNvPicPr>
            <a:picLocks noChangeAspect="1"/>
          </p:cNvPicPr>
          <p:nvPr/>
        </p:nvPicPr>
        <p:blipFill>
          <a:blip r:embed="rId4"/>
          <a:stretch>
            <a:fillRect/>
          </a:stretch>
        </p:blipFill>
        <p:spPr>
          <a:xfrm>
            <a:off x="149543" y="1254286"/>
            <a:ext cx="6876097" cy="2271868"/>
          </a:xfrm>
          <a:prstGeom prst="rect">
            <a:avLst/>
          </a:prstGeom>
        </p:spPr>
      </p:pic>
      <p:sp>
        <p:nvSpPr>
          <p:cNvPr id="8" name="TextBox 7"/>
          <p:cNvSpPr txBox="1"/>
          <p:nvPr/>
        </p:nvSpPr>
        <p:spPr>
          <a:xfrm>
            <a:off x="7200900" y="1445582"/>
            <a:ext cx="2414367" cy="738664"/>
          </a:xfrm>
          <a:prstGeom prst="rect">
            <a:avLst/>
          </a:prstGeom>
          <a:noFill/>
        </p:spPr>
        <p:txBody>
          <a:bodyPr wrap="square" rtlCol="0">
            <a:spAutoFit/>
          </a:bodyPr>
          <a:lstStyle/>
          <a:p>
            <a:r>
              <a:rPr lang="en-US" altLang="zh-CN" dirty="0" smtClean="0"/>
              <a:t>Basic Idea</a:t>
            </a:r>
          </a:p>
          <a:p>
            <a:r>
              <a:rPr lang="en-US" altLang="zh-CN" dirty="0" smtClean="0"/>
              <a:t>pre-aggregation</a:t>
            </a:r>
          </a:p>
          <a:p>
            <a:r>
              <a:rPr lang="en-US" altLang="zh-CN" dirty="0" smtClean="0"/>
              <a:t>result sharing</a:t>
            </a:r>
          </a:p>
        </p:txBody>
      </p:sp>
    </p:spTree>
    <p:extLst>
      <p:ext uri="{BB962C8B-B14F-4D97-AF65-F5344CB8AC3E}">
        <p14:creationId xmlns:p14="http://schemas.microsoft.com/office/powerpoint/2010/main" val="2721830156"/>
      </p:ext>
    </p:extLst>
  </p:cSld>
  <p:clrMapOvr>
    <a:masterClrMapping/>
  </p:clrMapOvr>
  <p:transition spd="slow" advTm="22052"/>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lvl="0" algn="l" eaLnBrk="0" hangingPunct="0">
              <a:spcBef>
                <a:spcPct val="0"/>
              </a:spcBef>
              <a:spcAft>
                <a:spcPct val="0"/>
              </a:spcAft>
              <a:buClrTx/>
              <a:buSzTx/>
            </a:pPr>
            <a:r>
              <a:rPr lang="en-GB" altLang="en-US" sz="2800" kern="0" dirty="0" smtClean="0">
                <a:latin typeface="Nunito" charset="0"/>
                <a:cs typeface="Nunito" charset="0"/>
                <a:sym typeface="Nunito" charset="0"/>
              </a:rPr>
              <a:t>Related Work </a:t>
            </a:r>
            <a:r>
              <a:rPr lang="en-US" altLang="en-US" sz="1600" dirty="0">
                <a:latin typeface="Arial" panose="020B0604020202020204" pitchFamily="34" charset="0"/>
                <a:ea typeface="+mn-ea"/>
                <a:cs typeface="Arial" panose="020B0604020202020204" pitchFamily="34" charset="0"/>
              </a:rPr>
              <a:t> </a:t>
            </a:r>
            <a:r>
              <a:rPr lang="en-US" altLang="en-US" sz="1600" dirty="0" smtClean="0">
                <a:latin typeface="Arial" panose="020B0604020202020204" pitchFamily="34" charset="0"/>
                <a:ea typeface="+mn-ea"/>
                <a:cs typeface="Arial" panose="020B0604020202020204" pitchFamily="34" charset="0"/>
              </a:rPr>
              <a:t>  </a:t>
            </a:r>
            <a:r>
              <a:rPr lang="en-US" altLang="zh-CN" sz="1600" dirty="0" smtClean="0">
                <a:latin typeface="Arial" panose="020B0604020202020204" pitchFamily="34" charset="0"/>
                <a:ea typeface="+mn-ea"/>
                <a:cs typeface="Arial" panose="020B0604020202020204" pitchFamily="34" charset="0"/>
              </a:rPr>
              <a:t>scotty</a:t>
            </a:r>
            <a:endParaRPr lang="en-US" altLang="zh-CN" sz="1600" dirty="0">
              <a:latin typeface="Arial" panose="020B0604020202020204" pitchFamily="34" charset="0"/>
              <a:ea typeface="+mn-ea"/>
              <a:cs typeface="Arial" panose="020B0604020202020204" pitchFamily="34" charset="0"/>
            </a:endParaRPr>
          </a:p>
        </p:txBody>
      </p:sp>
      <p:sp>
        <p:nvSpPr>
          <p:cNvPr id="7" name="Rectangle 6"/>
          <p:cNvSpPr/>
          <p:nvPr/>
        </p:nvSpPr>
        <p:spPr>
          <a:xfrm>
            <a:off x="252961" y="4258484"/>
            <a:ext cx="4572000" cy="430887"/>
          </a:xfrm>
          <a:prstGeom prst="rect">
            <a:avLst/>
          </a:prstGeom>
        </p:spPr>
        <p:txBody>
          <a:bodyPr>
            <a:spAutoFit/>
          </a:bodyPr>
          <a:lstStyle/>
          <a:p>
            <a:r>
              <a:rPr lang="en-US" sz="1050" i="1" dirty="0" err="1"/>
              <a:t>Traub</a:t>
            </a:r>
            <a:r>
              <a:rPr lang="en-US" sz="1050" i="1" dirty="0"/>
              <a:t>, Jonas. "Demand-based data stream gathering, processing, and transmission." (2019</a:t>
            </a:r>
            <a:r>
              <a:rPr lang="en-US" sz="1050" i="1" dirty="0" smtClean="0"/>
              <a:t>). Chapter 4</a:t>
            </a:r>
            <a:endParaRPr lang="en-US" sz="700" i="1" dirty="0"/>
          </a:p>
        </p:txBody>
      </p:sp>
      <p:pic>
        <p:nvPicPr>
          <p:cNvPr id="4" name="Picture 3"/>
          <p:cNvPicPr>
            <a:picLocks noChangeAspect="1"/>
          </p:cNvPicPr>
          <p:nvPr/>
        </p:nvPicPr>
        <p:blipFill>
          <a:blip r:embed="rId4"/>
          <a:stretch>
            <a:fillRect/>
          </a:stretch>
        </p:blipFill>
        <p:spPr>
          <a:xfrm>
            <a:off x="149543" y="1254286"/>
            <a:ext cx="6876097" cy="2271868"/>
          </a:xfrm>
          <a:prstGeom prst="rect">
            <a:avLst/>
          </a:prstGeom>
        </p:spPr>
      </p:pic>
      <p:sp>
        <p:nvSpPr>
          <p:cNvPr id="8" name="TextBox 7"/>
          <p:cNvSpPr txBox="1"/>
          <p:nvPr/>
        </p:nvSpPr>
        <p:spPr>
          <a:xfrm>
            <a:off x="4983480" y="3526154"/>
            <a:ext cx="3017520" cy="954107"/>
          </a:xfrm>
          <a:prstGeom prst="rect">
            <a:avLst/>
          </a:prstGeom>
          <a:noFill/>
        </p:spPr>
        <p:txBody>
          <a:bodyPr wrap="square" rtlCol="0">
            <a:spAutoFit/>
          </a:bodyPr>
          <a:lstStyle/>
          <a:p>
            <a:r>
              <a:rPr lang="en-US" altLang="zh-CN" dirty="0" smtClean="0"/>
              <a:t>Result Sharing</a:t>
            </a:r>
            <a:endParaRPr lang="en-US" altLang="zh-CN" dirty="0"/>
          </a:p>
          <a:p>
            <a:r>
              <a:rPr lang="en-US" altLang="zh-CN" dirty="0" smtClean="0"/>
              <a:t>Different Measures</a:t>
            </a:r>
          </a:p>
          <a:p>
            <a:r>
              <a:rPr lang="en-US" altLang="zh-CN" dirty="0" smtClean="0"/>
              <a:t>Different Window Types</a:t>
            </a:r>
          </a:p>
          <a:p>
            <a:r>
              <a:rPr lang="en-US" altLang="zh-CN" dirty="0" smtClean="0"/>
              <a:t>Different Aggregation Functions</a:t>
            </a:r>
          </a:p>
        </p:txBody>
      </p:sp>
      <p:pic>
        <p:nvPicPr>
          <p:cNvPr id="9" name="Picture 8"/>
          <p:cNvPicPr>
            <a:picLocks noChangeAspect="1"/>
          </p:cNvPicPr>
          <p:nvPr/>
        </p:nvPicPr>
        <p:blipFill>
          <a:blip r:embed="rId5"/>
          <a:stretch>
            <a:fillRect/>
          </a:stretch>
        </p:blipFill>
        <p:spPr>
          <a:xfrm>
            <a:off x="7176283" y="3838310"/>
            <a:ext cx="377043" cy="377043"/>
          </a:xfrm>
          <a:prstGeom prst="rect">
            <a:avLst/>
          </a:prstGeom>
        </p:spPr>
      </p:pic>
      <p:pic>
        <p:nvPicPr>
          <p:cNvPr id="10" name="Picture 9"/>
          <p:cNvPicPr>
            <a:picLocks noChangeAspect="1"/>
          </p:cNvPicPr>
          <p:nvPr/>
        </p:nvPicPr>
        <p:blipFill>
          <a:blip r:embed="rId6"/>
          <a:stretch>
            <a:fillRect/>
          </a:stretch>
        </p:blipFill>
        <p:spPr>
          <a:xfrm>
            <a:off x="6662975" y="3481223"/>
            <a:ext cx="567324" cy="474554"/>
          </a:xfrm>
          <a:prstGeom prst="rect">
            <a:avLst/>
          </a:prstGeom>
        </p:spPr>
      </p:pic>
      <p:pic>
        <p:nvPicPr>
          <p:cNvPr id="11" name="Picture 10"/>
          <p:cNvPicPr>
            <a:picLocks noChangeAspect="1"/>
          </p:cNvPicPr>
          <p:nvPr/>
        </p:nvPicPr>
        <p:blipFill>
          <a:blip r:embed="rId5"/>
          <a:stretch>
            <a:fillRect/>
          </a:stretch>
        </p:blipFill>
        <p:spPr>
          <a:xfrm>
            <a:off x="7577267" y="4148149"/>
            <a:ext cx="377043" cy="377043"/>
          </a:xfrm>
          <a:prstGeom prst="rect">
            <a:avLst/>
          </a:prstGeom>
        </p:spPr>
      </p:pic>
    </p:spTree>
    <p:extLst>
      <p:ext uri="{BB962C8B-B14F-4D97-AF65-F5344CB8AC3E}">
        <p14:creationId xmlns:p14="http://schemas.microsoft.com/office/powerpoint/2010/main" val="514439235"/>
      </p:ext>
    </p:extLst>
  </p:cSld>
  <p:clrMapOvr>
    <a:masterClrMapping/>
  </p:clrMapOvr>
  <p:transition spd="slow" advTm="22052"/>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structure</a:t>
            </a:r>
            <a:endParaRPr lang="en-US" dirty="0"/>
          </a:p>
        </p:txBody>
      </p:sp>
      <p:pic>
        <p:nvPicPr>
          <p:cNvPr id="3" name="Picture 2"/>
          <p:cNvPicPr>
            <a:picLocks noChangeAspect="1"/>
          </p:cNvPicPr>
          <p:nvPr/>
        </p:nvPicPr>
        <p:blipFill>
          <a:blip r:embed="rId4"/>
          <a:stretch>
            <a:fillRect/>
          </a:stretch>
        </p:blipFill>
        <p:spPr>
          <a:xfrm>
            <a:off x="1746885" y="1304832"/>
            <a:ext cx="5240655" cy="2946340"/>
          </a:xfrm>
          <a:prstGeom prst="rect">
            <a:avLst/>
          </a:prstGeom>
        </p:spPr>
      </p:pic>
      <p:sp>
        <p:nvSpPr>
          <p:cNvPr id="7" name="Rectangle 6"/>
          <p:cNvSpPr/>
          <p:nvPr/>
        </p:nvSpPr>
        <p:spPr>
          <a:xfrm>
            <a:off x="311150" y="4408113"/>
            <a:ext cx="4572000" cy="430887"/>
          </a:xfrm>
          <a:prstGeom prst="rect">
            <a:avLst/>
          </a:prstGeom>
        </p:spPr>
        <p:txBody>
          <a:bodyPr>
            <a:spAutoFit/>
          </a:bodyPr>
          <a:lstStyle/>
          <a:p>
            <a:r>
              <a:rPr lang="en-US" sz="1050" i="1" dirty="0"/>
              <a:t>Benson, Lawrence, et al. "Disco: Efficient Distributed Window Aggregation." EDBT. Vol. 20. 2020.</a:t>
            </a:r>
            <a:endParaRPr lang="en-US" sz="700" i="1" dirty="0"/>
          </a:p>
        </p:txBody>
      </p:sp>
    </p:spTree>
    <p:extLst>
      <p:ext uri="{BB962C8B-B14F-4D97-AF65-F5344CB8AC3E}">
        <p14:creationId xmlns:p14="http://schemas.microsoft.com/office/powerpoint/2010/main" val="2356727155"/>
      </p:ext>
    </p:extLst>
  </p:cSld>
  <p:clrMapOvr>
    <a:masterClrMapping/>
  </p:clrMapOvr>
  <p:transition spd="slow" advTm="22052"/>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836816" y="731044"/>
            <a:ext cx="6906476" cy="4275684"/>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architecture</a:t>
            </a:r>
            <a:endParaRPr lang="en-US" dirty="0"/>
          </a:p>
        </p:txBody>
      </p:sp>
    </p:spTree>
    <p:extLst>
      <p:ext uri="{BB962C8B-B14F-4D97-AF65-F5344CB8AC3E}">
        <p14:creationId xmlns:p14="http://schemas.microsoft.com/office/powerpoint/2010/main" val="1719403257"/>
      </p:ext>
    </p:extLst>
  </p:cSld>
  <p:clrMapOvr>
    <a:masterClrMapping/>
  </p:clrMapOvr>
  <p:transition spd="slow" advTm="22052"/>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Query Analyzer</a:t>
            </a:r>
            <a:endParaRPr lang="en-US" dirty="0"/>
          </a:p>
        </p:txBody>
      </p:sp>
      <p:sp>
        <p:nvSpPr>
          <p:cNvPr id="7" name="Rectangle 6"/>
          <p:cNvSpPr/>
          <p:nvPr/>
        </p:nvSpPr>
        <p:spPr>
          <a:xfrm>
            <a:off x="311150" y="1192982"/>
            <a:ext cx="141943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t>Query</a:t>
            </a:r>
            <a:endParaRPr lang="en-US" sz="2800" dirty="0"/>
          </a:p>
        </p:txBody>
      </p:sp>
      <p:sp>
        <p:nvSpPr>
          <p:cNvPr id="9" name="Rectangle 8"/>
          <p:cNvSpPr/>
          <p:nvPr/>
        </p:nvSpPr>
        <p:spPr>
          <a:xfrm>
            <a:off x="2464543" y="1188585"/>
            <a:ext cx="145472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t>Window</a:t>
            </a:r>
            <a:endParaRPr lang="en-US" sz="2800" dirty="0"/>
          </a:p>
        </p:txBody>
      </p:sp>
      <p:sp>
        <p:nvSpPr>
          <p:cNvPr id="10" name="Right Arrow 9"/>
          <p:cNvSpPr/>
          <p:nvPr/>
        </p:nvSpPr>
        <p:spPr>
          <a:xfrm>
            <a:off x="1758420" y="1197154"/>
            <a:ext cx="706123" cy="707962"/>
          </a:xfrm>
          <a:prstGeom prst="rightArrow">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694686" y="1188584"/>
            <a:ext cx="145472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t>Solution</a:t>
            </a:r>
            <a:endParaRPr lang="en-US" sz="2400" dirty="0"/>
          </a:p>
        </p:txBody>
      </p:sp>
      <p:sp>
        <p:nvSpPr>
          <p:cNvPr id="13" name="Right Arrow 12"/>
          <p:cNvSpPr/>
          <p:nvPr/>
        </p:nvSpPr>
        <p:spPr>
          <a:xfrm>
            <a:off x="3988563" y="1197154"/>
            <a:ext cx="706123" cy="707962"/>
          </a:xfrm>
          <a:prstGeom prst="rightArrow">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Table 17"/>
          <p:cNvGraphicFramePr>
            <a:graphicFrameLocks noGrp="1"/>
          </p:cNvGraphicFramePr>
          <p:nvPr>
            <p:extLst/>
          </p:nvPr>
        </p:nvGraphicFramePr>
        <p:xfrm>
          <a:off x="311150" y="2332041"/>
          <a:ext cx="7758429" cy="1508760"/>
        </p:xfrm>
        <a:graphic>
          <a:graphicData uri="http://schemas.openxmlformats.org/drawingml/2006/table">
            <a:tbl>
              <a:tblPr firstRow="1" bandRow="1">
                <a:tableStyleId>{073A0DAA-6AF3-43AB-8588-CEC1D06C72B9}</a:tableStyleId>
              </a:tblPr>
              <a:tblGrid>
                <a:gridCol w="2586143">
                  <a:extLst>
                    <a:ext uri="{9D8B030D-6E8A-4147-A177-3AD203B41FA5}">
                      <a16:colId xmlns:a16="http://schemas.microsoft.com/office/drawing/2014/main" val="429943062"/>
                    </a:ext>
                  </a:extLst>
                </a:gridCol>
                <a:gridCol w="2586143">
                  <a:extLst>
                    <a:ext uri="{9D8B030D-6E8A-4147-A177-3AD203B41FA5}">
                      <a16:colId xmlns:a16="http://schemas.microsoft.com/office/drawing/2014/main" val="1138281403"/>
                    </a:ext>
                  </a:extLst>
                </a:gridCol>
                <a:gridCol w="2586143">
                  <a:extLst>
                    <a:ext uri="{9D8B030D-6E8A-4147-A177-3AD203B41FA5}">
                      <a16:colId xmlns:a16="http://schemas.microsoft.com/office/drawing/2014/main" val="3666251502"/>
                    </a:ext>
                  </a:extLst>
                </a:gridCol>
              </a:tblGrid>
              <a:tr h="238157">
                <a:tc>
                  <a:txBody>
                    <a:bodyPr/>
                    <a:lstStyle/>
                    <a:p>
                      <a:endParaRPr lang="en-US" sz="1050" dirty="0"/>
                    </a:p>
                  </a:txBody>
                  <a:tcPr/>
                </a:tc>
                <a:tc>
                  <a:txBody>
                    <a:bodyPr/>
                    <a:lstStyle/>
                    <a:p>
                      <a:r>
                        <a:rPr lang="en-US" sz="1050" dirty="0" smtClean="0"/>
                        <a:t>Decomposable</a:t>
                      </a:r>
                      <a:endParaRPr lang="en-US" sz="1050" dirty="0"/>
                    </a:p>
                  </a:txBody>
                  <a:tcPr/>
                </a:tc>
                <a:tc>
                  <a:txBody>
                    <a:bodyPr/>
                    <a:lstStyle/>
                    <a:p>
                      <a:r>
                        <a:rPr lang="en-US" sz="1050" dirty="0" smtClean="0"/>
                        <a:t>Non-Decomposable</a:t>
                      </a:r>
                      <a:endParaRPr lang="en-US" sz="1050" dirty="0"/>
                    </a:p>
                  </a:txBody>
                  <a:tcPr/>
                </a:tc>
                <a:extLst>
                  <a:ext uri="{0D108BD9-81ED-4DB2-BD59-A6C34878D82A}">
                    <a16:rowId xmlns:a16="http://schemas.microsoft.com/office/drawing/2014/main" val="2724814258"/>
                  </a:ext>
                </a:extLst>
              </a:tr>
              <a:tr h="216605">
                <a:tc>
                  <a:txBody>
                    <a:bodyPr/>
                    <a:lstStyle/>
                    <a:p>
                      <a:r>
                        <a:rPr lang="en-US" sz="1050" dirty="0" smtClean="0"/>
                        <a:t>Tumbling</a:t>
                      </a:r>
                      <a:endParaRPr lang="en-US" sz="1050" dirty="0"/>
                    </a:p>
                  </a:txBody>
                  <a:tcPr/>
                </a:tc>
                <a:tc rowSpan="5">
                  <a:txBody>
                    <a:bodyPr/>
                    <a:lstStyle/>
                    <a:p>
                      <a:pPr algn="ctr"/>
                      <a:r>
                        <a:rPr lang="en-US" sz="1200" dirty="0" smtClean="0">
                          <a:solidFill>
                            <a:schemeClr val="tx1"/>
                          </a:solidFill>
                          <a:latin typeface="Consolas" panose="020B0609020204030204" pitchFamily="49" charset="0"/>
                        </a:rPr>
                        <a:t>distributed Aggregation</a:t>
                      </a:r>
                      <a:endParaRPr lang="en-US" sz="1200" dirty="0">
                        <a:solidFill>
                          <a:schemeClr val="tx1"/>
                        </a:solidFill>
                        <a:latin typeface="Consolas" panose="020B0609020204030204" pitchFamily="49" charset="0"/>
                      </a:endParaRPr>
                    </a:p>
                  </a:txBody>
                  <a:tcPr anchor="ctr">
                    <a:solidFill>
                      <a:srgbClr val="A50021"/>
                    </a:solidFill>
                  </a:tcPr>
                </a:tc>
                <a:tc rowSpan="5">
                  <a:txBody>
                    <a:bodyPr/>
                    <a:lstStyle/>
                    <a:p>
                      <a:pPr algn="ctr"/>
                      <a:r>
                        <a:rPr lang="en-US" sz="1200" dirty="0" smtClean="0">
                          <a:solidFill>
                            <a:schemeClr val="tx1"/>
                          </a:solidFill>
                          <a:latin typeface="Consolas" panose="020B0609020204030204" pitchFamily="49" charset="0"/>
                        </a:rPr>
                        <a:t>Centralized Aggregation</a:t>
                      </a:r>
                      <a:endParaRPr lang="en-US" sz="1200" dirty="0">
                        <a:solidFill>
                          <a:schemeClr val="tx1"/>
                        </a:solidFill>
                        <a:latin typeface="Consolas" panose="020B0609020204030204" pitchFamily="49" charset="0"/>
                      </a:endParaRPr>
                    </a:p>
                  </a:txBody>
                  <a:tcPr anchor="ctr">
                    <a:solidFill>
                      <a:schemeClr val="accent5"/>
                    </a:solidFill>
                  </a:tcPr>
                </a:tc>
                <a:extLst>
                  <a:ext uri="{0D108BD9-81ED-4DB2-BD59-A6C34878D82A}">
                    <a16:rowId xmlns:a16="http://schemas.microsoft.com/office/drawing/2014/main" val="4220155151"/>
                  </a:ext>
                </a:extLst>
              </a:tr>
              <a:tr h="216605">
                <a:tc>
                  <a:txBody>
                    <a:bodyPr/>
                    <a:lstStyle/>
                    <a:p>
                      <a:r>
                        <a:rPr lang="en-US" sz="1050" dirty="0" smtClean="0"/>
                        <a:t>Sliding</a:t>
                      </a:r>
                      <a:endParaRPr lang="en-US" sz="1050" dirty="0"/>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668435988"/>
                  </a:ext>
                </a:extLst>
              </a:tr>
              <a:tr h="216605">
                <a:tc>
                  <a:txBody>
                    <a:bodyPr/>
                    <a:lstStyle/>
                    <a:p>
                      <a:r>
                        <a:rPr lang="en-US" sz="1050" dirty="0" smtClean="0"/>
                        <a:t>Session</a:t>
                      </a:r>
                      <a:endParaRPr lang="en-US" sz="1050" dirty="0"/>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2807112938"/>
                  </a:ext>
                </a:extLst>
              </a:tr>
              <a:tr h="216605">
                <a:tc>
                  <a:txBody>
                    <a:bodyPr/>
                    <a:lstStyle/>
                    <a:p>
                      <a:r>
                        <a:rPr lang="en-US" sz="1050" dirty="0" smtClean="0"/>
                        <a:t>Count-based</a:t>
                      </a:r>
                      <a:endParaRPr lang="en-US" sz="1050" dirty="0"/>
                    </a:p>
                  </a:txBody>
                  <a:tcPr/>
                </a:tc>
                <a:tc vMerge="1">
                  <a:txBody>
                    <a:bodyPr/>
                    <a:lstStyle/>
                    <a:p>
                      <a:pPr algn="ctr"/>
                      <a:endParaRPr lang="en-US" sz="1800" dirty="0">
                        <a:latin typeface="Consolas" panose="020B0609020204030204" pitchFamily="49" charset="0"/>
                      </a:endParaRPr>
                    </a:p>
                  </a:txBody>
                  <a:tcPr>
                    <a:solidFill>
                      <a:schemeClr val="accent5">
                        <a:alpha val="76078"/>
                      </a:schemeClr>
                    </a:solidFill>
                  </a:tcPr>
                </a:tc>
                <a:tc vMerge="1">
                  <a:txBody>
                    <a:bodyPr/>
                    <a:lstStyle/>
                    <a:p>
                      <a:pPr algn="ctr"/>
                      <a:endParaRPr lang="en-US" sz="1800" dirty="0">
                        <a:latin typeface="Consolas" panose="020B0609020204030204" pitchFamily="49" charset="0"/>
                      </a:endParaRPr>
                    </a:p>
                  </a:txBody>
                  <a:tcPr>
                    <a:solidFill>
                      <a:schemeClr val="accent5">
                        <a:alpha val="76078"/>
                      </a:schemeClr>
                    </a:solidFill>
                  </a:tcPr>
                </a:tc>
                <a:extLst>
                  <a:ext uri="{0D108BD9-81ED-4DB2-BD59-A6C34878D82A}">
                    <a16:rowId xmlns:a16="http://schemas.microsoft.com/office/drawing/2014/main" val="2548934844"/>
                  </a:ext>
                </a:extLst>
              </a:tr>
              <a:tr h="216605">
                <a:tc>
                  <a:txBody>
                    <a:bodyPr/>
                    <a:lstStyle/>
                    <a:p>
                      <a:r>
                        <a:rPr lang="en-US" sz="1050" dirty="0" smtClean="0"/>
                        <a:t>User-define</a:t>
                      </a:r>
                      <a:endParaRPr lang="en-US" sz="1050" dirty="0"/>
                    </a:p>
                  </a:txBody>
                  <a:tcPr/>
                </a:tc>
                <a:tc vMerge="1">
                  <a:txBody>
                    <a:bodyPr/>
                    <a:lstStyle/>
                    <a:p>
                      <a:pPr algn="ctr"/>
                      <a:endParaRPr lang="en-US" sz="1200" dirty="0">
                        <a:solidFill>
                          <a:schemeClr val="tx1"/>
                        </a:solidFill>
                        <a:latin typeface="Consolas" panose="020B0609020204030204" pitchFamily="49" charset="0"/>
                      </a:endParaRPr>
                    </a:p>
                  </a:txBody>
                  <a:tcPr anchor="ctr">
                    <a:solidFill>
                      <a:srgbClr val="A50021"/>
                    </a:solidFill>
                  </a:tcPr>
                </a:tc>
                <a:tc vMerge="1">
                  <a:txBody>
                    <a:bodyPr/>
                    <a:lstStyle/>
                    <a:p>
                      <a:pPr algn="ctr"/>
                      <a:endParaRPr lang="en-US" sz="1200" dirty="0">
                        <a:solidFill>
                          <a:schemeClr val="tx1"/>
                        </a:solidFill>
                        <a:latin typeface="Consolas" panose="020B0609020204030204" pitchFamily="49" charset="0"/>
                      </a:endParaRPr>
                    </a:p>
                  </a:txBody>
                  <a:tcPr anchor="ctr">
                    <a:solidFill>
                      <a:schemeClr val="accent5"/>
                    </a:solidFill>
                  </a:tcPr>
                </a:tc>
                <a:extLst>
                  <a:ext uri="{0D108BD9-81ED-4DB2-BD59-A6C34878D82A}">
                    <a16:rowId xmlns:a16="http://schemas.microsoft.com/office/drawing/2014/main" val="3591705513"/>
                  </a:ext>
                </a:extLst>
              </a:tr>
            </a:tbl>
          </a:graphicData>
        </a:graphic>
      </p:graphicFrame>
    </p:spTree>
    <p:extLst>
      <p:ext uri="{BB962C8B-B14F-4D97-AF65-F5344CB8AC3E}">
        <p14:creationId xmlns:p14="http://schemas.microsoft.com/office/powerpoint/2010/main" val="194857"/>
      </p:ext>
    </p:extLst>
  </p:cSld>
  <p:clrMapOvr>
    <a:masterClrMapping/>
  </p:clrMapOvr>
  <p:transition spd="slow" advTm="22052"/>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Query Analyzer</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735024784"/>
              </p:ext>
            </p:extLst>
          </p:nvPr>
        </p:nvGraphicFramePr>
        <p:xfrm>
          <a:off x="311150" y="1094269"/>
          <a:ext cx="7758429" cy="1508760"/>
        </p:xfrm>
        <a:graphic>
          <a:graphicData uri="http://schemas.openxmlformats.org/drawingml/2006/table">
            <a:tbl>
              <a:tblPr firstRow="1" bandRow="1">
                <a:tableStyleId>{073A0DAA-6AF3-43AB-8588-CEC1D06C72B9}</a:tableStyleId>
              </a:tblPr>
              <a:tblGrid>
                <a:gridCol w="2586143">
                  <a:extLst>
                    <a:ext uri="{9D8B030D-6E8A-4147-A177-3AD203B41FA5}">
                      <a16:colId xmlns:a16="http://schemas.microsoft.com/office/drawing/2014/main" val="429943062"/>
                    </a:ext>
                  </a:extLst>
                </a:gridCol>
                <a:gridCol w="2586143">
                  <a:extLst>
                    <a:ext uri="{9D8B030D-6E8A-4147-A177-3AD203B41FA5}">
                      <a16:colId xmlns:a16="http://schemas.microsoft.com/office/drawing/2014/main" val="1138281403"/>
                    </a:ext>
                  </a:extLst>
                </a:gridCol>
                <a:gridCol w="2586143">
                  <a:extLst>
                    <a:ext uri="{9D8B030D-6E8A-4147-A177-3AD203B41FA5}">
                      <a16:colId xmlns:a16="http://schemas.microsoft.com/office/drawing/2014/main" val="3666251502"/>
                    </a:ext>
                  </a:extLst>
                </a:gridCol>
              </a:tblGrid>
              <a:tr h="238157">
                <a:tc>
                  <a:txBody>
                    <a:bodyPr/>
                    <a:lstStyle/>
                    <a:p>
                      <a:endParaRPr lang="en-US" sz="1050" dirty="0"/>
                    </a:p>
                  </a:txBody>
                  <a:tcPr/>
                </a:tc>
                <a:tc>
                  <a:txBody>
                    <a:bodyPr/>
                    <a:lstStyle/>
                    <a:p>
                      <a:r>
                        <a:rPr lang="en-US" sz="1050" dirty="0" smtClean="0"/>
                        <a:t>Decomposable</a:t>
                      </a:r>
                      <a:endParaRPr lang="en-US" sz="1050" dirty="0"/>
                    </a:p>
                  </a:txBody>
                  <a:tcPr/>
                </a:tc>
                <a:tc>
                  <a:txBody>
                    <a:bodyPr/>
                    <a:lstStyle/>
                    <a:p>
                      <a:r>
                        <a:rPr lang="en-US" sz="1050" dirty="0" smtClean="0"/>
                        <a:t>Non-Decomposable</a:t>
                      </a:r>
                      <a:endParaRPr lang="en-US" sz="1050" dirty="0"/>
                    </a:p>
                  </a:txBody>
                  <a:tcPr/>
                </a:tc>
                <a:extLst>
                  <a:ext uri="{0D108BD9-81ED-4DB2-BD59-A6C34878D82A}">
                    <a16:rowId xmlns:a16="http://schemas.microsoft.com/office/drawing/2014/main" val="2724814258"/>
                  </a:ext>
                </a:extLst>
              </a:tr>
              <a:tr h="216605">
                <a:tc>
                  <a:txBody>
                    <a:bodyPr/>
                    <a:lstStyle/>
                    <a:p>
                      <a:r>
                        <a:rPr lang="en-US" sz="1050" dirty="0" smtClean="0"/>
                        <a:t>Tumbling</a:t>
                      </a:r>
                      <a:endParaRPr lang="en-US" sz="1050" dirty="0"/>
                    </a:p>
                  </a:txBody>
                  <a:tcPr/>
                </a:tc>
                <a:tc rowSpan="5">
                  <a:txBody>
                    <a:bodyPr/>
                    <a:lstStyle/>
                    <a:p>
                      <a:pPr algn="ctr"/>
                      <a:r>
                        <a:rPr lang="en-US" sz="1200" dirty="0" smtClean="0">
                          <a:solidFill>
                            <a:schemeClr val="tx1"/>
                          </a:solidFill>
                          <a:latin typeface="Consolas" panose="020B0609020204030204" pitchFamily="49" charset="0"/>
                        </a:rPr>
                        <a:t>distributed Aggregation</a:t>
                      </a:r>
                      <a:endParaRPr lang="en-US" sz="1200" dirty="0">
                        <a:solidFill>
                          <a:schemeClr val="tx1"/>
                        </a:solidFill>
                        <a:latin typeface="Consolas" panose="020B0609020204030204" pitchFamily="49" charset="0"/>
                      </a:endParaRPr>
                    </a:p>
                  </a:txBody>
                  <a:tcPr anchor="ctr">
                    <a:solidFill>
                      <a:srgbClr val="A50021"/>
                    </a:solidFill>
                  </a:tcPr>
                </a:tc>
                <a:tc rowSpan="5">
                  <a:txBody>
                    <a:bodyPr/>
                    <a:lstStyle/>
                    <a:p>
                      <a:pPr algn="ctr"/>
                      <a:r>
                        <a:rPr lang="en-US" sz="1200" dirty="0" smtClean="0">
                          <a:solidFill>
                            <a:schemeClr val="tx1"/>
                          </a:solidFill>
                          <a:latin typeface="Consolas" panose="020B0609020204030204" pitchFamily="49" charset="0"/>
                        </a:rPr>
                        <a:t>Centralized Aggregation</a:t>
                      </a:r>
                      <a:endParaRPr lang="en-US" sz="1200" dirty="0">
                        <a:solidFill>
                          <a:schemeClr val="tx1"/>
                        </a:solidFill>
                        <a:latin typeface="Consolas" panose="020B0609020204030204" pitchFamily="49" charset="0"/>
                      </a:endParaRPr>
                    </a:p>
                  </a:txBody>
                  <a:tcPr anchor="ctr">
                    <a:solidFill>
                      <a:schemeClr val="accent5"/>
                    </a:solidFill>
                  </a:tcPr>
                </a:tc>
                <a:extLst>
                  <a:ext uri="{0D108BD9-81ED-4DB2-BD59-A6C34878D82A}">
                    <a16:rowId xmlns:a16="http://schemas.microsoft.com/office/drawing/2014/main" val="4220155151"/>
                  </a:ext>
                </a:extLst>
              </a:tr>
              <a:tr h="216605">
                <a:tc>
                  <a:txBody>
                    <a:bodyPr/>
                    <a:lstStyle/>
                    <a:p>
                      <a:r>
                        <a:rPr lang="en-US" sz="1050" dirty="0" smtClean="0"/>
                        <a:t>Sliding</a:t>
                      </a:r>
                      <a:endParaRPr lang="en-US" sz="1050" dirty="0"/>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668435988"/>
                  </a:ext>
                </a:extLst>
              </a:tr>
              <a:tr h="216605">
                <a:tc>
                  <a:txBody>
                    <a:bodyPr/>
                    <a:lstStyle/>
                    <a:p>
                      <a:r>
                        <a:rPr lang="en-US" sz="1050" dirty="0" smtClean="0"/>
                        <a:t>Session</a:t>
                      </a:r>
                      <a:endParaRPr lang="en-US" sz="1050" dirty="0"/>
                    </a:p>
                  </a:txBody>
                  <a:tcP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2807112938"/>
                  </a:ext>
                </a:extLst>
              </a:tr>
              <a:tr h="216605">
                <a:tc>
                  <a:txBody>
                    <a:bodyPr/>
                    <a:lstStyle/>
                    <a:p>
                      <a:r>
                        <a:rPr lang="en-US" sz="1050" dirty="0" smtClean="0"/>
                        <a:t>Count-based</a:t>
                      </a:r>
                      <a:endParaRPr lang="en-US" sz="1050" dirty="0"/>
                    </a:p>
                  </a:txBody>
                  <a:tcPr/>
                </a:tc>
                <a:tc vMerge="1">
                  <a:txBody>
                    <a:bodyPr/>
                    <a:lstStyle/>
                    <a:p>
                      <a:pPr algn="ctr"/>
                      <a:endParaRPr lang="en-US" sz="1800" dirty="0">
                        <a:latin typeface="Consolas" panose="020B0609020204030204" pitchFamily="49" charset="0"/>
                      </a:endParaRPr>
                    </a:p>
                  </a:txBody>
                  <a:tcPr>
                    <a:solidFill>
                      <a:schemeClr val="accent5">
                        <a:alpha val="76078"/>
                      </a:schemeClr>
                    </a:solidFill>
                  </a:tcPr>
                </a:tc>
                <a:tc vMerge="1">
                  <a:txBody>
                    <a:bodyPr/>
                    <a:lstStyle/>
                    <a:p>
                      <a:pPr algn="ctr"/>
                      <a:endParaRPr lang="en-US" sz="1800" dirty="0">
                        <a:latin typeface="Consolas" panose="020B0609020204030204" pitchFamily="49" charset="0"/>
                      </a:endParaRPr>
                    </a:p>
                  </a:txBody>
                  <a:tcPr>
                    <a:solidFill>
                      <a:schemeClr val="accent5">
                        <a:alpha val="76078"/>
                      </a:schemeClr>
                    </a:solidFill>
                  </a:tcPr>
                </a:tc>
                <a:extLst>
                  <a:ext uri="{0D108BD9-81ED-4DB2-BD59-A6C34878D82A}">
                    <a16:rowId xmlns:a16="http://schemas.microsoft.com/office/drawing/2014/main" val="2548934844"/>
                  </a:ext>
                </a:extLst>
              </a:tr>
              <a:tr h="216605">
                <a:tc>
                  <a:txBody>
                    <a:bodyPr/>
                    <a:lstStyle/>
                    <a:p>
                      <a:r>
                        <a:rPr lang="en-US" sz="1050" dirty="0" smtClean="0"/>
                        <a:t>User-define</a:t>
                      </a:r>
                      <a:endParaRPr lang="en-US" sz="1050" dirty="0"/>
                    </a:p>
                  </a:txBody>
                  <a:tcPr/>
                </a:tc>
                <a:tc vMerge="1">
                  <a:txBody>
                    <a:bodyPr/>
                    <a:lstStyle/>
                    <a:p>
                      <a:pPr algn="ctr"/>
                      <a:endParaRPr lang="en-US" sz="1200" dirty="0">
                        <a:solidFill>
                          <a:schemeClr val="tx1"/>
                        </a:solidFill>
                        <a:latin typeface="Consolas" panose="020B0609020204030204" pitchFamily="49" charset="0"/>
                      </a:endParaRPr>
                    </a:p>
                  </a:txBody>
                  <a:tcPr anchor="ctr">
                    <a:solidFill>
                      <a:srgbClr val="A50021"/>
                    </a:solidFill>
                  </a:tcPr>
                </a:tc>
                <a:tc vMerge="1">
                  <a:txBody>
                    <a:bodyPr/>
                    <a:lstStyle/>
                    <a:p>
                      <a:pPr algn="ctr"/>
                      <a:endParaRPr lang="en-US" sz="1200" dirty="0">
                        <a:solidFill>
                          <a:schemeClr val="tx1"/>
                        </a:solidFill>
                        <a:latin typeface="Consolas" panose="020B0609020204030204" pitchFamily="49" charset="0"/>
                      </a:endParaRPr>
                    </a:p>
                  </a:txBody>
                  <a:tcPr anchor="ctr">
                    <a:solidFill>
                      <a:schemeClr val="accent5"/>
                    </a:solidFill>
                  </a:tcPr>
                </a:tc>
                <a:extLst>
                  <a:ext uri="{0D108BD9-81ED-4DB2-BD59-A6C34878D82A}">
                    <a16:rowId xmlns:a16="http://schemas.microsoft.com/office/drawing/2014/main" val="3591705513"/>
                  </a:ext>
                </a:extLst>
              </a:tr>
            </a:tbl>
          </a:graphicData>
        </a:graphic>
      </p:graphicFrame>
      <p:pic>
        <p:nvPicPr>
          <p:cNvPr id="17" name="Picture 16"/>
          <p:cNvPicPr>
            <a:picLocks noChangeAspect="1"/>
          </p:cNvPicPr>
          <p:nvPr/>
        </p:nvPicPr>
        <p:blipFill>
          <a:blip r:embed="rId4"/>
          <a:stretch>
            <a:fillRect/>
          </a:stretch>
        </p:blipFill>
        <p:spPr>
          <a:xfrm>
            <a:off x="1879701" y="2064449"/>
            <a:ext cx="5176419" cy="2910226"/>
          </a:xfrm>
          <a:prstGeom prst="rect">
            <a:avLst/>
          </a:prstGeom>
        </p:spPr>
      </p:pic>
    </p:spTree>
    <p:extLst>
      <p:ext uri="{BB962C8B-B14F-4D97-AF65-F5344CB8AC3E}">
        <p14:creationId xmlns:p14="http://schemas.microsoft.com/office/powerpoint/2010/main" val="2005448866"/>
      </p:ext>
    </p:extLst>
  </p:cSld>
  <p:clrMapOvr>
    <a:masterClrMapping/>
  </p:clrMapOvr>
  <p:transition spd="slow" advTm="22052"/>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Query Analyzer</a:t>
            </a:r>
            <a:endParaRPr lang="en-US" dirty="0"/>
          </a:p>
        </p:txBody>
      </p:sp>
      <p:sp>
        <p:nvSpPr>
          <p:cNvPr id="7" name="Rectangle 6"/>
          <p:cNvSpPr/>
          <p:nvPr/>
        </p:nvSpPr>
        <p:spPr>
          <a:xfrm>
            <a:off x="311150" y="1192982"/>
            <a:ext cx="141943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t>Query</a:t>
            </a:r>
            <a:endParaRPr lang="en-US" sz="2800" dirty="0"/>
          </a:p>
        </p:txBody>
      </p:sp>
      <p:sp>
        <p:nvSpPr>
          <p:cNvPr id="9" name="Rectangle 8"/>
          <p:cNvSpPr/>
          <p:nvPr/>
        </p:nvSpPr>
        <p:spPr>
          <a:xfrm>
            <a:off x="2464543" y="1188585"/>
            <a:ext cx="145472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t>Window</a:t>
            </a:r>
            <a:endParaRPr lang="en-US" sz="2800" dirty="0"/>
          </a:p>
        </p:txBody>
      </p:sp>
      <p:sp>
        <p:nvSpPr>
          <p:cNvPr id="10" name="Right Arrow 9"/>
          <p:cNvSpPr/>
          <p:nvPr/>
        </p:nvSpPr>
        <p:spPr>
          <a:xfrm>
            <a:off x="1758420" y="1197154"/>
            <a:ext cx="706123" cy="707962"/>
          </a:xfrm>
          <a:prstGeom prst="rightArrow">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694686" y="1188584"/>
            <a:ext cx="145472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t>Solution</a:t>
            </a:r>
            <a:endParaRPr lang="en-US" sz="2400" dirty="0"/>
          </a:p>
        </p:txBody>
      </p:sp>
      <p:sp>
        <p:nvSpPr>
          <p:cNvPr id="13" name="Right Arrow 12"/>
          <p:cNvSpPr/>
          <p:nvPr/>
        </p:nvSpPr>
        <p:spPr>
          <a:xfrm>
            <a:off x="3988563" y="1197154"/>
            <a:ext cx="706123" cy="707962"/>
          </a:xfrm>
          <a:prstGeom prst="rightArrow">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12714" y="2366238"/>
            <a:ext cx="4445443" cy="523220"/>
          </a:xfrm>
          <a:prstGeom prst="rect">
            <a:avLst/>
          </a:prstGeom>
          <a:noFill/>
        </p:spPr>
        <p:txBody>
          <a:bodyPr wrap="square" rtlCol="0">
            <a:spAutoFit/>
          </a:bodyPr>
          <a:lstStyle/>
          <a:p>
            <a:r>
              <a:rPr lang="en-US" dirty="0" smtClean="0">
                <a:solidFill>
                  <a:schemeClr val="tx1"/>
                </a:solidFill>
              </a:rPr>
              <a:t>Query</a:t>
            </a:r>
            <a:r>
              <a:rPr lang="en-US" dirty="0">
                <a:solidFill>
                  <a:schemeClr val="tx1"/>
                </a:solidFill>
              </a:rPr>
              <a:t>: every </a:t>
            </a:r>
            <a:r>
              <a:rPr lang="en-US" dirty="0" smtClean="0">
                <a:solidFill>
                  <a:schemeClr val="tx1"/>
                </a:solidFill>
              </a:rPr>
              <a:t>5 seconds output Average Speed</a:t>
            </a:r>
          </a:p>
          <a:p>
            <a:r>
              <a:rPr lang="en-US" b="1" u="sng" dirty="0" smtClean="0">
                <a:solidFill>
                  <a:schemeClr val="tx1"/>
                </a:solidFill>
              </a:rPr>
              <a:t>Output the average speed every 5 seconds</a:t>
            </a:r>
            <a:endParaRPr lang="en-US" b="1" u="sng" dirty="0">
              <a:solidFill>
                <a:schemeClr val="tx1"/>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4251385171"/>
              </p:ext>
            </p:extLst>
          </p:nvPr>
        </p:nvGraphicFramePr>
        <p:xfrm>
          <a:off x="466054" y="2910145"/>
          <a:ext cx="2896926" cy="1112520"/>
        </p:xfrm>
        <a:graphic>
          <a:graphicData uri="http://schemas.openxmlformats.org/drawingml/2006/table">
            <a:tbl>
              <a:tblPr firstRow="1" bandRow="1">
                <a:tableStyleId>{0E3FDE45-AF77-4B5C-9715-49D594BDF05E}</a:tableStyleId>
              </a:tblPr>
              <a:tblGrid>
                <a:gridCol w="1448463">
                  <a:extLst>
                    <a:ext uri="{9D8B030D-6E8A-4147-A177-3AD203B41FA5}">
                      <a16:colId xmlns:a16="http://schemas.microsoft.com/office/drawing/2014/main" val="4290269961"/>
                    </a:ext>
                  </a:extLst>
                </a:gridCol>
                <a:gridCol w="1448463">
                  <a:extLst>
                    <a:ext uri="{9D8B030D-6E8A-4147-A177-3AD203B41FA5}">
                      <a16:colId xmlns:a16="http://schemas.microsoft.com/office/drawing/2014/main" val="2983488619"/>
                    </a:ext>
                  </a:extLst>
                </a:gridCol>
              </a:tblGrid>
              <a:tr h="370840">
                <a:tc>
                  <a:txBody>
                    <a:bodyPr/>
                    <a:lstStyle/>
                    <a:p>
                      <a:r>
                        <a:rPr lang="en-US" b="1" dirty="0" smtClean="0">
                          <a:solidFill>
                            <a:srgbClr val="A50021"/>
                          </a:solidFill>
                        </a:rPr>
                        <a:t>Measure</a:t>
                      </a:r>
                      <a:endParaRPr lang="en-US" b="1" dirty="0">
                        <a:solidFill>
                          <a:srgbClr val="A50021"/>
                        </a:solidFill>
                      </a:endParaRPr>
                    </a:p>
                  </a:txBody>
                  <a:tcPr/>
                </a:tc>
                <a:tc>
                  <a:txBody>
                    <a:bodyPr/>
                    <a:lstStyle/>
                    <a:p>
                      <a:r>
                        <a:rPr lang="en-US" dirty="0" smtClean="0">
                          <a:solidFill>
                            <a:srgbClr val="A50021"/>
                          </a:solidFill>
                        </a:rPr>
                        <a:t>5 seconds</a:t>
                      </a:r>
                      <a:endParaRPr lang="en-US" dirty="0"/>
                    </a:p>
                  </a:txBody>
                  <a:tcPr/>
                </a:tc>
                <a:extLst>
                  <a:ext uri="{0D108BD9-81ED-4DB2-BD59-A6C34878D82A}">
                    <a16:rowId xmlns:a16="http://schemas.microsoft.com/office/drawing/2014/main" val="3499871607"/>
                  </a:ext>
                </a:extLst>
              </a:tr>
              <a:tr h="370840">
                <a:tc>
                  <a:txBody>
                    <a:bodyPr/>
                    <a:lstStyle/>
                    <a:p>
                      <a:r>
                        <a:rPr lang="en-US" b="1" dirty="0" smtClean="0">
                          <a:solidFill>
                            <a:srgbClr val="008080"/>
                          </a:solidFill>
                        </a:rPr>
                        <a:t>Window Type</a:t>
                      </a:r>
                      <a:endParaRPr lang="en-US" b="1" dirty="0">
                        <a:solidFill>
                          <a:srgbClr val="008080"/>
                        </a:solidFill>
                      </a:endParaRPr>
                    </a:p>
                  </a:txBody>
                  <a:tcPr/>
                </a:tc>
                <a:tc>
                  <a:txBody>
                    <a:bodyPr/>
                    <a:lstStyle/>
                    <a:p>
                      <a:r>
                        <a:rPr lang="en-US" dirty="0" smtClean="0">
                          <a:solidFill>
                            <a:srgbClr val="008080"/>
                          </a:solidFill>
                        </a:rPr>
                        <a:t>Tumbling</a:t>
                      </a:r>
                      <a:endParaRPr lang="en-US" dirty="0"/>
                    </a:p>
                  </a:txBody>
                  <a:tcPr/>
                </a:tc>
                <a:extLst>
                  <a:ext uri="{0D108BD9-81ED-4DB2-BD59-A6C34878D82A}">
                    <a16:rowId xmlns:a16="http://schemas.microsoft.com/office/drawing/2014/main" val="2288527305"/>
                  </a:ext>
                </a:extLst>
              </a:tr>
              <a:tr h="370840">
                <a:tc>
                  <a:txBody>
                    <a:bodyPr/>
                    <a:lstStyle/>
                    <a:p>
                      <a:r>
                        <a:rPr lang="en-US" b="1" dirty="0" smtClean="0">
                          <a:solidFill>
                            <a:srgbClr val="9382D0"/>
                          </a:solidFill>
                        </a:rPr>
                        <a:t>Aggregation</a:t>
                      </a:r>
                      <a:endParaRPr lang="en-US" b="1" dirty="0">
                        <a:solidFill>
                          <a:srgbClr val="9382D0"/>
                        </a:solidFill>
                      </a:endParaRPr>
                    </a:p>
                  </a:txBody>
                  <a:tcPr/>
                </a:tc>
                <a:tc>
                  <a:txBody>
                    <a:bodyPr/>
                    <a:lstStyle/>
                    <a:p>
                      <a:r>
                        <a:rPr lang="en-US" dirty="0" smtClean="0">
                          <a:solidFill>
                            <a:srgbClr val="9382D0"/>
                          </a:solidFill>
                        </a:rPr>
                        <a:t>Average</a:t>
                      </a:r>
                      <a:endParaRPr lang="en-US" dirty="0"/>
                    </a:p>
                  </a:txBody>
                  <a:tcPr/>
                </a:tc>
                <a:extLst>
                  <a:ext uri="{0D108BD9-81ED-4DB2-BD59-A6C34878D82A}">
                    <a16:rowId xmlns:a16="http://schemas.microsoft.com/office/drawing/2014/main" val="3165136813"/>
                  </a:ext>
                </a:extLst>
              </a:tr>
            </a:tbl>
          </a:graphicData>
        </a:graphic>
      </p:graphicFrame>
    </p:spTree>
    <p:extLst>
      <p:ext uri="{BB962C8B-B14F-4D97-AF65-F5344CB8AC3E}">
        <p14:creationId xmlns:p14="http://schemas.microsoft.com/office/powerpoint/2010/main" val="3582843822"/>
      </p:ext>
    </p:extLst>
  </p:cSld>
  <p:clrMapOvr>
    <a:masterClrMapping/>
  </p:clrMapOvr>
  <p:transition spd="slow" advTm="22052"/>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Counting Window</a:t>
            </a:r>
            <a:endParaRPr lang="en-US" dirty="0"/>
          </a:p>
        </p:txBody>
      </p:sp>
      <p:pic>
        <p:nvPicPr>
          <p:cNvPr id="15" name="Picture 14"/>
          <p:cNvPicPr>
            <a:picLocks noChangeAspect="1"/>
          </p:cNvPicPr>
          <p:nvPr/>
        </p:nvPicPr>
        <p:blipFill>
          <a:blip r:embed="rId4"/>
          <a:stretch>
            <a:fillRect/>
          </a:stretch>
        </p:blipFill>
        <p:spPr>
          <a:xfrm>
            <a:off x="260114" y="2982489"/>
            <a:ext cx="3716639" cy="1987996"/>
          </a:xfrm>
          <a:prstGeom prst="rect">
            <a:avLst/>
          </a:prstGeom>
        </p:spPr>
      </p:pic>
      <p:sp>
        <p:nvSpPr>
          <p:cNvPr id="16" name="TextBox 15"/>
          <p:cNvSpPr txBox="1"/>
          <p:nvPr/>
        </p:nvSpPr>
        <p:spPr>
          <a:xfrm>
            <a:off x="4401329" y="1445582"/>
            <a:ext cx="2334751" cy="307777"/>
          </a:xfrm>
          <a:prstGeom prst="rect">
            <a:avLst/>
          </a:prstGeom>
          <a:noFill/>
        </p:spPr>
        <p:txBody>
          <a:bodyPr wrap="square" rtlCol="0">
            <a:spAutoFit/>
          </a:bodyPr>
          <a:lstStyle/>
          <a:p>
            <a:r>
              <a:rPr lang="en-US" dirty="0" smtClean="0"/>
              <a:t>Centralized Aggregation </a:t>
            </a:r>
            <a:endParaRPr lang="en-US" dirty="0">
              <a:solidFill>
                <a:srgbClr val="008080"/>
              </a:solidFill>
            </a:endParaRPr>
          </a:p>
        </p:txBody>
      </p:sp>
      <p:sp>
        <p:nvSpPr>
          <p:cNvPr id="18" name="Rectangle 17"/>
          <p:cNvSpPr/>
          <p:nvPr/>
        </p:nvSpPr>
        <p:spPr>
          <a:xfrm>
            <a:off x="4456314" y="1915838"/>
            <a:ext cx="2857236"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Isosceles Triangle 20"/>
          <p:cNvSpPr/>
          <p:nvPr/>
        </p:nvSpPr>
        <p:spPr>
          <a:xfrm>
            <a:off x="4555374"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Isosceles Triangle 21"/>
          <p:cNvSpPr/>
          <p:nvPr/>
        </p:nvSpPr>
        <p:spPr>
          <a:xfrm>
            <a:off x="4858147"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Isosceles Triangle 22"/>
          <p:cNvSpPr/>
          <p:nvPr/>
        </p:nvSpPr>
        <p:spPr>
          <a:xfrm>
            <a:off x="5160920"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Straight Connector 23"/>
          <p:cNvCxnSpPr/>
          <p:nvPr/>
        </p:nvCxnSpPr>
        <p:spPr>
          <a:xfrm>
            <a:off x="4456314" y="2301933"/>
            <a:ext cx="0" cy="1600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456314" y="2378133"/>
            <a:ext cx="27732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Isosceles Triangle 25"/>
          <p:cNvSpPr/>
          <p:nvPr/>
        </p:nvSpPr>
        <p:spPr>
          <a:xfrm>
            <a:off x="5447631"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Isosceles Triangle 26"/>
          <p:cNvSpPr/>
          <p:nvPr/>
        </p:nvSpPr>
        <p:spPr>
          <a:xfrm>
            <a:off x="5750404"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Isosceles Triangle 27"/>
          <p:cNvSpPr/>
          <p:nvPr/>
        </p:nvSpPr>
        <p:spPr>
          <a:xfrm>
            <a:off x="6053177"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Isosceles Triangle 28"/>
          <p:cNvSpPr/>
          <p:nvPr/>
        </p:nvSpPr>
        <p:spPr>
          <a:xfrm>
            <a:off x="6327607"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Isosceles Triangle 29"/>
          <p:cNvSpPr/>
          <p:nvPr/>
        </p:nvSpPr>
        <p:spPr>
          <a:xfrm>
            <a:off x="6630380"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Isosceles Triangle 30"/>
          <p:cNvSpPr/>
          <p:nvPr/>
        </p:nvSpPr>
        <p:spPr>
          <a:xfrm>
            <a:off x="6933153" y="1969178"/>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TextBox 31"/>
          <p:cNvSpPr txBox="1"/>
          <p:nvPr/>
        </p:nvSpPr>
        <p:spPr>
          <a:xfrm>
            <a:off x="260114" y="1122780"/>
            <a:ext cx="5000799" cy="307777"/>
          </a:xfrm>
          <a:prstGeom prst="rect">
            <a:avLst/>
          </a:prstGeom>
          <a:noFill/>
        </p:spPr>
        <p:txBody>
          <a:bodyPr wrap="square" rtlCol="0">
            <a:spAutoFit/>
          </a:bodyPr>
          <a:lstStyle/>
          <a:p>
            <a:r>
              <a:rPr lang="en-US" dirty="0" smtClean="0">
                <a:solidFill>
                  <a:schemeClr val="tx1"/>
                </a:solidFill>
              </a:rPr>
              <a:t>Query</a:t>
            </a:r>
            <a:r>
              <a:rPr lang="en-US" dirty="0">
                <a:solidFill>
                  <a:schemeClr val="tx1"/>
                </a:solidFill>
              </a:rPr>
              <a:t>: </a:t>
            </a:r>
            <a:r>
              <a:rPr lang="en-US" dirty="0" smtClean="0">
                <a:solidFill>
                  <a:schemeClr val="tx1"/>
                </a:solidFill>
              </a:rPr>
              <a:t> output </a:t>
            </a:r>
            <a:r>
              <a:rPr lang="en-US" dirty="0">
                <a:solidFill>
                  <a:schemeClr val="tx1"/>
                </a:solidFill>
              </a:rPr>
              <a:t>Max </a:t>
            </a:r>
            <a:r>
              <a:rPr lang="en-US" dirty="0" smtClean="0">
                <a:solidFill>
                  <a:schemeClr val="tx1"/>
                </a:solidFill>
              </a:rPr>
              <a:t>Speed for last 1000 tuples</a:t>
            </a:r>
            <a:endParaRPr lang="en-US" dirty="0">
              <a:solidFill>
                <a:schemeClr val="tx1"/>
              </a:solidFill>
            </a:endParaRPr>
          </a:p>
        </p:txBody>
      </p:sp>
      <p:graphicFrame>
        <p:nvGraphicFramePr>
          <p:cNvPr id="33" name="Table 32"/>
          <p:cNvGraphicFramePr>
            <a:graphicFrameLocks noGrp="1"/>
          </p:cNvGraphicFramePr>
          <p:nvPr>
            <p:extLst>
              <p:ext uri="{D42A27DB-BD31-4B8C-83A1-F6EECF244321}">
                <p14:modId xmlns:p14="http://schemas.microsoft.com/office/powerpoint/2010/main" val="539543374"/>
              </p:ext>
            </p:extLst>
          </p:nvPr>
        </p:nvGraphicFramePr>
        <p:xfrm>
          <a:off x="380854" y="1650263"/>
          <a:ext cx="2896926" cy="1112520"/>
        </p:xfrm>
        <a:graphic>
          <a:graphicData uri="http://schemas.openxmlformats.org/drawingml/2006/table">
            <a:tbl>
              <a:tblPr firstRow="1" bandRow="1">
                <a:tableStyleId>{0E3FDE45-AF77-4B5C-9715-49D594BDF05E}</a:tableStyleId>
              </a:tblPr>
              <a:tblGrid>
                <a:gridCol w="1448463">
                  <a:extLst>
                    <a:ext uri="{9D8B030D-6E8A-4147-A177-3AD203B41FA5}">
                      <a16:colId xmlns:a16="http://schemas.microsoft.com/office/drawing/2014/main" val="4290269961"/>
                    </a:ext>
                  </a:extLst>
                </a:gridCol>
                <a:gridCol w="1448463">
                  <a:extLst>
                    <a:ext uri="{9D8B030D-6E8A-4147-A177-3AD203B41FA5}">
                      <a16:colId xmlns:a16="http://schemas.microsoft.com/office/drawing/2014/main" val="2983488619"/>
                    </a:ext>
                  </a:extLst>
                </a:gridCol>
              </a:tblGrid>
              <a:tr h="370840">
                <a:tc>
                  <a:txBody>
                    <a:bodyPr/>
                    <a:lstStyle/>
                    <a:p>
                      <a:r>
                        <a:rPr lang="en-US" b="1" dirty="0" smtClean="0">
                          <a:solidFill>
                            <a:srgbClr val="A50021"/>
                          </a:solidFill>
                        </a:rPr>
                        <a:t>Measure</a:t>
                      </a:r>
                      <a:endParaRPr lang="en-US" b="1" dirty="0">
                        <a:solidFill>
                          <a:srgbClr val="A50021"/>
                        </a:solidFill>
                      </a:endParaRPr>
                    </a:p>
                  </a:txBody>
                  <a:tcPr/>
                </a:tc>
                <a:tc>
                  <a:txBody>
                    <a:bodyPr/>
                    <a:lstStyle/>
                    <a:p>
                      <a:r>
                        <a:rPr lang="en-US" dirty="0" smtClean="0">
                          <a:solidFill>
                            <a:srgbClr val="A50021"/>
                          </a:solidFill>
                        </a:rPr>
                        <a:t>1000 tuples</a:t>
                      </a:r>
                      <a:endParaRPr lang="en-US" dirty="0"/>
                    </a:p>
                  </a:txBody>
                  <a:tcPr/>
                </a:tc>
                <a:extLst>
                  <a:ext uri="{0D108BD9-81ED-4DB2-BD59-A6C34878D82A}">
                    <a16:rowId xmlns:a16="http://schemas.microsoft.com/office/drawing/2014/main" val="3499871607"/>
                  </a:ext>
                </a:extLst>
              </a:tr>
              <a:tr h="370840">
                <a:tc>
                  <a:txBody>
                    <a:bodyPr/>
                    <a:lstStyle/>
                    <a:p>
                      <a:r>
                        <a:rPr lang="en-US" b="1" dirty="0" smtClean="0">
                          <a:solidFill>
                            <a:srgbClr val="008080"/>
                          </a:solidFill>
                        </a:rPr>
                        <a:t>Window Type</a:t>
                      </a:r>
                      <a:endParaRPr lang="en-US" b="1" dirty="0">
                        <a:solidFill>
                          <a:srgbClr val="008080"/>
                        </a:solidFill>
                      </a:endParaRPr>
                    </a:p>
                  </a:txBody>
                  <a:tcPr/>
                </a:tc>
                <a:tc>
                  <a:txBody>
                    <a:bodyPr/>
                    <a:lstStyle/>
                    <a:p>
                      <a:r>
                        <a:rPr lang="en-US" dirty="0" smtClean="0">
                          <a:solidFill>
                            <a:srgbClr val="008080"/>
                          </a:solidFill>
                        </a:rPr>
                        <a:t>counting</a:t>
                      </a:r>
                      <a:endParaRPr lang="en-US" dirty="0"/>
                    </a:p>
                  </a:txBody>
                  <a:tcPr/>
                </a:tc>
                <a:extLst>
                  <a:ext uri="{0D108BD9-81ED-4DB2-BD59-A6C34878D82A}">
                    <a16:rowId xmlns:a16="http://schemas.microsoft.com/office/drawing/2014/main" val="2288527305"/>
                  </a:ext>
                </a:extLst>
              </a:tr>
              <a:tr h="370840">
                <a:tc>
                  <a:txBody>
                    <a:bodyPr/>
                    <a:lstStyle/>
                    <a:p>
                      <a:r>
                        <a:rPr lang="en-US" b="1" dirty="0" smtClean="0">
                          <a:solidFill>
                            <a:srgbClr val="9382D0"/>
                          </a:solidFill>
                        </a:rPr>
                        <a:t>Aggregation</a:t>
                      </a:r>
                      <a:endParaRPr lang="en-US" b="1" dirty="0">
                        <a:solidFill>
                          <a:srgbClr val="9382D0"/>
                        </a:solidFill>
                      </a:endParaRPr>
                    </a:p>
                  </a:txBody>
                  <a:tcPr/>
                </a:tc>
                <a:tc>
                  <a:txBody>
                    <a:bodyPr/>
                    <a:lstStyle/>
                    <a:p>
                      <a:r>
                        <a:rPr lang="en-US" dirty="0" smtClean="0">
                          <a:solidFill>
                            <a:srgbClr val="9382D0"/>
                          </a:solidFill>
                        </a:rPr>
                        <a:t>Max</a:t>
                      </a:r>
                      <a:endParaRPr lang="en-US" dirty="0"/>
                    </a:p>
                  </a:txBody>
                  <a:tcPr/>
                </a:tc>
                <a:extLst>
                  <a:ext uri="{0D108BD9-81ED-4DB2-BD59-A6C34878D82A}">
                    <a16:rowId xmlns:a16="http://schemas.microsoft.com/office/drawing/2014/main" val="3165136813"/>
                  </a:ext>
                </a:extLst>
              </a:tr>
            </a:tbl>
          </a:graphicData>
        </a:graphic>
      </p:graphicFrame>
      <p:sp>
        <p:nvSpPr>
          <p:cNvPr id="34" name="TextBox 33"/>
          <p:cNvSpPr txBox="1"/>
          <p:nvPr/>
        </p:nvSpPr>
        <p:spPr>
          <a:xfrm>
            <a:off x="4401329" y="2970467"/>
            <a:ext cx="2334751" cy="307777"/>
          </a:xfrm>
          <a:prstGeom prst="rect">
            <a:avLst/>
          </a:prstGeom>
          <a:noFill/>
        </p:spPr>
        <p:txBody>
          <a:bodyPr wrap="square" rtlCol="0">
            <a:spAutoFit/>
          </a:bodyPr>
          <a:lstStyle/>
          <a:p>
            <a:r>
              <a:rPr lang="en-US" dirty="0" smtClean="0"/>
              <a:t>Distributed Aggregation </a:t>
            </a:r>
            <a:endParaRPr lang="en-US" dirty="0">
              <a:solidFill>
                <a:srgbClr val="008080"/>
              </a:solidFill>
            </a:endParaRPr>
          </a:p>
        </p:txBody>
      </p:sp>
      <p:sp>
        <p:nvSpPr>
          <p:cNvPr id="35" name="Rectangle 34"/>
          <p:cNvSpPr/>
          <p:nvPr/>
        </p:nvSpPr>
        <p:spPr>
          <a:xfrm>
            <a:off x="4456314" y="3440723"/>
            <a:ext cx="2857236"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Isosceles Triangle 35"/>
          <p:cNvSpPr/>
          <p:nvPr/>
        </p:nvSpPr>
        <p:spPr>
          <a:xfrm>
            <a:off x="4555374"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Isosceles Triangle 36"/>
          <p:cNvSpPr/>
          <p:nvPr/>
        </p:nvSpPr>
        <p:spPr>
          <a:xfrm>
            <a:off x="4858147"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Isosceles Triangle 37"/>
          <p:cNvSpPr/>
          <p:nvPr/>
        </p:nvSpPr>
        <p:spPr>
          <a:xfrm>
            <a:off x="5160920"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Straight Connector 38"/>
          <p:cNvCxnSpPr/>
          <p:nvPr/>
        </p:nvCxnSpPr>
        <p:spPr>
          <a:xfrm>
            <a:off x="4456314" y="3826818"/>
            <a:ext cx="0" cy="1600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456314" y="3903018"/>
            <a:ext cx="27732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Isosceles Triangle 40"/>
          <p:cNvSpPr/>
          <p:nvPr/>
        </p:nvSpPr>
        <p:spPr>
          <a:xfrm>
            <a:off x="5447631"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Isosceles Triangle 41"/>
          <p:cNvSpPr/>
          <p:nvPr/>
        </p:nvSpPr>
        <p:spPr>
          <a:xfrm>
            <a:off x="5750404"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Right Triangle 46"/>
          <p:cNvSpPr/>
          <p:nvPr/>
        </p:nvSpPr>
        <p:spPr>
          <a:xfrm rot="2446739">
            <a:off x="7268327" y="3319517"/>
            <a:ext cx="449580" cy="527211"/>
          </a:xfrm>
          <a:prstGeom prst="r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Rectangle 47"/>
          <p:cNvSpPr/>
          <p:nvPr/>
        </p:nvSpPr>
        <p:spPr>
          <a:xfrm>
            <a:off x="7367000" y="3221451"/>
            <a:ext cx="613410" cy="913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Box 48"/>
          <p:cNvSpPr txBox="1"/>
          <p:nvPr/>
        </p:nvSpPr>
        <p:spPr>
          <a:xfrm>
            <a:off x="7470765" y="3452986"/>
            <a:ext cx="2334751" cy="307777"/>
          </a:xfrm>
          <a:prstGeom prst="rect">
            <a:avLst/>
          </a:prstGeom>
          <a:noFill/>
        </p:spPr>
        <p:txBody>
          <a:bodyPr wrap="square" rtlCol="0">
            <a:spAutoFit/>
          </a:bodyPr>
          <a:lstStyle/>
          <a:p>
            <a:r>
              <a:rPr lang="en-US" dirty="0" smtClean="0"/>
              <a:t>measure?</a:t>
            </a:r>
            <a:endParaRPr lang="en-US" dirty="0">
              <a:solidFill>
                <a:srgbClr val="008080"/>
              </a:solidFill>
            </a:endParaRPr>
          </a:p>
        </p:txBody>
      </p:sp>
    </p:spTree>
    <p:extLst>
      <p:ext uri="{BB962C8B-B14F-4D97-AF65-F5344CB8AC3E}">
        <p14:creationId xmlns:p14="http://schemas.microsoft.com/office/powerpoint/2010/main" val="1709470295"/>
      </p:ext>
    </p:extLst>
  </p:cSld>
  <p:clrMapOvr>
    <a:masterClrMapping/>
  </p:clrMapOvr>
  <p:transition spd="slow" advTm="22052"/>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Counting Window</a:t>
            </a:r>
            <a:endParaRPr lang="en-US" dirty="0"/>
          </a:p>
        </p:txBody>
      </p:sp>
      <p:sp>
        <p:nvSpPr>
          <p:cNvPr id="10" name="TextBox 9"/>
          <p:cNvSpPr txBox="1"/>
          <p:nvPr/>
        </p:nvSpPr>
        <p:spPr>
          <a:xfrm>
            <a:off x="4107180" y="1530738"/>
            <a:ext cx="3566160" cy="523220"/>
          </a:xfrm>
          <a:prstGeom prst="rect">
            <a:avLst/>
          </a:prstGeom>
          <a:noFill/>
        </p:spPr>
        <p:txBody>
          <a:bodyPr wrap="square" rtlCol="0">
            <a:spAutoFit/>
          </a:bodyPr>
          <a:lstStyle/>
          <a:p>
            <a:r>
              <a:rPr lang="en-US" b="1" i="1" dirty="0" smtClean="0"/>
              <a:t>Density: </a:t>
            </a:r>
            <a:r>
              <a:rPr lang="en-US" dirty="0" smtClean="0"/>
              <a:t>how many events arrive at the node in a fix time period.</a:t>
            </a:r>
            <a:endParaRPr lang="en-US" dirty="0"/>
          </a:p>
        </p:txBody>
      </p:sp>
      <p:sp>
        <p:nvSpPr>
          <p:cNvPr id="11" name="TextBox 10"/>
          <p:cNvSpPr txBox="1"/>
          <p:nvPr/>
        </p:nvSpPr>
        <p:spPr>
          <a:xfrm>
            <a:off x="6042917" y="2353063"/>
            <a:ext cx="2918203" cy="1169551"/>
          </a:xfrm>
          <a:prstGeom prst="rect">
            <a:avLst/>
          </a:prstGeom>
          <a:noFill/>
        </p:spPr>
        <p:txBody>
          <a:bodyPr wrap="square" rtlCol="0">
            <a:spAutoFit/>
          </a:bodyPr>
          <a:lstStyle/>
          <a:p>
            <a:r>
              <a:rPr lang="en-US" i="1" dirty="0">
                <a:solidFill>
                  <a:schemeClr val="tx1"/>
                </a:solidFill>
                <a:latin typeface="Consolas" panose="020B0609020204030204" pitchFamily="49" charset="0"/>
              </a:rPr>
              <a:t>d</a:t>
            </a:r>
            <a:r>
              <a:rPr lang="en-US" dirty="0" smtClean="0">
                <a:solidFill>
                  <a:schemeClr val="tx1"/>
                </a:solidFill>
              </a:rPr>
              <a:t> : the density of node A.</a:t>
            </a:r>
          </a:p>
          <a:p>
            <a:r>
              <a:rPr lang="en-US" i="1" dirty="0" smtClean="0">
                <a:latin typeface="Consolas" panose="020B0609020204030204" pitchFamily="49" charset="0"/>
              </a:rPr>
              <a:t>q</a:t>
            </a:r>
            <a:r>
              <a:rPr lang="en-US" baseline="-25000" dirty="0" smtClean="0"/>
              <a:t> </a:t>
            </a:r>
            <a:r>
              <a:rPr lang="en-US" dirty="0" smtClean="0">
                <a:solidFill>
                  <a:schemeClr val="tx1"/>
                </a:solidFill>
              </a:rPr>
              <a:t>: </a:t>
            </a:r>
            <a:r>
              <a:rPr lang="en-US" b="1" u="sng" dirty="0" smtClean="0">
                <a:solidFill>
                  <a:schemeClr val="tx1"/>
                </a:solidFill>
              </a:rPr>
              <a:t>the amount of sensors connected to A.</a:t>
            </a:r>
          </a:p>
          <a:p>
            <a:r>
              <a:rPr lang="en-US" i="1" dirty="0">
                <a:latin typeface="Consolas" panose="020B0609020204030204" pitchFamily="49" charset="0"/>
              </a:rPr>
              <a:t>f</a:t>
            </a:r>
            <a:r>
              <a:rPr lang="en-US" i="1" baseline="-25000" dirty="0" smtClean="0">
                <a:latin typeface="Consolas" panose="020B0609020204030204" pitchFamily="49" charset="0"/>
              </a:rPr>
              <a:t>i </a:t>
            </a:r>
            <a:r>
              <a:rPr lang="en-US" dirty="0">
                <a:solidFill>
                  <a:schemeClr val="tx1"/>
                </a:solidFill>
              </a:rPr>
              <a:t>: </a:t>
            </a:r>
            <a:r>
              <a:rPr lang="en-US" dirty="0" smtClean="0">
                <a:solidFill>
                  <a:schemeClr val="tx1"/>
                </a:solidFill>
              </a:rPr>
              <a:t>the frequency of each sensor. </a:t>
            </a:r>
            <a:endParaRPr lang="en-US" dirty="0" smtClean="0"/>
          </a:p>
          <a:p>
            <a:endParaRPr lang="en-US" dirty="0">
              <a:solidFill>
                <a:schemeClr val="tx1"/>
              </a:solidFill>
            </a:endParaRPr>
          </a:p>
        </p:txBody>
      </p:sp>
      <p:pic>
        <p:nvPicPr>
          <p:cNvPr id="12" name="Picture 6" descr="https://latex.codecogs.com/gif.latex?%5Cbg_white%20%5Chuge%20%5Ctextit%7Bd%7D_%7BA%7D%20%3D%20%5Csum_%7Bi%3D1%7D%5E%7Bq%7D%20f_%7Bi%7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3385" y="2234013"/>
            <a:ext cx="1666875" cy="10668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https://latex.codecogs.com/gif.latex?%5Cbg_white%20%5Chuge%20%5Ctextit%7Bd%7D_%7BG%7D%20%3D%20%5Csum_%7Bi%3D1%7D%5E%7Bn%7D%20d_%7Bi%7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3385" y="3731376"/>
            <a:ext cx="1695450" cy="10382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6042916" y="3815494"/>
            <a:ext cx="2918203" cy="954107"/>
          </a:xfrm>
          <a:prstGeom prst="rect">
            <a:avLst/>
          </a:prstGeom>
          <a:noFill/>
        </p:spPr>
        <p:txBody>
          <a:bodyPr wrap="square" rtlCol="0">
            <a:spAutoFit/>
          </a:bodyPr>
          <a:lstStyle/>
          <a:p>
            <a:r>
              <a:rPr lang="en-US" i="1" dirty="0">
                <a:solidFill>
                  <a:schemeClr val="tx1"/>
                </a:solidFill>
                <a:latin typeface="Consolas" panose="020B0609020204030204" pitchFamily="49" charset="0"/>
              </a:rPr>
              <a:t>d</a:t>
            </a:r>
            <a:r>
              <a:rPr lang="en-US" dirty="0" smtClean="0">
                <a:solidFill>
                  <a:schemeClr val="tx1"/>
                </a:solidFill>
              </a:rPr>
              <a:t> : the density of node G.</a:t>
            </a:r>
          </a:p>
          <a:p>
            <a:r>
              <a:rPr lang="en-US" i="1" dirty="0">
                <a:latin typeface="Consolas" panose="020B0609020204030204" pitchFamily="49" charset="0"/>
              </a:rPr>
              <a:t>n</a:t>
            </a:r>
            <a:r>
              <a:rPr lang="en-US" baseline="-25000" dirty="0" smtClean="0"/>
              <a:t> </a:t>
            </a:r>
            <a:r>
              <a:rPr lang="en-US" dirty="0" smtClean="0">
                <a:solidFill>
                  <a:schemeClr val="tx1"/>
                </a:solidFill>
              </a:rPr>
              <a:t>: the number of local nodes.</a:t>
            </a:r>
          </a:p>
          <a:p>
            <a:r>
              <a:rPr lang="en-US" i="1" dirty="0" smtClean="0">
                <a:latin typeface="Consolas" panose="020B0609020204030204" pitchFamily="49" charset="0"/>
              </a:rPr>
              <a:t>d</a:t>
            </a:r>
            <a:r>
              <a:rPr lang="en-US" i="1" baseline="-25000" dirty="0" smtClean="0">
                <a:latin typeface="Consolas" panose="020B0609020204030204" pitchFamily="49" charset="0"/>
              </a:rPr>
              <a:t>i </a:t>
            </a:r>
            <a:r>
              <a:rPr lang="en-US" dirty="0">
                <a:solidFill>
                  <a:schemeClr val="tx1"/>
                </a:solidFill>
              </a:rPr>
              <a:t>: </a:t>
            </a:r>
            <a:r>
              <a:rPr lang="en-US" dirty="0" smtClean="0">
                <a:solidFill>
                  <a:schemeClr val="tx1"/>
                </a:solidFill>
              </a:rPr>
              <a:t>the density of each local. </a:t>
            </a:r>
            <a:endParaRPr lang="en-US" dirty="0" smtClean="0"/>
          </a:p>
          <a:p>
            <a:endParaRPr lang="en-US" dirty="0">
              <a:solidFill>
                <a:schemeClr val="tx1"/>
              </a:solidFill>
            </a:endParaRPr>
          </a:p>
        </p:txBody>
      </p:sp>
      <p:pic>
        <p:nvPicPr>
          <p:cNvPr id="15" name="Picture 14"/>
          <p:cNvPicPr>
            <a:picLocks noChangeAspect="1"/>
          </p:cNvPicPr>
          <p:nvPr/>
        </p:nvPicPr>
        <p:blipFill>
          <a:blip r:embed="rId6"/>
          <a:stretch>
            <a:fillRect/>
          </a:stretch>
        </p:blipFill>
        <p:spPr>
          <a:xfrm>
            <a:off x="260114" y="1410524"/>
            <a:ext cx="3716639" cy="1987996"/>
          </a:xfrm>
          <a:prstGeom prst="rect">
            <a:avLst/>
          </a:prstGeom>
        </p:spPr>
      </p:pic>
    </p:spTree>
    <p:extLst>
      <p:ext uri="{BB962C8B-B14F-4D97-AF65-F5344CB8AC3E}">
        <p14:creationId xmlns:p14="http://schemas.microsoft.com/office/powerpoint/2010/main" val="546101594"/>
      </p:ext>
    </p:extLst>
  </p:cSld>
  <p:clrMapOvr>
    <a:masterClrMapping/>
  </p:clrMapOvr>
  <p:transition spd="slow" advTm="22052"/>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Counting Window</a:t>
            </a:r>
            <a:endParaRPr lang="en-US" dirty="0"/>
          </a:p>
        </p:txBody>
      </p:sp>
      <p:sp>
        <p:nvSpPr>
          <p:cNvPr id="16" name="Slide Number Placeholder 1"/>
          <p:cNvSpPr>
            <a:spLocks noGrp="1"/>
          </p:cNvSpPr>
          <p:nvPr>
            <p:ph type="sldNum" sz="quarter" idx="4294967295"/>
          </p:nvPr>
        </p:nvSpPr>
        <p:spPr>
          <a:xfrm>
            <a:off x="8472488" y="4662488"/>
            <a:ext cx="549275" cy="393700"/>
          </a:xfrm>
          <a:prstGeom prst="rect">
            <a:avLst/>
          </a:prstGeom>
          <a:noFill/>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5D6A04A7-2916-443E-B676-C9C4BFC96AC9}" type="slidenum">
              <a:rPr lang="en-GB" altLang="en-US" sz="1000">
                <a:latin typeface="Nunito" charset="0"/>
                <a:cs typeface="Nunito" charset="0"/>
                <a:sym typeface="Nunito" charset="0"/>
              </a:rPr>
              <a:pPr/>
              <a:t>23</a:t>
            </a:fld>
            <a:endParaRPr lang="en-GB" altLang="en-US" sz="1000">
              <a:latin typeface="Nunito" charset="0"/>
              <a:cs typeface="Nunito" charset="0"/>
              <a:sym typeface="Nunito" charset="0"/>
            </a:endParaRPr>
          </a:p>
        </p:txBody>
      </p:sp>
      <p:sp>
        <p:nvSpPr>
          <p:cNvPr id="17" name="TextBox 16"/>
          <p:cNvSpPr txBox="1"/>
          <p:nvPr/>
        </p:nvSpPr>
        <p:spPr>
          <a:xfrm>
            <a:off x="4135755" y="1411132"/>
            <a:ext cx="3566160" cy="523220"/>
          </a:xfrm>
          <a:prstGeom prst="rect">
            <a:avLst/>
          </a:prstGeom>
          <a:noFill/>
        </p:spPr>
        <p:txBody>
          <a:bodyPr wrap="square" rtlCol="0">
            <a:spAutoFit/>
          </a:bodyPr>
          <a:lstStyle/>
          <a:p>
            <a:r>
              <a:rPr lang="en-US" b="1" i="1" u="sng" dirty="0" smtClean="0"/>
              <a:t>Measure: </a:t>
            </a:r>
            <a:r>
              <a:rPr lang="en-US" b="1" u="sng" dirty="0" smtClean="0"/>
              <a:t>the amount of tuples in the window.</a:t>
            </a:r>
            <a:endParaRPr lang="en-US" b="1" u="sng" dirty="0"/>
          </a:p>
        </p:txBody>
      </p:sp>
      <p:sp>
        <p:nvSpPr>
          <p:cNvPr id="18" name="TextBox 17"/>
          <p:cNvSpPr txBox="1"/>
          <p:nvPr/>
        </p:nvSpPr>
        <p:spPr>
          <a:xfrm>
            <a:off x="6042916" y="2141133"/>
            <a:ext cx="2918203" cy="307777"/>
          </a:xfrm>
          <a:prstGeom prst="rect">
            <a:avLst/>
          </a:prstGeom>
          <a:noFill/>
        </p:spPr>
        <p:txBody>
          <a:bodyPr wrap="square" rtlCol="0">
            <a:spAutoFit/>
          </a:bodyPr>
          <a:lstStyle/>
          <a:p>
            <a:r>
              <a:rPr lang="en-US" i="1" dirty="0" err="1" smtClean="0">
                <a:latin typeface="Consolas" panose="020B0609020204030204" pitchFamily="49" charset="0"/>
              </a:rPr>
              <a:t>p</a:t>
            </a:r>
            <a:r>
              <a:rPr lang="en-US" i="1" baseline="-25000" dirty="0" err="1" smtClean="0">
                <a:latin typeface="Consolas" panose="020B0609020204030204" pitchFamily="49" charset="0"/>
              </a:rPr>
              <a:t>G</a:t>
            </a:r>
            <a:r>
              <a:rPr lang="en-US" dirty="0" smtClean="0">
                <a:solidFill>
                  <a:schemeClr val="tx1"/>
                </a:solidFill>
              </a:rPr>
              <a:t> : the measure of node </a:t>
            </a:r>
            <a:r>
              <a:rPr lang="en-US" dirty="0">
                <a:solidFill>
                  <a:schemeClr val="tx1"/>
                </a:solidFill>
              </a:rPr>
              <a:t>G</a:t>
            </a:r>
            <a:r>
              <a:rPr lang="en-US" dirty="0" smtClean="0">
                <a:solidFill>
                  <a:schemeClr val="tx1"/>
                </a:solidFill>
              </a:rPr>
              <a:t>.</a:t>
            </a:r>
          </a:p>
        </p:txBody>
      </p:sp>
      <p:sp>
        <p:nvSpPr>
          <p:cNvPr id="19" name="TextBox 18"/>
          <p:cNvSpPr txBox="1"/>
          <p:nvPr/>
        </p:nvSpPr>
        <p:spPr>
          <a:xfrm>
            <a:off x="6140708" y="3193823"/>
            <a:ext cx="2918203" cy="954107"/>
          </a:xfrm>
          <a:prstGeom prst="rect">
            <a:avLst/>
          </a:prstGeom>
          <a:noFill/>
        </p:spPr>
        <p:txBody>
          <a:bodyPr wrap="square" rtlCol="0">
            <a:spAutoFit/>
          </a:bodyPr>
          <a:lstStyle/>
          <a:p>
            <a:r>
              <a:rPr lang="en-US" i="1" dirty="0" err="1" smtClean="0">
                <a:latin typeface="Consolas" panose="020B0609020204030204" pitchFamily="49" charset="0"/>
              </a:rPr>
              <a:t>p</a:t>
            </a:r>
            <a:r>
              <a:rPr lang="en-US" i="1" baseline="-25000" dirty="0" err="1" smtClean="0">
                <a:latin typeface="Consolas" panose="020B0609020204030204" pitchFamily="49" charset="0"/>
              </a:rPr>
              <a:t>A</a:t>
            </a:r>
            <a:r>
              <a:rPr lang="en-US" dirty="0" smtClean="0">
                <a:solidFill>
                  <a:schemeClr val="tx1"/>
                </a:solidFill>
              </a:rPr>
              <a:t> </a:t>
            </a:r>
            <a:r>
              <a:rPr lang="en-US" dirty="0">
                <a:solidFill>
                  <a:schemeClr val="tx1"/>
                </a:solidFill>
              </a:rPr>
              <a:t>: the </a:t>
            </a:r>
            <a:r>
              <a:rPr lang="en-US" altLang="zh-CN" dirty="0">
                <a:solidFill>
                  <a:schemeClr val="tx1"/>
                </a:solidFill>
              </a:rPr>
              <a:t>Measure</a:t>
            </a:r>
            <a:r>
              <a:rPr lang="en-US" dirty="0" smtClean="0">
                <a:solidFill>
                  <a:schemeClr val="tx1"/>
                </a:solidFill>
              </a:rPr>
              <a:t> </a:t>
            </a:r>
            <a:r>
              <a:rPr lang="en-US" dirty="0">
                <a:solidFill>
                  <a:schemeClr val="tx1"/>
                </a:solidFill>
              </a:rPr>
              <a:t>of node </a:t>
            </a:r>
            <a:r>
              <a:rPr lang="en-US" dirty="0" smtClean="0">
                <a:solidFill>
                  <a:schemeClr val="tx1"/>
                </a:solidFill>
              </a:rPr>
              <a:t>A.</a:t>
            </a:r>
            <a:endParaRPr lang="en-US" dirty="0">
              <a:solidFill>
                <a:schemeClr val="tx1"/>
              </a:solidFill>
            </a:endParaRPr>
          </a:p>
          <a:p>
            <a:r>
              <a:rPr lang="en-US" i="1" dirty="0" err="1" smtClean="0">
                <a:latin typeface="Consolas" panose="020B0609020204030204" pitchFamily="49" charset="0"/>
              </a:rPr>
              <a:t>d</a:t>
            </a:r>
            <a:r>
              <a:rPr lang="en-US" i="1" baseline="-25000" dirty="0" err="1" smtClean="0">
                <a:latin typeface="Consolas" panose="020B0609020204030204" pitchFamily="49" charset="0"/>
              </a:rPr>
              <a:t>A</a:t>
            </a:r>
            <a:r>
              <a:rPr lang="en-US" i="1" baseline="-25000" dirty="0" smtClean="0">
                <a:latin typeface="Consolas" panose="020B0609020204030204" pitchFamily="49" charset="0"/>
              </a:rPr>
              <a:t> </a:t>
            </a:r>
            <a:r>
              <a:rPr lang="en-US" dirty="0">
                <a:solidFill>
                  <a:schemeClr val="tx1"/>
                </a:solidFill>
              </a:rPr>
              <a:t>: the density of </a:t>
            </a:r>
            <a:r>
              <a:rPr lang="en-US" dirty="0" smtClean="0">
                <a:solidFill>
                  <a:schemeClr val="tx1"/>
                </a:solidFill>
              </a:rPr>
              <a:t>node A. </a:t>
            </a:r>
            <a:endParaRPr lang="en-US" dirty="0"/>
          </a:p>
          <a:p>
            <a:r>
              <a:rPr lang="en-US" i="1" dirty="0" err="1" smtClean="0">
                <a:latin typeface="Consolas" panose="020B0609020204030204" pitchFamily="49" charset="0"/>
              </a:rPr>
              <a:t>d</a:t>
            </a:r>
            <a:r>
              <a:rPr lang="en-US" i="1" baseline="-25000" dirty="0" err="1" smtClean="0">
                <a:latin typeface="Consolas" panose="020B0609020204030204" pitchFamily="49" charset="0"/>
              </a:rPr>
              <a:t>G</a:t>
            </a:r>
            <a:r>
              <a:rPr lang="en-US" i="1" baseline="-25000" dirty="0" smtClean="0">
                <a:latin typeface="Consolas" panose="020B0609020204030204" pitchFamily="49" charset="0"/>
              </a:rPr>
              <a:t> </a:t>
            </a:r>
            <a:r>
              <a:rPr lang="en-US" dirty="0">
                <a:solidFill>
                  <a:schemeClr val="tx1"/>
                </a:solidFill>
              </a:rPr>
              <a:t>: </a:t>
            </a:r>
            <a:r>
              <a:rPr lang="en-US" dirty="0" smtClean="0">
                <a:solidFill>
                  <a:schemeClr val="tx1"/>
                </a:solidFill>
              </a:rPr>
              <a:t>the density of node G. </a:t>
            </a:r>
            <a:endParaRPr lang="en-US" dirty="0" smtClean="0"/>
          </a:p>
          <a:p>
            <a:endParaRPr lang="en-US" dirty="0">
              <a:solidFill>
                <a:schemeClr val="tx1"/>
              </a:solidFill>
            </a:endParaRPr>
          </a:p>
        </p:txBody>
      </p:sp>
      <p:pic>
        <p:nvPicPr>
          <p:cNvPr id="20" name="Picture 19"/>
          <p:cNvPicPr>
            <a:picLocks noChangeAspect="1"/>
          </p:cNvPicPr>
          <p:nvPr/>
        </p:nvPicPr>
        <p:blipFill>
          <a:blip r:embed="rId4"/>
          <a:stretch>
            <a:fillRect/>
          </a:stretch>
        </p:blipFill>
        <p:spPr>
          <a:xfrm>
            <a:off x="260114" y="3090897"/>
            <a:ext cx="3138406" cy="1678704"/>
          </a:xfrm>
          <a:prstGeom prst="rect">
            <a:avLst/>
          </a:prstGeom>
        </p:spPr>
      </p:pic>
      <p:sp>
        <p:nvSpPr>
          <p:cNvPr id="21" name="TextBox 20"/>
          <p:cNvSpPr txBox="1"/>
          <p:nvPr/>
        </p:nvSpPr>
        <p:spPr>
          <a:xfrm>
            <a:off x="260114" y="1122780"/>
            <a:ext cx="5000799" cy="307777"/>
          </a:xfrm>
          <a:prstGeom prst="rect">
            <a:avLst/>
          </a:prstGeom>
          <a:noFill/>
        </p:spPr>
        <p:txBody>
          <a:bodyPr wrap="square" rtlCol="0">
            <a:spAutoFit/>
          </a:bodyPr>
          <a:lstStyle/>
          <a:p>
            <a:r>
              <a:rPr lang="en-US" dirty="0" smtClean="0">
                <a:solidFill>
                  <a:schemeClr val="tx1"/>
                </a:solidFill>
              </a:rPr>
              <a:t>Query</a:t>
            </a:r>
            <a:r>
              <a:rPr lang="en-US" dirty="0">
                <a:solidFill>
                  <a:schemeClr val="tx1"/>
                </a:solidFill>
              </a:rPr>
              <a:t>: </a:t>
            </a:r>
            <a:r>
              <a:rPr lang="en-US" dirty="0" smtClean="0">
                <a:solidFill>
                  <a:schemeClr val="tx1"/>
                </a:solidFill>
              </a:rPr>
              <a:t> output </a:t>
            </a:r>
            <a:r>
              <a:rPr lang="en-US" dirty="0">
                <a:solidFill>
                  <a:schemeClr val="tx1"/>
                </a:solidFill>
              </a:rPr>
              <a:t>Max </a:t>
            </a:r>
            <a:r>
              <a:rPr lang="en-US" dirty="0" smtClean="0">
                <a:solidFill>
                  <a:schemeClr val="tx1"/>
                </a:solidFill>
              </a:rPr>
              <a:t>Speed for last 1000 tuples</a:t>
            </a:r>
            <a:endParaRPr lang="en-US" dirty="0">
              <a:solidFill>
                <a:schemeClr val="tx1"/>
              </a:solidFill>
            </a:endParaRPr>
          </a:p>
        </p:txBody>
      </p:sp>
      <p:graphicFrame>
        <p:nvGraphicFramePr>
          <p:cNvPr id="22" name="Table 21"/>
          <p:cNvGraphicFramePr>
            <a:graphicFrameLocks noGrp="1"/>
          </p:cNvGraphicFramePr>
          <p:nvPr>
            <p:extLst>
              <p:ext uri="{D42A27DB-BD31-4B8C-83A1-F6EECF244321}">
                <p14:modId xmlns:p14="http://schemas.microsoft.com/office/powerpoint/2010/main" val="3462871505"/>
              </p:ext>
            </p:extLst>
          </p:nvPr>
        </p:nvGraphicFramePr>
        <p:xfrm>
          <a:off x="380854" y="1650263"/>
          <a:ext cx="2896926" cy="1112520"/>
        </p:xfrm>
        <a:graphic>
          <a:graphicData uri="http://schemas.openxmlformats.org/drawingml/2006/table">
            <a:tbl>
              <a:tblPr firstRow="1" bandRow="1">
                <a:tableStyleId>{0E3FDE45-AF77-4B5C-9715-49D594BDF05E}</a:tableStyleId>
              </a:tblPr>
              <a:tblGrid>
                <a:gridCol w="1448463">
                  <a:extLst>
                    <a:ext uri="{9D8B030D-6E8A-4147-A177-3AD203B41FA5}">
                      <a16:colId xmlns:a16="http://schemas.microsoft.com/office/drawing/2014/main" val="4290269961"/>
                    </a:ext>
                  </a:extLst>
                </a:gridCol>
                <a:gridCol w="1448463">
                  <a:extLst>
                    <a:ext uri="{9D8B030D-6E8A-4147-A177-3AD203B41FA5}">
                      <a16:colId xmlns:a16="http://schemas.microsoft.com/office/drawing/2014/main" val="2983488619"/>
                    </a:ext>
                  </a:extLst>
                </a:gridCol>
              </a:tblGrid>
              <a:tr h="370840">
                <a:tc>
                  <a:txBody>
                    <a:bodyPr/>
                    <a:lstStyle/>
                    <a:p>
                      <a:r>
                        <a:rPr lang="en-US" b="1" dirty="0" smtClean="0">
                          <a:solidFill>
                            <a:srgbClr val="A50021"/>
                          </a:solidFill>
                        </a:rPr>
                        <a:t>Measure</a:t>
                      </a:r>
                      <a:endParaRPr lang="en-US" b="1" dirty="0">
                        <a:solidFill>
                          <a:srgbClr val="A50021"/>
                        </a:solidFill>
                      </a:endParaRPr>
                    </a:p>
                  </a:txBody>
                  <a:tcPr/>
                </a:tc>
                <a:tc>
                  <a:txBody>
                    <a:bodyPr/>
                    <a:lstStyle/>
                    <a:p>
                      <a:r>
                        <a:rPr lang="en-US" dirty="0" smtClean="0">
                          <a:solidFill>
                            <a:srgbClr val="A50021"/>
                          </a:solidFill>
                        </a:rPr>
                        <a:t>1000 tuples</a:t>
                      </a:r>
                      <a:endParaRPr lang="en-US" dirty="0"/>
                    </a:p>
                  </a:txBody>
                  <a:tcPr/>
                </a:tc>
                <a:extLst>
                  <a:ext uri="{0D108BD9-81ED-4DB2-BD59-A6C34878D82A}">
                    <a16:rowId xmlns:a16="http://schemas.microsoft.com/office/drawing/2014/main" val="3499871607"/>
                  </a:ext>
                </a:extLst>
              </a:tr>
              <a:tr h="370840">
                <a:tc>
                  <a:txBody>
                    <a:bodyPr/>
                    <a:lstStyle/>
                    <a:p>
                      <a:r>
                        <a:rPr lang="en-US" b="1" dirty="0" smtClean="0">
                          <a:solidFill>
                            <a:srgbClr val="008080"/>
                          </a:solidFill>
                        </a:rPr>
                        <a:t>Window Type</a:t>
                      </a:r>
                      <a:endParaRPr lang="en-US" b="1" dirty="0">
                        <a:solidFill>
                          <a:srgbClr val="008080"/>
                        </a:solidFill>
                      </a:endParaRPr>
                    </a:p>
                  </a:txBody>
                  <a:tcPr/>
                </a:tc>
                <a:tc>
                  <a:txBody>
                    <a:bodyPr/>
                    <a:lstStyle/>
                    <a:p>
                      <a:r>
                        <a:rPr lang="en-US" dirty="0" smtClean="0">
                          <a:solidFill>
                            <a:srgbClr val="008080"/>
                          </a:solidFill>
                        </a:rPr>
                        <a:t>counting</a:t>
                      </a:r>
                      <a:endParaRPr lang="en-US" dirty="0"/>
                    </a:p>
                  </a:txBody>
                  <a:tcPr/>
                </a:tc>
                <a:extLst>
                  <a:ext uri="{0D108BD9-81ED-4DB2-BD59-A6C34878D82A}">
                    <a16:rowId xmlns:a16="http://schemas.microsoft.com/office/drawing/2014/main" val="2288527305"/>
                  </a:ext>
                </a:extLst>
              </a:tr>
              <a:tr h="370840">
                <a:tc>
                  <a:txBody>
                    <a:bodyPr/>
                    <a:lstStyle/>
                    <a:p>
                      <a:r>
                        <a:rPr lang="en-US" b="1" dirty="0" smtClean="0">
                          <a:solidFill>
                            <a:srgbClr val="9382D0"/>
                          </a:solidFill>
                        </a:rPr>
                        <a:t>Aggregation</a:t>
                      </a:r>
                      <a:endParaRPr lang="en-US" b="1" dirty="0">
                        <a:solidFill>
                          <a:srgbClr val="9382D0"/>
                        </a:solidFill>
                      </a:endParaRPr>
                    </a:p>
                  </a:txBody>
                  <a:tcPr/>
                </a:tc>
                <a:tc>
                  <a:txBody>
                    <a:bodyPr/>
                    <a:lstStyle/>
                    <a:p>
                      <a:r>
                        <a:rPr lang="en-US" dirty="0" smtClean="0">
                          <a:solidFill>
                            <a:srgbClr val="9382D0"/>
                          </a:solidFill>
                        </a:rPr>
                        <a:t>Max</a:t>
                      </a:r>
                      <a:endParaRPr lang="en-US" dirty="0"/>
                    </a:p>
                  </a:txBody>
                  <a:tcPr/>
                </a:tc>
                <a:extLst>
                  <a:ext uri="{0D108BD9-81ED-4DB2-BD59-A6C34878D82A}">
                    <a16:rowId xmlns:a16="http://schemas.microsoft.com/office/drawing/2014/main" val="3165136813"/>
                  </a:ext>
                </a:extLst>
              </a:tr>
            </a:tbl>
          </a:graphicData>
        </a:graphic>
      </p:graphicFrame>
      <p:pic>
        <p:nvPicPr>
          <p:cNvPr id="23" name="Picture 4" descr="https://latex.codecogs.com/gif.latex?%5Cbg_white%20%5Chuge%20%5Ctextit%7Bp%7D_%7BG%7D%20%3D%20100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3385" y="2206523"/>
            <a:ext cx="1524000" cy="32385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https://latex.codecogs.com/gif.latex?%5Cbg_white%20%5Chuge%20%5Ctextit%7Bp%7D_%7BA%7D%20%3D%20%5Cfrac%7B%5Ctextit%7Bd%7D_%7BA%7D%7D%7B%5Ctextit%7Bd%7D_%7BG%7D%7D%20%5Cast%20%5Ctextit%7Bp%7D_%7BG%7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7160" y="3107514"/>
            <a:ext cx="2076450" cy="838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264430"/>
      </p:ext>
    </p:extLst>
  </p:cSld>
  <p:clrMapOvr>
    <a:masterClrMapping/>
  </p:clrMapOvr>
  <p:transition spd="slow" advTm="22052"/>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Counting Window</a:t>
            </a:r>
            <a:endParaRPr lang="en-US" dirty="0"/>
          </a:p>
        </p:txBody>
      </p:sp>
      <p:pic>
        <p:nvPicPr>
          <p:cNvPr id="15" name="Picture 14"/>
          <p:cNvPicPr>
            <a:picLocks noChangeAspect="1"/>
          </p:cNvPicPr>
          <p:nvPr/>
        </p:nvPicPr>
        <p:blipFill>
          <a:blip r:embed="rId4"/>
          <a:stretch>
            <a:fillRect/>
          </a:stretch>
        </p:blipFill>
        <p:spPr>
          <a:xfrm>
            <a:off x="260114" y="2982489"/>
            <a:ext cx="3716639" cy="1987996"/>
          </a:xfrm>
          <a:prstGeom prst="rect">
            <a:avLst/>
          </a:prstGeom>
        </p:spPr>
      </p:pic>
      <p:sp>
        <p:nvSpPr>
          <p:cNvPr id="32" name="TextBox 31"/>
          <p:cNvSpPr txBox="1"/>
          <p:nvPr/>
        </p:nvSpPr>
        <p:spPr>
          <a:xfrm>
            <a:off x="260114" y="1122780"/>
            <a:ext cx="5000799" cy="307777"/>
          </a:xfrm>
          <a:prstGeom prst="rect">
            <a:avLst/>
          </a:prstGeom>
          <a:noFill/>
        </p:spPr>
        <p:txBody>
          <a:bodyPr wrap="square" rtlCol="0">
            <a:spAutoFit/>
          </a:bodyPr>
          <a:lstStyle/>
          <a:p>
            <a:r>
              <a:rPr lang="en-US" dirty="0" smtClean="0">
                <a:solidFill>
                  <a:schemeClr val="tx1"/>
                </a:solidFill>
              </a:rPr>
              <a:t>Query</a:t>
            </a:r>
            <a:r>
              <a:rPr lang="en-US" dirty="0">
                <a:solidFill>
                  <a:schemeClr val="tx1"/>
                </a:solidFill>
              </a:rPr>
              <a:t>: </a:t>
            </a:r>
            <a:r>
              <a:rPr lang="en-US" dirty="0" smtClean="0">
                <a:solidFill>
                  <a:schemeClr val="tx1"/>
                </a:solidFill>
              </a:rPr>
              <a:t> output </a:t>
            </a:r>
            <a:r>
              <a:rPr lang="en-US" dirty="0">
                <a:solidFill>
                  <a:schemeClr val="tx1"/>
                </a:solidFill>
              </a:rPr>
              <a:t>Max </a:t>
            </a:r>
            <a:r>
              <a:rPr lang="en-US" dirty="0" smtClean="0">
                <a:solidFill>
                  <a:schemeClr val="tx1"/>
                </a:solidFill>
              </a:rPr>
              <a:t>Speed for last 1000 tuples</a:t>
            </a:r>
            <a:endParaRPr lang="en-US" dirty="0">
              <a:solidFill>
                <a:schemeClr val="tx1"/>
              </a:solidFill>
            </a:endParaRPr>
          </a:p>
        </p:txBody>
      </p:sp>
      <p:graphicFrame>
        <p:nvGraphicFramePr>
          <p:cNvPr id="33" name="Table 32"/>
          <p:cNvGraphicFramePr>
            <a:graphicFrameLocks noGrp="1"/>
          </p:cNvGraphicFramePr>
          <p:nvPr>
            <p:extLst>
              <p:ext uri="{D42A27DB-BD31-4B8C-83A1-F6EECF244321}">
                <p14:modId xmlns:p14="http://schemas.microsoft.com/office/powerpoint/2010/main" val="3823156698"/>
              </p:ext>
            </p:extLst>
          </p:nvPr>
        </p:nvGraphicFramePr>
        <p:xfrm>
          <a:off x="380854" y="1650263"/>
          <a:ext cx="2896926" cy="1112520"/>
        </p:xfrm>
        <a:graphic>
          <a:graphicData uri="http://schemas.openxmlformats.org/drawingml/2006/table">
            <a:tbl>
              <a:tblPr firstRow="1" bandRow="1">
                <a:tableStyleId>{0E3FDE45-AF77-4B5C-9715-49D594BDF05E}</a:tableStyleId>
              </a:tblPr>
              <a:tblGrid>
                <a:gridCol w="1448463">
                  <a:extLst>
                    <a:ext uri="{9D8B030D-6E8A-4147-A177-3AD203B41FA5}">
                      <a16:colId xmlns:a16="http://schemas.microsoft.com/office/drawing/2014/main" val="4290269961"/>
                    </a:ext>
                  </a:extLst>
                </a:gridCol>
                <a:gridCol w="1448463">
                  <a:extLst>
                    <a:ext uri="{9D8B030D-6E8A-4147-A177-3AD203B41FA5}">
                      <a16:colId xmlns:a16="http://schemas.microsoft.com/office/drawing/2014/main" val="2983488619"/>
                    </a:ext>
                  </a:extLst>
                </a:gridCol>
              </a:tblGrid>
              <a:tr h="370840">
                <a:tc>
                  <a:txBody>
                    <a:bodyPr/>
                    <a:lstStyle/>
                    <a:p>
                      <a:r>
                        <a:rPr lang="en-US" b="1" dirty="0" smtClean="0">
                          <a:solidFill>
                            <a:srgbClr val="A50021"/>
                          </a:solidFill>
                        </a:rPr>
                        <a:t>Measure</a:t>
                      </a:r>
                      <a:endParaRPr lang="en-US" b="1" dirty="0">
                        <a:solidFill>
                          <a:srgbClr val="A50021"/>
                        </a:solidFill>
                      </a:endParaRPr>
                    </a:p>
                  </a:txBody>
                  <a:tcPr/>
                </a:tc>
                <a:tc>
                  <a:txBody>
                    <a:bodyPr/>
                    <a:lstStyle/>
                    <a:p>
                      <a:r>
                        <a:rPr lang="en-US" dirty="0" smtClean="0">
                          <a:solidFill>
                            <a:srgbClr val="A50021"/>
                          </a:solidFill>
                        </a:rPr>
                        <a:t>New measure</a:t>
                      </a:r>
                      <a:endParaRPr lang="en-US" dirty="0"/>
                    </a:p>
                  </a:txBody>
                  <a:tcPr/>
                </a:tc>
                <a:extLst>
                  <a:ext uri="{0D108BD9-81ED-4DB2-BD59-A6C34878D82A}">
                    <a16:rowId xmlns:a16="http://schemas.microsoft.com/office/drawing/2014/main" val="3499871607"/>
                  </a:ext>
                </a:extLst>
              </a:tr>
              <a:tr h="370840">
                <a:tc>
                  <a:txBody>
                    <a:bodyPr/>
                    <a:lstStyle/>
                    <a:p>
                      <a:r>
                        <a:rPr lang="en-US" b="1" dirty="0" smtClean="0">
                          <a:solidFill>
                            <a:srgbClr val="008080"/>
                          </a:solidFill>
                        </a:rPr>
                        <a:t>Window Type</a:t>
                      </a:r>
                      <a:endParaRPr lang="en-US" b="1" dirty="0">
                        <a:solidFill>
                          <a:srgbClr val="008080"/>
                        </a:solidFill>
                      </a:endParaRPr>
                    </a:p>
                  </a:txBody>
                  <a:tcPr/>
                </a:tc>
                <a:tc>
                  <a:txBody>
                    <a:bodyPr/>
                    <a:lstStyle/>
                    <a:p>
                      <a:r>
                        <a:rPr lang="en-US" dirty="0" smtClean="0">
                          <a:solidFill>
                            <a:srgbClr val="008080"/>
                          </a:solidFill>
                        </a:rPr>
                        <a:t>counting</a:t>
                      </a:r>
                      <a:endParaRPr lang="en-US" dirty="0"/>
                    </a:p>
                  </a:txBody>
                  <a:tcPr/>
                </a:tc>
                <a:extLst>
                  <a:ext uri="{0D108BD9-81ED-4DB2-BD59-A6C34878D82A}">
                    <a16:rowId xmlns:a16="http://schemas.microsoft.com/office/drawing/2014/main" val="2288527305"/>
                  </a:ext>
                </a:extLst>
              </a:tr>
              <a:tr h="370840">
                <a:tc>
                  <a:txBody>
                    <a:bodyPr/>
                    <a:lstStyle/>
                    <a:p>
                      <a:r>
                        <a:rPr lang="en-US" b="1" dirty="0" smtClean="0">
                          <a:solidFill>
                            <a:srgbClr val="9382D0"/>
                          </a:solidFill>
                        </a:rPr>
                        <a:t>Aggregation</a:t>
                      </a:r>
                      <a:endParaRPr lang="en-US" b="1" dirty="0">
                        <a:solidFill>
                          <a:srgbClr val="9382D0"/>
                        </a:solidFill>
                      </a:endParaRPr>
                    </a:p>
                  </a:txBody>
                  <a:tcPr/>
                </a:tc>
                <a:tc>
                  <a:txBody>
                    <a:bodyPr/>
                    <a:lstStyle/>
                    <a:p>
                      <a:r>
                        <a:rPr lang="en-US" dirty="0" smtClean="0">
                          <a:solidFill>
                            <a:srgbClr val="9382D0"/>
                          </a:solidFill>
                        </a:rPr>
                        <a:t>Max</a:t>
                      </a:r>
                      <a:endParaRPr lang="en-US" dirty="0"/>
                    </a:p>
                  </a:txBody>
                  <a:tcPr/>
                </a:tc>
                <a:extLst>
                  <a:ext uri="{0D108BD9-81ED-4DB2-BD59-A6C34878D82A}">
                    <a16:rowId xmlns:a16="http://schemas.microsoft.com/office/drawing/2014/main" val="3165136813"/>
                  </a:ext>
                </a:extLst>
              </a:tr>
            </a:tbl>
          </a:graphicData>
        </a:graphic>
      </p:graphicFrame>
      <p:sp>
        <p:nvSpPr>
          <p:cNvPr id="34" name="TextBox 33"/>
          <p:cNvSpPr txBox="1"/>
          <p:nvPr/>
        </p:nvSpPr>
        <p:spPr>
          <a:xfrm>
            <a:off x="4401329" y="2970467"/>
            <a:ext cx="2334751" cy="307777"/>
          </a:xfrm>
          <a:prstGeom prst="rect">
            <a:avLst/>
          </a:prstGeom>
          <a:noFill/>
        </p:spPr>
        <p:txBody>
          <a:bodyPr wrap="square" rtlCol="0">
            <a:spAutoFit/>
          </a:bodyPr>
          <a:lstStyle/>
          <a:p>
            <a:r>
              <a:rPr lang="en-US" dirty="0" smtClean="0"/>
              <a:t>Distributed Aggregation </a:t>
            </a:r>
            <a:endParaRPr lang="en-US" dirty="0">
              <a:solidFill>
                <a:srgbClr val="008080"/>
              </a:solidFill>
            </a:endParaRPr>
          </a:p>
        </p:txBody>
      </p:sp>
      <p:sp>
        <p:nvSpPr>
          <p:cNvPr id="35" name="Rectangle 34"/>
          <p:cNvSpPr/>
          <p:nvPr/>
        </p:nvSpPr>
        <p:spPr>
          <a:xfrm>
            <a:off x="4456314" y="3440723"/>
            <a:ext cx="2857236" cy="3200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Isosceles Triangle 35"/>
          <p:cNvSpPr/>
          <p:nvPr/>
        </p:nvSpPr>
        <p:spPr>
          <a:xfrm>
            <a:off x="4555374"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Isosceles Triangle 36"/>
          <p:cNvSpPr/>
          <p:nvPr/>
        </p:nvSpPr>
        <p:spPr>
          <a:xfrm>
            <a:off x="4858147"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Isosceles Triangle 37"/>
          <p:cNvSpPr/>
          <p:nvPr/>
        </p:nvSpPr>
        <p:spPr>
          <a:xfrm>
            <a:off x="5160920"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Straight Connector 38"/>
          <p:cNvCxnSpPr/>
          <p:nvPr/>
        </p:nvCxnSpPr>
        <p:spPr>
          <a:xfrm>
            <a:off x="4456314" y="3826818"/>
            <a:ext cx="0" cy="1600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456314" y="3903018"/>
            <a:ext cx="27732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Isosceles Triangle 40"/>
          <p:cNvSpPr/>
          <p:nvPr/>
        </p:nvSpPr>
        <p:spPr>
          <a:xfrm>
            <a:off x="5447631"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Isosceles Triangle 41"/>
          <p:cNvSpPr/>
          <p:nvPr/>
        </p:nvSpPr>
        <p:spPr>
          <a:xfrm>
            <a:off x="5750404" y="3494063"/>
            <a:ext cx="220980" cy="184054"/>
          </a:xfrm>
          <a:prstGeom prst="triangle">
            <a:avLst/>
          </a:prstGeom>
          <a:solidFill>
            <a:srgbClr val="A5002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Rectangle 47"/>
          <p:cNvSpPr/>
          <p:nvPr/>
        </p:nvSpPr>
        <p:spPr>
          <a:xfrm>
            <a:off x="7367000" y="3221451"/>
            <a:ext cx="613410" cy="9133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Box 48"/>
          <p:cNvSpPr txBox="1"/>
          <p:nvPr/>
        </p:nvSpPr>
        <p:spPr>
          <a:xfrm>
            <a:off x="7470765" y="3452986"/>
            <a:ext cx="1588093" cy="307777"/>
          </a:xfrm>
          <a:prstGeom prst="rect">
            <a:avLst/>
          </a:prstGeom>
          <a:noFill/>
        </p:spPr>
        <p:txBody>
          <a:bodyPr wrap="square" rtlCol="0">
            <a:spAutoFit/>
          </a:bodyPr>
          <a:lstStyle/>
          <a:p>
            <a:r>
              <a:rPr lang="en-US" dirty="0" smtClean="0"/>
              <a:t>New Measure!!</a:t>
            </a:r>
            <a:endParaRPr lang="en-US" dirty="0">
              <a:solidFill>
                <a:srgbClr val="008080"/>
              </a:solidFill>
            </a:endParaRPr>
          </a:p>
        </p:txBody>
      </p:sp>
    </p:spTree>
    <p:extLst>
      <p:ext uri="{BB962C8B-B14F-4D97-AF65-F5344CB8AC3E}">
        <p14:creationId xmlns:p14="http://schemas.microsoft.com/office/powerpoint/2010/main" val="808371036"/>
      </p:ext>
    </p:extLst>
  </p:cSld>
  <p:clrMapOvr>
    <a:masterClrMapping/>
  </p:clrMapOvr>
  <p:transition spd="slow" advTm="22052"/>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optimizer</a:t>
            </a:r>
            <a:endParaRPr lang="en-US" dirty="0"/>
          </a:p>
        </p:txBody>
      </p:sp>
      <p:pic>
        <p:nvPicPr>
          <p:cNvPr id="4" name="Picture 3"/>
          <p:cNvPicPr>
            <a:picLocks noChangeAspect="1"/>
          </p:cNvPicPr>
          <p:nvPr/>
        </p:nvPicPr>
        <p:blipFill>
          <a:blip r:embed="rId4"/>
          <a:stretch>
            <a:fillRect/>
          </a:stretch>
        </p:blipFill>
        <p:spPr>
          <a:xfrm>
            <a:off x="6353684" y="1351267"/>
            <a:ext cx="2455036" cy="1519872"/>
          </a:xfrm>
          <a:prstGeom prst="rect">
            <a:avLst/>
          </a:prstGeom>
        </p:spPr>
      </p:pic>
      <p:sp>
        <p:nvSpPr>
          <p:cNvPr id="7" name="Rectangle 6"/>
          <p:cNvSpPr/>
          <p:nvPr/>
        </p:nvSpPr>
        <p:spPr>
          <a:xfrm>
            <a:off x="311150" y="1192982"/>
            <a:ext cx="141943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t>Query</a:t>
            </a:r>
            <a:endParaRPr lang="en-US" sz="2800" dirty="0"/>
          </a:p>
        </p:txBody>
      </p:sp>
      <p:sp>
        <p:nvSpPr>
          <p:cNvPr id="9" name="Rectangle 8"/>
          <p:cNvSpPr/>
          <p:nvPr/>
        </p:nvSpPr>
        <p:spPr>
          <a:xfrm>
            <a:off x="2464543" y="1188585"/>
            <a:ext cx="145472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t>Window</a:t>
            </a:r>
            <a:endParaRPr lang="en-US" sz="2800" dirty="0"/>
          </a:p>
        </p:txBody>
      </p:sp>
      <p:sp>
        <p:nvSpPr>
          <p:cNvPr id="10" name="Right Arrow 9"/>
          <p:cNvSpPr/>
          <p:nvPr/>
        </p:nvSpPr>
        <p:spPr>
          <a:xfrm>
            <a:off x="1758420" y="1197154"/>
            <a:ext cx="706123" cy="707962"/>
          </a:xfrm>
          <a:prstGeom prst="rightArrow">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694686" y="1188584"/>
            <a:ext cx="1454729" cy="774607"/>
          </a:xfrm>
          <a:prstGeom prst="rect">
            <a:avLst/>
          </a:prstGeom>
          <a:solidFill>
            <a:schemeClr val="accent2">
              <a:lumMod val="25000"/>
              <a:lumOff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t>Solution</a:t>
            </a:r>
            <a:endParaRPr lang="en-US" sz="2400" dirty="0"/>
          </a:p>
        </p:txBody>
      </p:sp>
      <p:sp>
        <p:nvSpPr>
          <p:cNvPr id="13" name="Right Arrow 12"/>
          <p:cNvSpPr/>
          <p:nvPr/>
        </p:nvSpPr>
        <p:spPr>
          <a:xfrm>
            <a:off x="3988563" y="1197154"/>
            <a:ext cx="706123" cy="707962"/>
          </a:xfrm>
          <a:prstGeom prst="rightArrow">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311150" y="3639886"/>
            <a:ext cx="2236237" cy="523220"/>
          </a:xfrm>
          <a:prstGeom prst="rect">
            <a:avLst/>
          </a:prstGeom>
          <a:noFill/>
        </p:spPr>
        <p:txBody>
          <a:bodyPr wrap="square" rtlCol="0">
            <a:spAutoFit/>
          </a:bodyPr>
          <a:lstStyle/>
          <a:p>
            <a:pPr marL="285750" indent="-285750">
              <a:buFont typeface="Arial" panose="020B0604020202020204" pitchFamily="34" charset="0"/>
              <a:buChar char="•"/>
            </a:pPr>
            <a:r>
              <a:rPr lang="en-US" altLang="zh-CN" dirty="0" smtClean="0"/>
              <a:t>Tumbling window</a:t>
            </a:r>
          </a:p>
          <a:p>
            <a:pPr marL="285750" indent="-285750">
              <a:buFont typeface="Arial" panose="020B0604020202020204" pitchFamily="34" charset="0"/>
              <a:buChar char="•"/>
            </a:pPr>
            <a:r>
              <a:rPr lang="en-US" altLang="zh-CN" dirty="0" smtClean="0"/>
              <a:t>average</a:t>
            </a:r>
            <a:endParaRPr lang="zh-CN" altLang="en-US" dirty="0"/>
          </a:p>
        </p:txBody>
      </p:sp>
      <p:sp>
        <p:nvSpPr>
          <p:cNvPr id="18" name="TextBox 17"/>
          <p:cNvSpPr txBox="1"/>
          <p:nvPr/>
        </p:nvSpPr>
        <p:spPr>
          <a:xfrm>
            <a:off x="339630" y="4363792"/>
            <a:ext cx="4606480" cy="307777"/>
          </a:xfrm>
          <a:prstGeom prst="rect">
            <a:avLst/>
          </a:prstGeom>
          <a:noFill/>
        </p:spPr>
        <p:txBody>
          <a:bodyPr wrap="square" rtlCol="0">
            <a:spAutoFit/>
          </a:bodyPr>
          <a:lstStyle/>
          <a:p>
            <a:r>
              <a:rPr lang="en-US" b="1" dirty="0" smtClean="0">
                <a:latin typeface="+mn-lt"/>
              </a:rPr>
              <a:t>Distributed Aggregation</a:t>
            </a:r>
            <a:endParaRPr lang="en-US" b="1" dirty="0">
              <a:latin typeface="+mn-lt"/>
            </a:endParaRPr>
          </a:p>
        </p:txBody>
      </p:sp>
      <p:sp>
        <p:nvSpPr>
          <p:cNvPr id="16" name="Rectangle 15"/>
          <p:cNvSpPr/>
          <p:nvPr/>
        </p:nvSpPr>
        <p:spPr>
          <a:xfrm>
            <a:off x="222885" y="2544881"/>
            <a:ext cx="4839970" cy="954107"/>
          </a:xfrm>
          <a:prstGeom prst="rect">
            <a:avLst/>
          </a:prstGeom>
        </p:spPr>
        <p:txBody>
          <a:bodyPr wrap="square">
            <a:spAutoFit/>
          </a:bodyPr>
          <a:lstStyle/>
          <a:p>
            <a:r>
              <a:rPr lang="en-US" altLang="zh-CN" dirty="0">
                <a:latin typeface="Consolas" panose="020B0609020204030204" pitchFamily="49" charset="0"/>
              </a:rPr>
              <a:t>SELECT MAX(wstart), wend</a:t>
            </a:r>
            <a:r>
              <a:rPr lang="en-US" altLang="zh-CN" dirty="0" smtClean="0">
                <a:latin typeface="Consolas" panose="020B0609020204030204" pitchFamily="49" charset="0"/>
              </a:rPr>
              <a:t>, average(Speed) </a:t>
            </a:r>
          </a:p>
          <a:p>
            <a:r>
              <a:rPr lang="en-US" altLang="zh-CN" dirty="0" smtClean="0">
                <a:latin typeface="Consolas" panose="020B0609020204030204" pitchFamily="49" charset="0"/>
              </a:rPr>
              <a:t>FROM </a:t>
            </a:r>
            <a:r>
              <a:rPr lang="en-US" altLang="zh-CN" dirty="0">
                <a:latin typeface="Consolas" panose="020B0609020204030204" pitchFamily="49" charset="0"/>
              </a:rPr>
              <a:t>Tumble(data =&gt; </a:t>
            </a:r>
            <a:r>
              <a:rPr lang="en-US" altLang="zh-CN" dirty="0" smtClean="0">
                <a:latin typeface="Consolas" panose="020B0609020204030204" pitchFamily="49" charset="0"/>
              </a:rPr>
              <a:t>Table(RawData), </a:t>
            </a:r>
          </a:p>
          <a:p>
            <a:r>
              <a:rPr lang="en-US" altLang="zh-CN" dirty="0" smtClean="0">
                <a:latin typeface="Consolas" panose="020B0609020204030204" pitchFamily="49" charset="0"/>
              </a:rPr>
              <a:t>            timecol </a:t>
            </a:r>
            <a:r>
              <a:rPr lang="en-US" altLang="zh-CN" dirty="0">
                <a:latin typeface="Consolas" panose="020B0609020204030204" pitchFamily="49" charset="0"/>
              </a:rPr>
              <a:t>=&gt; DESCRIPTOR(time), </a:t>
            </a:r>
            <a:endParaRPr lang="en-US" altLang="zh-CN" dirty="0" smtClean="0">
              <a:latin typeface="Consolas" panose="020B0609020204030204" pitchFamily="49" charset="0"/>
            </a:endParaRPr>
          </a:p>
          <a:p>
            <a:r>
              <a:rPr lang="en-US" altLang="zh-CN" dirty="0" smtClean="0">
                <a:latin typeface="Consolas" panose="020B0609020204030204" pitchFamily="49" charset="0"/>
              </a:rPr>
              <a:t>            dur </a:t>
            </a:r>
            <a:r>
              <a:rPr lang="en-US" altLang="zh-CN" dirty="0">
                <a:latin typeface="Consolas" panose="020B0609020204030204" pitchFamily="49" charset="0"/>
              </a:rPr>
              <a:t>=&gt; INTERVAL '5' </a:t>
            </a:r>
            <a:r>
              <a:rPr lang="en-US" altLang="zh-CN" dirty="0" smtClean="0">
                <a:latin typeface="Consolas" panose="020B0609020204030204" pitchFamily="49" charset="0"/>
              </a:rPr>
              <a:t>Second)</a:t>
            </a:r>
            <a:endParaRPr lang="zh-CN" altLang="en-US" dirty="0">
              <a:latin typeface="Consolas" panose="020B0609020204030204" pitchFamily="49" charset="0"/>
            </a:endParaRPr>
          </a:p>
        </p:txBody>
      </p:sp>
    </p:spTree>
    <p:extLst>
      <p:ext uri="{BB962C8B-B14F-4D97-AF65-F5344CB8AC3E}">
        <p14:creationId xmlns:p14="http://schemas.microsoft.com/office/powerpoint/2010/main" val="3579314405"/>
      </p:ext>
    </p:extLst>
  </p:cSld>
  <p:clrMapOvr>
    <a:masterClrMapping/>
  </p:clrMapOvr>
  <p:transition spd="slow" advTm="22052"/>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523220"/>
          </a:xfrm>
          <a:prstGeom prst="rect">
            <a:avLst/>
          </a:prstGeom>
          <a:noFill/>
        </p:spPr>
        <p:txBody>
          <a:bodyPr wrap="square" rtlCol="0">
            <a:spAutoFit/>
          </a:bodyPr>
          <a:lstStyle/>
          <a:p>
            <a:r>
              <a:rPr lang="en-US" altLang="zh-CN" dirty="0"/>
              <a:t>Optimizer – window type &amp; measures</a:t>
            </a:r>
          </a:p>
          <a:p>
            <a:endParaRPr lang="en-US" altLang="zh-CN" dirty="0"/>
          </a:p>
        </p:txBody>
      </p:sp>
      <p:pic>
        <p:nvPicPr>
          <p:cNvPr id="7" name="Picture 6"/>
          <p:cNvPicPr>
            <a:picLocks noChangeAspect="1"/>
          </p:cNvPicPr>
          <p:nvPr/>
        </p:nvPicPr>
        <p:blipFill>
          <a:blip r:embed="rId4"/>
          <a:stretch>
            <a:fillRect/>
          </a:stretch>
        </p:blipFill>
        <p:spPr>
          <a:xfrm>
            <a:off x="87092" y="1093500"/>
            <a:ext cx="8277419" cy="4050000"/>
          </a:xfrm>
          <a:prstGeom prst="rect">
            <a:avLst/>
          </a:prstGeom>
        </p:spPr>
      </p:pic>
      <p:sp>
        <p:nvSpPr>
          <p:cNvPr id="5" name="TextBox 4"/>
          <p:cNvSpPr txBox="1"/>
          <p:nvPr/>
        </p:nvSpPr>
        <p:spPr>
          <a:xfrm>
            <a:off x="311150" y="1017588"/>
            <a:ext cx="3672840" cy="307777"/>
          </a:xfrm>
          <a:prstGeom prst="rect">
            <a:avLst/>
          </a:prstGeom>
          <a:noFill/>
        </p:spPr>
        <p:txBody>
          <a:bodyPr wrap="square" rtlCol="0">
            <a:spAutoFit/>
          </a:bodyPr>
          <a:lstStyle/>
          <a:p>
            <a:r>
              <a:rPr lang="en-US" altLang="zh-CN" dirty="0" smtClean="0"/>
              <a:t>Basic idea: share overlap between windows</a:t>
            </a:r>
            <a:endParaRPr lang="zh-CN" altLang="en-US" dirty="0"/>
          </a:p>
        </p:txBody>
      </p:sp>
      <p:sp>
        <p:nvSpPr>
          <p:cNvPr id="9" name="Rectangle 8"/>
          <p:cNvSpPr/>
          <p:nvPr/>
        </p:nvSpPr>
        <p:spPr>
          <a:xfrm>
            <a:off x="87092" y="4008120"/>
            <a:ext cx="864870" cy="670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9"/>
          <p:cNvSpPr/>
          <p:nvPr/>
        </p:nvSpPr>
        <p:spPr>
          <a:xfrm>
            <a:off x="311150" y="4754592"/>
            <a:ext cx="7680706" cy="2563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40634119"/>
      </p:ext>
    </p:extLst>
  </p:cSld>
  <p:clrMapOvr>
    <a:masterClrMapping/>
  </p:clrMapOvr>
  <p:transition spd="slow" advTm="22052"/>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307777"/>
          </a:xfrm>
          <a:prstGeom prst="rect">
            <a:avLst/>
          </a:prstGeom>
          <a:noFill/>
        </p:spPr>
        <p:txBody>
          <a:bodyPr wrap="square" rtlCol="0">
            <a:spAutoFit/>
          </a:bodyPr>
          <a:lstStyle/>
          <a:p>
            <a:r>
              <a:rPr lang="en-US" dirty="0" smtClean="0"/>
              <a:t>Optimizer – window type &amp; measures</a:t>
            </a:r>
            <a:endParaRPr lang="en-US" dirty="0"/>
          </a:p>
        </p:txBody>
      </p:sp>
      <p:sp>
        <p:nvSpPr>
          <p:cNvPr id="5" name="TextBox 4"/>
          <p:cNvSpPr txBox="1"/>
          <p:nvPr/>
        </p:nvSpPr>
        <p:spPr>
          <a:xfrm>
            <a:off x="311150" y="1017588"/>
            <a:ext cx="3672840" cy="307777"/>
          </a:xfrm>
          <a:prstGeom prst="rect">
            <a:avLst/>
          </a:prstGeom>
          <a:noFill/>
        </p:spPr>
        <p:txBody>
          <a:bodyPr wrap="square" rtlCol="0">
            <a:spAutoFit/>
          </a:bodyPr>
          <a:lstStyle/>
          <a:p>
            <a:r>
              <a:rPr lang="en-US" altLang="zh-CN" dirty="0" smtClean="0"/>
              <a:t>Basic idea: share overlap between windows</a:t>
            </a:r>
            <a:endParaRPr lang="zh-CN" altLang="en-US" dirty="0"/>
          </a:p>
        </p:txBody>
      </p:sp>
      <p:pic>
        <p:nvPicPr>
          <p:cNvPr id="3" name="Picture 2"/>
          <p:cNvPicPr>
            <a:picLocks noChangeAspect="1"/>
          </p:cNvPicPr>
          <p:nvPr/>
        </p:nvPicPr>
        <p:blipFill>
          <a:blip r:embed="rId4"/>
          <a:stretch>
            <a:fillRect/>
          </a:stretch>
        </p:blipFill>
        <p:spPr>
          <a:xfrm>
            <a:off x="277072" y="1325365"/>
            <a:ext cx="8722040" cy="3493973"/>
          </a:xfrm>
          <a:prstGeom prst="rect">
            <a:avLst/>
          </a:prstGeom>
        </p:spPr>
      </p:pic>
      <p:sp>
        <p:nvSpPr>
          <p:cNvPr id="7" name="Rectangle 6"/>
          <p:cNvSpPr/>
          <p:nvPr/>
        </p:nvSpPr>
        <p:spPr>
          <a:xfrm>
            <a:off x="156210" y="3810000"/>
            <a:ext cx="864870" cy="6705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15712098"/>
      </p:ext>
    </p:extLst>
  </p:cSld>
  <p:clrMapOvr>
    <a:masterClrMapping/>
  </p:clrMapOvr>
  <p:transition spd="slow" advTm="22052"/>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523220"/>
          </a:xfrm>
          <a:prstGeom prst="rect">
            <a:avLst/>
          </a:prstGeom>
          <a:noFill/>
        </p:spPr>
        <p:txBody>
          <a:bodyPr wrap="square" rtlCol="0">
            <a:spAutoFit/>
          </a:bodyPr>
          <a:lstStyle/>
          <a:p>
            <a:r>
              <a:rPr lang="en-US" altLang="zh-CN" dirty="0"/>
              <a:t>Optimizer – aggregation function</a:t>
            </a:r>
          </a:p>
          <a:p>
            <a:endParaRPr lang="en-US" dirty="0"/>
          </a:p>
        </p:txBody>
      </p:sp>
      <p:pic>
        <p:nvPicPr>
          <p:cNvPr id="4" name="Picture 3"/>
          <p:cNvPicPr>
            <a:picLocks noChangeAspect="1"/>
          </p:cNvPicPr>
          <p:nvPr/>
        </p:nvPicPr>
        <p:blipFill>
          <a:blip r:embed="rId4"/>
          <a:stretch>
            <a:fillRect/>
          </a:stretch>
        </p:blipFill>
        <p:spPr>
          <a:xfrm>
            <a:off x="247650" y="1309712"/>
            <a:ext cx="8648700" cy="3056868"/>
          </a:xfrm>
          <a:prstGeom prst="rect">
            <a:avLst/>
          </a:prstGeom>
        </p:spPr>
      </p:pic>
      <p:sp>
        <p:nvSpPr>
          <p:cNvPr id="9" name="TextBox 8"/>
          <p:cNvSpPr txBox="1"/>
          <p:nvPr/>
        </p:nvSpPr>
        <p:spPr>
          <a:xfrm>
            <a:off x="158750" y="982824"/>
            <a:ext cx="1920240" cy="954107"/>
          </a:xfrm>
          <a:prstGeom prst="rect">
            <a:avLst/>
          </a:prstGeom>
          <a:noFill/>
        </p:spPr>
        <p:txBody>
          <a:bodyPr wrap="square" rtlCol="0">
            <a:spAutoFit/>
          </a:bodyPr>
          <a:lstStyle/>
          <a:p>
            <a:r>
              <a:rPr lang="en-US" altLang="zh-CN" dirty="0" smtClean="0"/>
              <a:t>Q1: Count</a:t>
            </a:r>
          </a:p>
          <a:p>
            <a:r>
              <a:rPr lang="en-US" altLang="zh-CN" dirty="0" smtClean="0"/>
              <a:t>Q2: Average</a:t>
            </a:r>
          </a:p>
          <a:p>
            <a:r>
              <a:rPr lang="en-US" altLang="zh-CN" dirty="0" smtClean="0"/>
              <a:t>Q3: Median</a:t>
            </a:r>
          </a:p>
          <a:p>
            <a:r>
              <a:rPr lang="en-US" altLang="zh-CN" dirty="0" smtClean="0"/>
              <a:t>Q4: Max</a:t>
            </a:r>
            <a:endParaRPr lang="zh-CN" altLang="en-US" dirty="0"/>
          </a:p>
        </p:txBody>
      </p:sp>
      <p:sp>
        <p:nvSpPr>
          <p:cNvPr id="5" name="Rectangle 4"/>
          <p:cNvSpPr/>
          <p:nvPr/>
        </p:nvSpPr>
        <p:spPr>
          <a:xfrm>
            <a:off x="247650" y="4069080"/>
            <a:ext cx="1146810" cy="4648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92110767"/>
      </p:ext>
    </p:extLst>
  </p:cSld>
  <p:clrMapOvr>
    <a:masterClrMapping/>
  </p:clrMapOvr>
  <p:transition spd="slow" advTm="22052"/>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Our Solution </a:t>
            </a:r>
          </a:p>
        </p:txBody>
      </p:sp>
      <p:sp>
        <p:nvSpPr>
          <p:cNvPr id="8" name="TextBox 7"/>
          <p:cNvSpPr txBox="1"/>
          <p:nvPr/>
        </p:nvSpPr>
        <p:spPr>
          <a:xfrm>
            <a:off x="2642870" y="615496"/>
            <a:ext cx="4606480" cy="523220"/>
          </a:xfrm>
          <a:prstGeom prst="rect">
            <a:avLst/>
          </a:prstGeom>
          <a:noFill/>
        </p:spPr>
        <p:txBody>
          <a:bodyPr wrap="square" rtlCol="0">
            <a:spAutoFit/>
          </a:bodyPr>
          <a:lstStyle/>
          <a:p>
            <a:r>
              <a:rPr lang="en-US" altLang="zh-CN" dirty="0"/>
              <a:t>Optimizer – aggregation function</a:t>
            </a:r>
          </a:p>
          <a:p>
            <a:endParaRPr lang="en-US" dirty="0"/>
          </a:p>
        </p:txBody>
      </p:sp>
      <p:pic>
        <p:nvPicPr>
          <p:cNvPr id="7" name="Picture 6"/>
          <p:cNvPicPr>
            <a:picLocks noChangeAspect="1"/>
          </p:cNvPicPr>
          <p:nvPr/>
        </p:nvPicPr>
        <p:blipFill>
          <a:blip r:embed="rId4"/>
          <a:stretch>
            <a:fillRect/>
          </a:stretch>
        </p:blipFill>
        <p:spPr>
          <a:xfrm>
            <a:off x="3467100" y="1077756"/>
            <a:ext cx="3248302" cy="3603422"/>
          </a:xfrm>
          <a:prstGeom prst="rect">
            <a:avLst/>
          </a:prstGeom>
        </p:spPr>
      </p:pic>
      <p:sp>
        <p:nvSpPr>
          <p:cNvPr id="3" name="TextBox 2"/>
          <p:cNvSpPr txBox="1"/>
          <p:nvPr/>
        </p:nvSpPr>
        <p:spPr>
          <a:xfrm>
            <a:off x="311150" y="1202896"/>
            <a:ext cx="3155950" cy="1815882"/>
          </a:xfrm>
          <a:prstGeom prst="rect">
            <a:avLst/>
          </a:prstGeom>
          <a:noFill/>
        </p:spPr>
        <p:txBody>
          <a:bodyPr wrap="square" rtlCol="0">
            <a:spAutoFit/>
          </a:bodyPr>
          <a:lstStyle/>
          <a:p>
            <a:r>
              <a:rPr lang="en-US" altLang="zh-CN" dirty="0" smtClean="0"/>
              <a:t>Calculation Plan of sw2</a:t>
            </a:r>
          </a:p>
          <a:p>
            <a:endParaRPr lang="en-US" altLang="zh-CN" dirty="0" smtClean="0"/>
          </a:p>
          <a:p>
            <a:r>
              <a:rPr lang="en-US" altLang="zh-CN" dirty="0" smtClean="0"/>
              <a:t>Step1: Analyze aggregation functions of each query</a:t>
            </a:r>
          </a:p>
          <a:p>
            <a:endParaRPr lang="en-US" altLang="zh-CN" dirty="0"/>
          </a:p>
          <a:p>
            <a:r>
              <a:rPr lang="en-US" altLang="zh-CN" dirty="0" smtClean="0"/>
              <a:t>Step2: Generate Operators</a:t>
            </a:r>
            <a:endParaRPr lang="zh-CN" altLang="en-US" dirty="0"/>
          </a:p>
          <a:p>
            <a:endParaRPr lang="en-US" altLang="zh-CN" dirty="0" smtClean="0"/>
          </a:p>
          <a:p>
            <a:endParaRPr lang="en-US" altLang="zh-CN" dirty="0" smtClean="0"/>
          </a:p>
        </p:txBody>
      </p:sp>
      <p:sp>
        <p:nvSpPr>
          <p:cNvPr id="9" name="TextBox 8"/>
          <p:cNvSpPr txBox="1"/>
          <p:nvPr/>
        </p:nvSpPr>
        <p:spPr>
          <a:xfrm>
            <a:off x="6912610" y="1188584"/>
            <a:ext cx="1920240" cy="954107"/>
          </a:xfrm>
          <a:prstGeom prst="rect">
            <a:avLst/>
          </a:prstGeom>
          <a:noFill/>
        </p:spPr>
        <p:txBody>
          <a:bodyPr wrap="square" rtlCol="0">
            <a:spAutoFit/>
          </a:bodyPr>
          <a:lstStyle/>
          <a:p>
            <a:r>
              <a:rPr lang="en-US" altLang="zh-CN" dirty="0" smtClean="0"/>
              <a:t>Q1: Count</a:t>
            </a:r>
          </a:p>
          <a:p>
            <a:r>
              <a:rPr lang="en-US" altLang="zh-CN" dirty="0" smtClean="0"/>
              <a:t>Q2: Average</a:t>
            </a:r>
          </a:p>
          <a:p>
            <a:r>
              <a:rPr lang="en-US" altLang="zh-CN" dirty="0" smtClean="0"/>
              <a:t>Q3: Median</a:t>
            </a:r>
          </a:p>
          <a:p>
            <a:r>
              <a:rPr lang="en-US" altLang="zh-CN" dirty="0" smtClean="0"/>
              <a:t>Q4: Max</a:t>
            </a:r>
            <a:endParaRPr lang="zh-CN" altLang="en-US" dirty="0"/>
          </a:p>
        </p:txBody>
      </p:sp>
    </p:spTree>
    <p:extLst>
      <p:ext uri="{BB962C8B-B14F-4D97-AF65-F5344CB8AC3E}">
        <p14:creationId xmlns:p14="http://schemas.microsoft.com/office/powerpoint/2010/main" val="869618003"/>
      </p:ext>
    </p:extLst>
  </p:cSld>
  <p:clrMapOvr>
    <a:masterClrMapping/>
  </p:clrMapOvr>
  <p:transition spd="slow" advTm="22052"/>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lvl="0" algn="l" eaLnBrk="0" hangingPunct="0">
              <a:spcBef>
                <a:spcPct val="0"/>
              </a:spcBef>
              <a:spcAft>
                <a:spcPct val="0"/>
              </a:spcAft>
              <a:buClrTx/>
              <a:buSzTx/>
            </a:pPr>
            <a:r>
              <a:rPr lang="en-GB" altLang="en-US" sz="2800" kern="0" dirty="0" smtClean="0">
                <a:latin typeface="Nunito" charset="0"/>
                <a:cs typeface="Nunito" charset="0"/>
                <a:sym typeface="Nunito" charset="0"/>
              </a:rPr>
              <a:t>Our Solution    </a:t>
            </a:r>
            <a:r>
              <a:rPr lang="en-US" altLang="zh-CN" sz="1400" dirty="0">
                <a:latin typeface="Arial" panose="020B0604020202020204" pitchFamily="34" charset="0"/>
                <a:ea typeface="宋体" panose="02010600030101010101" pitchFamily="2" charset="-122"/>
                <a:cs typeface="Arial" panose="020B0604020202020204" pitchFamily="34" charset="0"/>
              </a:rPr>
              <a:t>Optimizer – aggregation </a:t>
            </a:r>
            <a:r>
              <a:rPr lang="en-US" altLang="zh-CN" sz="1400" dirty="0" smtClean="0">
                <a:latin typeface="Arial" panose="020B0604020202020204" pitchFamily="34" charset="0"/>
                <a:ea typeface="宋体" panose="02010600030101010101" pitchFamily="2" charset="-122"/>
                <a:cs typeface="Arial" panose="020B0604020202020204" pitchFamily="34" charset="0"/>
              </a:rPr>
              <a:t>function</a:t>
            </a:r>
            <a:r>
              <a:rPr lang="en-GB" altLang="en-US" sz="2800" kern="0" dirty="0" smtClean="0">
                <a:latin typeface="Nunito" charset="0"/>
                <a:cs typeface="Nunito" charset="0"/>
                <a:sym typeface="Nunito" charset="0"/>
              </a:rPr>
              <a:t> </a:t>
            </a:r>
          </a:p>
        </p:txBody>
      </p:sp>
      <p:pic>
        <p:nvPicPr>
          <p:cNvPr id="7" name="Picture 6"/>
          <p:cNvPicPr>
            <a:picLocks noChangeAspect="1"/>
          </p:cNvPicPr>
          <p:nvPr/>
        </p:nvPicPr>
        <p:blipFill>
          <a:blip r:embed="rId4"/>
          <a:stretch>
            <a:fillRect/>
          </a:stretch>
        </p:blipFill>
        <p:spPr>
          <a:xfrm>
            <a:off x="2453311" y="1385622"/>
            <a:ext cx="3248302" cy="3603422"/>
          </a:xfrm>
          <a:prstGeom prst="rect">
            <a:avLst/>
          </a:prstGeom>
        </p:spPr>
      </p:pic>
      <p:pic>
        <p:nvPicPr>
          <p:cNvPr id="9" name="Picture 8"/>
          <p:cNvPicPr>
            <a:picLocks noChangeAspect="1"/>
          </p:cNvPicPr>
          <p:nvPr/>
        </p:nvPicPr>
        <p:blipFill>
          <a:blip r:embed="rId5"/>
          <a:stretch>
            <a:fillRect/>
          </a:stretch>
        </p:blipFill>
        <p:spPr>
          <a:xfrm>
            <a:off x="6183391" y="1291307"/>
            <a:ext cx="2801921" cy="3839274"/>
          </a:xfrm>
          <a:prstGeom prst="rect">
            <a:avLst/>
          </a:prstGeom>
        </p:spPr>
      </p:pic>
      <p:sp>
        <p:nvSpPr>
          <p:cNvPr id="10" name="Left Arrow 9"/>
          <p:cNvSpPr/>
          <p:nvPr/>
        </p:nvSpPr>
        <p:spPr>
          <a:xfrm rot="10800000">
            <a:off x="5701613" y="2737738"/>
            <a:ext cx="678910" cy="620140"/>
          </a:xfrm>
          <a:prstGeom prst="lef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150248" y="1119852"/>
            <a:ext cx="3155950" cy="2677656"/>
          </a:xfrm>
          <a:prstGeom prst="rect">
            <a:avLst/>
          </a:prstGeom>
          <a:noFill/>
        </p:spPr>
        <p:txBody>
          <a:bodyPr wrap="square" rtlCol="0">
            <a:spAutoFit/>
          </a:bodyPr>
          <a:lstStyle/>
          <a:p>
            <a:r>
              <a:rPr lang="en-US" altLang="zh-CN" dirty="0" smtClean="0"/>
              <a:t>Calculation Plan of sw2</a:t>
            </a:r>
          </a:p>
          <a:p>
            <a:endParaRPr lang="en-US" altLang="zh-CN" dirty="0" smtClean="0"/>
          </a:p>
          <a:p>
            <a:r>
              <a:rPr lang="en-US" altLang="zh-CN" dirty="0" smtClean="0"/>
              <a:t>Step1: Analyze aggregation functions of each query</a:t>
            </a:r>
          </a:p>
          <a:p>
            <a:endParaRPr lang="en-US" altLang="zh-CN" dirty="0"/>
          </a:p>
          <a:p>
            <a:r>
              <a:rPr lang="en-US" altLang="zh-CN" dirty="0" smtClean="0"/>
              <a:t>Step2: Generate Operators</a:t>
            </a:r>
          </a:p>
          <a:p>
            <a:endParaRPr lang="en-US" altLang="zh-CN" dirty="0"/>
          </a:p>
          <a:p>
            <a:r>
              <a:rPr lang="en-US" altLang="zh-CN" dirty="0" smtClean="0"/>
              <a:t>Step3: Merge Same Operators</a:t>
            </a:r>
          </a:p>
          <a:p>
            <a:endParaRPr lang="en-US" altLang="zh-CN" dirty="0"/>
          </a:p>
          <a:p>
            <a:r>
              <a:rPr lang="en-US" altLang="zh-CN" dirty="0" smtClean="0"/>
              <a:t>Step4: Output Results</a:t>
            </a:r>
            <a:endParaRPr lang="zh-CN" altLang="en-US" dirty="0"/>
          </a:p>
          <a:p>
            <a:endParaRPr lang="en-US" altLang="zh-CN" dirty="0" smtClean="0"/>
          </a:p>
          <a:p>
            <a:endParaRPr lang="en-US" altLang="zh-CN" dirty="0" smtClean="0"/>
          </a:p>
        </p:txBody>
      </p:sp>
    </p:spTree>
    <p:extLst>
      <p:ext uri="{BB962C8B-B14F-4D97-AF65-F5344CB8AC3E}">
        <p14:creationId xmlns:p14="http://schemas.microsoft.com/office/powerpoint/2010/main" val="2580596919"/>
      </p:ext>
    </p:extLst>
  </p:cSld>
  <p:clrMapOvr>
    <a:masterClrMapping/>
  </p:clrMapOvr>
  <p:transition spd="slow" advTm="22052"/>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Google Shape;70;p15"/>
          <p:cNvSpPr txBox="1">
            <a:spLocks noGrp="1"/>
          </p:cNvSpPr>
          <p:nvPr>
            <p:ph type="title"/>
          </p:nvPr>
        </p:nvSpPr>
        <p:spPr/>
        <p:txBody>
          <a:bodyPr/>
          <a:lstStyle/>
          <a:p>
            <a:pPr eaLnBrk="1" hangingPunct="1">
              <a:buSzPts val="2800"/>
              <a:buFont typeface="Nunito" charset="0"/>
              <a:buNone/>
            </a:pPr>
            <a:r>
              <a:rPr lang="en-US" altLang="en-US" sz="2800" dirty="0" smtClean="0">
                <a:latin typeface="Nunito" charset="0"/>
                <a:cs typeface="Nunito" charset="0"/>
                <a:sym typeface="Nunito" charset="0"/>
              </a:rPr>
              <a:t>Evaluation    </a:t>
            </a:r>
            <a:r>
              <a:rPr lang="en-US" altLang="en-US" sz="1600" b="1" dirty="0" smtClean="0">
                <a:latin typeface="+mn-lt"/>
                <a:cs typeface="Nunito" charset="0"/>
                <a:sym typeface="Nunito" charset="0"/>
              </a:rPr>
              <a:t>design</a:t>
            </a:r>
            <a:endParaRPr lang="en-GB" altLang="en-US" b="1" dirty="0" smtClean="0">
              <a:latin typeface="+mn-lt"/>
              <a:cs typeface="Nunito" charset="0"/>
              <a:sym typeface="Nunito" charset="0"/>
            </a:endParaRPr>
          </a:p>
        </p:txBody>
      </p:sp>
      <p:sp>
        <p:nvSpPr>
          <p:cNvPr id="2" name="TextBox 1"/>
          <p:cNvSpPr txBox="1"/>
          <p:nvPr/>
        </p:nvSpPr>
        <p:spPr>
          <a:xfrm>
            <a:off x="204471" y="1283346"/>
            <a:ext cx="3034030" cy="523220"/>
          </a:xfrm>
          <a:prstGeom prst="rect">
            <a:avLst/>
          </a:prstGeom>
          <a:noFill/>
        </p:spPr>
        <p:txBody>
          <a:bodyPr wrap="square" rtlCol="0">
            <a:spAutoFit/>
          </a:bodyPr>
          <a:lstStyle/>
          <a:p>
            <a:r>
              <a:rPr lang="en-US" altLang="zh-CN" dirty="0" smtClean="0"/>
              <a:t>I. Setup</a:t>
            </a:r>
          </a:p>
          <a:p>
            <a:r>
              <a:rPr lang="en-US" altLang="zh-CN" dirty="0" smtClean="0"/>
              <a:t>7 nodes</a:t>
            </a:r>
            <a:r>
              <a:rPr lang="en-US" altLang="zh-CN" dirty="0"/>
              <a:t>, </a:t>
            </a:r>
            <a:r>
              <a:rPr lang="en-US" altLang="zh-CN" dirty="0" smtClean="0"/>
              <a:t>96 </a:t>
            </a:r>
            <a:r>
              <a:rPr lang="en-US" altLang="zh-CN" dirty="0"/>
              <a:t>GB </a:t>
            </a:r>
            <a:r>
              <a:rPr lang="en-US" altLang="zh-CN" dirty="0" smtClean="0"/>
              <a:t>RAM, 18 </a:t>
            </a:r>
            <a:r>
              <a:rPr lang="en-US" altLang="zh-CN" dirty="0"/>
              <a:t>Cores  </a:t>
            </a:r>
            <a:endParaRPr lang="zh-CN" altLang="en-US" dirty="0"/>
          </a:p>
        </p:txBody>
      </p:sp>
      <p:pic>
        <p:nvPicPr>
          <p:cNvPr id="11" name="Picture 10"/>
          <p:cNvPicPr>
            <a:picLocks noChangeAspect="1"/>
          </p:cNvPicPr>
          <p:nvPr/>
        </p:nvPicPr>
        <p:blipFill>
          <a:blip r:embed="rId3"/>
          <a:stretch>
            <a:fillRect/>
          </a:stretch>
        </p:blipFill>
        <p:spPr>
          <a:xfrm>
            <a:off x="4557225" y="1017588"/>
            <a:ext cx="4275625" cy="2403792"/>
          </a:xfrm>
          <a:prstGeom prst="rect">
            <a:avLst/>
          </a:prstGeom>
        </p:spPr>
      </p:pic>
      <p:sp>
        <p:nvSpPr>
          <p:cNvPr id="12" name="TextBox 11"/>
          <p:cNvSpPr txBox="1"/>
          <p:nvPr/>
        </p:nvSpPr>
        <p:spPr>
          <a:xfrm>
            <a:off x="204471" y="2414682"/>
            <a:ext cx="3034030" cy="1169551"/>
          </a:xfrm>
          <a:prstGeom prst="rect">
            <a:avLst/>
          </a:prstGeom>
          <a:noFill/>
        </p:spPr>
        <p:txBody>
          <a:bodyPr wrap="square" rtlCol="0">
            <a:spAutoFit/>
          </a:bodyPr>
          <a:lstStyle/>
          <a:p>
            <a:r>
              <a:rPr lang="en-US" altLang="zh-CN" dirty="0" smtClean="0"/>
              <a:t>III. </a:t>
            </a:r>
            <a:r>
              <a:rPr lang="en-US" altLang="zh-CN" dirty="0"/>
              <a:t>Baseline</a:t>
            </a:r>
            <a:endParaRPr lang="en-US" altLang="zh-CN" dirty="0" smtClean="0"/>
          </a:p>
          <a:p>
            <a:r>
              <a:rPr lang="en-US" altLang="zh-CN" dirty="0" smtClean="0"/>
              <a:t>Scotty</a:t>
            </a:r>
          </a:p>
          <a:p>
            <a:r>
              <a:rPr lang="en-US" altLang="zh-CN" dirty="0" smtClean="0"/>
              <a:t>Disco</a:t>
            </a:r>
          </a:p>
          <a:p>
            <a:r>
              <a:rPr lang="en-US" altLang="zh-CN" dirty="0" err="1" smtClean="0"/>
              <a:t>DesisSW</a:t>
            </a:r>
            <a:endParaRPr lang="en-US" altLang="zh-CN" dirty="0" smtClean="0"/>
          </a:p>
          <a:p>
            <a:r>
              <a:rPr lang="en-US" altLang="zh-CN" dirty="0" err="1" smtClean="0"/>
              <a:t>DesisCen</a:t>
            </a:r>
            <a:endParaRPr lang="en-US" altLang="zh-CN" dirty="0"/>
          </a:p>
        </p:txBody>
      </p:sp>
      <p:sp>
        <p:nvSpPr>
          <p:cNvPr id="13" name="TextBox 12"/>
          <p:cNvSpPr txBox="1"/>
          <p:nvPr/>
        </p:nvSpPr>
        <p:spPr>
          <a:xfrm>
            <a:off x="204471" y="3626681"/>
            <a:ext cx="3034030" cy="1169551"/>
          </a:xfrm>
          <a:prstGeom prst="rect">
            <a:avLst/>
          </a:prstGeom>
          <a:noFill/>
        </p:spPr>
        <p:txBody>
          <a:bodyPr wrap="square" rtlCol="0">
            <a:spAutoFit/>
          </a:bodyPr>
          <a:lstStyle/>
          <a:p>
            <a:r>
              <a:rPr lang="en-US" altLang="zh-CN" dirty="0" smtClean="0"/>
              <a:t>IV. </a:t>
            </a:r>
            <a:r>
              <a:rPr lang="en-US" altLang="zh-CN" dirty="0"/>
              <a:t>Workload</a:t>
            </a:r>
            <a:endParaRPr lang="en-US" altLang="zh-CN" dirty="0" smtClean="0"/>
          </a:p>
          <a:p>
            <a:r>
              <a:rPr lang="en-US" altLang="zh-CN" dirty="0" smtClean="0"/>
              <a:t>System Performance</a:t>
            </a:r>
          </a:p>
          <a:p>
            <a:r>
              <a:rPr lang="en-US" altLang="zh-CN" dirty="0" smtClean="0"/>
              <a:t>System Optimization</a:t>
            </a:r>
          </a:p>
          <a:p>
            <a:r>
              <a:rPr lang="en-US" altLang="zh-CN" dirty="0" smtClean="0"/>
              <a:t>Real Data</a:t>
            </a:r>
          </a:p>
          <a:p>
            <a:endParaRPr lang="zh-CN" altLang="en-US" dirty="0"/>
          </a:p>
        </p:txBody>
      </p:sp>
      <p:sp>
        <p:nvSpPr>
          <p:cNvPr id="14" name="TextBox 13"/>
          <p:cNvSpPr txBox="1"/>
          <p:nvPr/>
        </p:nvSpPr>
        <p:spPr>
          <a:xfrm>
            <a:off x="204471" y="1849014"/>
            <a:ext cx="3636009" cy="523220"/>
          </a:xfrm>
          <a:prstGeom prst="rect">
            <a:avLst/>
          </a:prstGeom>
          <a:noFill/>
        </p:spPr>
        <p:txBody>
          <a:bodyPr wrap="square" rtlCol="0">
            <a:spAutoFit/>
          </a:bodyPr>
          <a:lstStyle/>
          <a:p>
            <a:r>
              <a:rPr lang="en-US" altLang="zh-CN" dirty="0" smtClean="0"/>
              <a:t>II. </a:t>
            </a:r>
            <a:r>
              <a:rPr lang="en-US" altLang="zh-CN" dirty="0"/>
              <a:t>Dataset</a:t>
            </a:r>
            <a:endParaRPr lang="en-US" altLang="zh-CN" dirty="0" smtClean="0"/>
          </a:p>
          <a:p>
            <a:r>
              <a:rPr lang="en-US" altLang="zh-CN" dirty="0"/>
              <a:t>https://debs.org/grand-challenges/2013/</a:t>
            </a:r>
            <a:endParaRPr lang="zh-CN" altLang="en-US" dirty="0"/>
          </a:p>
        </p:txBody>
      </p:sp>
    </p:spTree>
    <p:extLst>
      <p:ext uri="{BB962C8B-B14F-4D97-AF65-F5344CB8AC3E}">
        <p14:creationId xmlns:p14="http://schemas.microsoft.com/office/powerpoint/2010/main" val="1642260703"/>
      </p:ext>
    </p:extLst>
  </p:cSld>
  <p:clrMapOvr>
    <a:masterClrMapping/>
  </p:clrMapOvr>
  <p:transition spd="slow" advTm="40536"/>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412146" y="837194"/>
            <a:ext cx="3093589" cy="4012098"/>
          </a:xfrm>
          <a:prstGeom prst="rect">
            <a:avLst/>
          </a:prstGeom>
        </p:spPr>
      </p:pic>
      <p:sp>
        <p:nvSpPr>
          <p:cNvPr id="9218" name="Google Shape;70;p15"/>
          <p:cNvSpPr txBox="1">
            <a:spLocks noGrp="1"/>
          </p:cNvSpPr>
          <p:nvPr>
            <p:ph type="title"/>
          </p:nvPr>
        </p:nvSpPr>
        <p:spPr/>
        <p:txBody>
          <a:bodyPr/>
          <a:lstStyle/>
          <a:p>
            <a:pPr>
              <a:buSzPts val="2800"/>
            </a:pPr>
            <a:r>
              <a:rPr lang="en-US" altLang="en-US" sz="2800" dirty="0" smtClean="0">
                <a:latin typeface="Nunito" charset="0"/>
                <a:cs typeface="Nunito" charset="0"/>
                <a:sym typeface="Nunito" charset="0"/>
              </a:rPr>
              <a:t>Evaluation    </a:t>
            </a:r>
            <a:r>
              <a:rPr lang="en-US" altLang="zh-CN" dirty="0"/>
              <a:t>System Performance</a:t>
            </a:r>
            <a:br>
              <a:rPr lang="en-US" altLang="zh-CN" dirty="0"/>
            </a:br>
            <a:endParaRPr lang="en-GB" altLang="en-US" dirty="0" smtClean="0">
              <a:latin typeface="+mn-lt"/>
              <a:cs typeface="Nunito" charset="0"/>
              <a:sym typeface="Nunito" charset="0"/>
            </a:endParaRPr>
          </a:p>
        </p:txBody>
      </p:sp>
      <p:sp>
        <p:nvSpPr>
          <p:cNvPr id="2" name="TextBox 1"/>
          <p:cNvSpPr txBox="1"/>
          <p:nvPr/>
        </p:nvSpPr>
        <p:spPr>
          <a:xfrm>
            <a:off x="155862" y="1153810"/>
            <a:ext cx="5079077" cy="307777"/>
          </a:xfrm>
          <a:prstGeom prst="rect">
            <a:avLst/>
          </a:prstGeom>
          <a:noFill/>
        </p:spPr>
        <p:txBody>
          <a:bodyPr wrap="square" rtlCol="0">
            <a:spAutoFit/>
          </a:bodyPr>
          <a:lstStyle/>
          <a:p>
            <a:r>
              <a:rPr lang="en-US" altLang="zh-CN" dirty="0" smtClean="0"/>
              <a:t>Throughput</a:t>
            </a:r>
            <a:endParaRPr lang="zh-CN" altLang="en-US" dirty="0"/>
          </a:p>
        </p:txBody>
      </p:sp>
      <p:sp>
        <p:nvSpPr>
          <p:cNvPr id="7" name="TextBox 6"/>
          <p:cNvSpPr txBox="1"/>
          <p:nvPr/>
        </p:nvSpPr>
        <p:spPr>
          <a:xfrm>
            <a:off x="3659091" y="4728507"/>
            <a:ext cx="1260311" cy="307777"/>
          </a:xfrm>
          <a:prstGeom prst="rect">
            <a:avLst/>
          </a:prstGeom>
          <a:noFill/>
        </p:spPr>
        <p:txBody>
          <a:bodyPr wrap="square" rtlCol="0">
            <a:spAutoFit/>
          </a:bodyPr>
          <a:lstStyle/>
          <a:p>
            <a:r>
              <a:rPr lang="en-US" dirty="0" smtClean="0">
                <a:solidFill>
                  <a:schemeClr val="tx1"/>
                </a:solidFill>
              </a:rPr>
              <a:t>Q1- Average</a:t>
            </a:r>
            <a:endParaRPr lang="en-US" dirty="0">
              <a:solidFill>
                <a:schemeClr val="tx1"/>
              </a:solidFill>
            </a:endParaRPr>
          </a:p>
        </p:txBody>
      </p:sp>
      <p:sp>
        <p:nvSpPr>
          <p:cNvPr id="15" name="TextBox 14"/>
          <p:cNvSpPr txBox="1"/>
          <p:nvPr/>
        </p:nvSpPr>
        <p:spPr>
          <a:xfrm>
            <a:off x="7128493" y="4695404"/>
            <a:ext cx="1101103" cy="307777"/>
          </a:xfrm>
          <a:prstGeom prst="rect">
            <a:avLst/>
          </a:prstGeom>
          <a:noFill/>
        </p:spPr>
        <p:txBody>
          <a:bodyPr wrap="square" rtlCol="0">
            <a:spAutoFit/>
          </a:bodyPr>
          <a:lstStyle/>
          <a:p>
            <a:r>
              <a:rPr lang="en-US" dirty="0" smtClean="0">
                <a:solidFill>
                  <a:schemeClr val="tx1"/>
                </a:solidFill>
              </a:rPr>
              <a:t>Q2-Median</a:t>
            </a:r>
            <a:endParaRPr lang="en-US" dirty="0">
              <a:solidFill>
                <a:schemeClr val="tx1"/>
              </a:solidFill>
            </a:endParaRPr>
          </a:p>
        </p:txBody>
      </p:sp>
      <p:sp>
        <p:nvSpPr>
          <p:cNvPr id="3" name="TextBox 2"/>
          <p:cNvSpPr txBox="1"/>
          <p:nvPr/>
        </p:nvSpPr>
        <p:spPr>
          <a:xfrm>
            <a:off x="154925" y="1490389"/>
            <a:ext cx="3554003" cy="830997"/>
          </a:xfrm>
          <a:prstGeom prst="rect">
            <a:avLst/>
          </a:prstGeom>
          <a:noFill/>
        </p:spPr>
        <p:txBody>
          <a:bodyPr wrap="square" rtlCol="0">
            <a:spAutoFit/>
          </a:bodyPr>
          <a:lstStyle/>
          <a:p>
            <a:r>
              <a:rPr lang="en-US" altLang="zh-CN" sz="1200" dirty="0" smtClean="0"/>
              <a:t>Query1 :1s tumbling window</a:t>
            </a:r>
          </a:p>
          <a:p>
            <a:r>
              <a:rPr lang="en-US" altLang="zh-CN" sz="1200" dirty="0" smtClean="0"/>
              <a:t>Query2 :1s </a:t>
            </a:r>
            <a:r>
              <a:rPr lang="en-US" altLang="zh-CN" sz="1200" dirty="0"/>
              <a:t>tumbling window</a:t>
            </a:r>
          </a:p>
          <a:p>
            <a:endParaRPr lang="zh-CN" altLang="en-US" sz="1200" dirty="0"/>
          </a:p>
          <a:p>
            <a:endParaRPr lang="zh-CN" altLang="en-US" sz="1200" dirty="0"/>
          </a:p>
        </p:txBody>
      </p:sp>
      <p:sp>
        <p:nvSpPr>
          <p:cNvPr id="14" name="Rectangle 13"/>
          <p:cNvSpPr/>
          <p:nvPr/>
        </p:nvSpPr>
        <p:spPr>
          <a:xfrm>
            <a:off x="7797151" y="1355649"/>
            <a:ext cx="655969" cy="1994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Picture 4"/>
          <p:cNvPicPr>
            <a:picLocks noChangeAspect="1"/>
          </p:cNvPicPr>
          <p:nvPr/>
        </p:nvPicPr>
        <p:blipFill>
          <a:blip r:embed="rId4"/>
          <a:stretch>
            <a:fillRect/>
          </a:stretch>
        </p:blipFill>
        <p:spPr>
          <a:xfrm>
            <a:off x="5342899" y="942322"/>
            <a:ext cx="2886697" cy="3836900"/>
          </a:xfrm>
          <a:prstGeom prst="rect">
            <a:avLst/>
          </a:prstGeom>
        </p:spPr>
      </p:pic>
    </p:spTree>
    <p:extLst>
      <p:ext uri="{BB962C8B-B14F-4D97-AF65-F5344CB8AC3E}">
        <p14:creationId xmlns:p14="http://schemas.microsoft.com/office/powerpoint/2010/main" val="2124884684"/>
      </p:ext>
    </p:extLst>
  </p:cSld>
  <p:clrMapOvr>
    <a:masterClrMapping/>
  </p:clrMapOvr>
  <p:transition spd="slow" advTm="40536"/>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2317930" y="949610"/>
            <a:ext cx="3024970" cy="3829612"/>
          </a:xfrm>
          <a:prstGeom prst="rect">
            <a:avLst/>
          </a:prstGeom>
        </p:spPr>
      </p:pic>
      <p:sp>
        <p:nvSpPr>
          <p:cNvPr id="9218" name="Google Shape;70;p15"/>
          <p:cNvSpPr txBox="1">
            <a:spLocks noGrp="1"/>
          </p:cNvSpPr>
          <p:nvPr>
            <p:ph type="title"/>
          </p:nvPr>
        </p:nvSpPr>
        <p:spPr/>
        <p:txBody>
          <a:bodyPr/>
          <a:lstStyle/>
          <a:p>
            <a:pPr>
              <a:buSzPts val="2800"/>
            </a:pPr>
            <a:r>
              <a:rPr lang="en-US" altLang="en-US" sz="2800" dirty="0" smtClean="0">
                <a:latin typeface="Nunito" charset="0"/>
                <a:cs typeface="Nunito" charset="0"/>
                <a:sym typeface="Nunito" charset="0"/>
              </a:rPr>
              <a:t>Evaluation    </a:t>
            </a:r>
            <a:r>
              <a:rPr lang="en-US" altLang="zh-CN" dirty="0"/>
              <a:t>System Performance</a:t>
            </a:r>
            <a:br>
              <a:rPr lang="en-US" altLang="zh-CN" dirty="0"/>
            </a:br>
            <a:endParaRPr lang="en-GB" altLang="en-US" dirty="0" smtClean="0">
              <a:latin typeface="+mn-lt"/>
              <a:cs typeface="Nunito" charset="0"/>
              <a:sym typeface="Nunito" charset="0"/>
            </a:endParaRPr>
          </a:p>
        </p:txBody>
      </p:sp>
      <p:sp>
        <p:nvSpPr>
          <p:cNvPr id="2" name="TextBox 1"/>
          <p:cNvSpPr txBox="1"/>
          <p:nvPr/>
        </p:nvSpPr>
        <p:spPr>
          <a:xfrm>
            <a:off x="155862" y="1153810"/>
            <a:ext cx="5079077" cy="307777"/>
          </a:xfrm>
          <a:prstGeom prst="rect">
            <a:avLst/>
          </a:prstGeom>
          <a:noFill/>
        </p:spPr>
        <p:txBody>
          <a:bodyPr wrap="square" rtlCol="0">
            <a:spAutoFit/>
          </a:bodyPr>
          <a:lstStyle/>
          <a:p>
            <a:r>
              <a:rPr lang="en-US" altLang="zh-CN" dirty="0" smtClean="0"/>
              <a:t>Network Overhead</a:t>
            </a:r>
            <a:r>
              <a:rPr lang="en-US" altLang="en-US" dirty="0" smtClean="0">
                <a:latin typeface="Nunito" charset="0"/>
                <a:cs typeface="Nunito" charset="0"/>
                <a:sym typeface="Nunito" charset="0"/>
              </a:rPr>
              <a:t> </a:t>
            </a:r>
            <a:endParaRPr lang="zh-CN" altLang="en-US" dirty="0"/>
          </a:p>
        </p:txBody>
      </p:sp>
      <p:sp>
        <p:nvSpPr>
          <p:cNvPr id="7" name="TextBox 6"/>
          <p:cNvSpPr txBox="1"/>
          <p:nvPr/>
        </p:nvSpPr>
        <p:spPr>
          <a:xfrm>
            <a:off x="3645131" y="4728507"/>
            <a:ext cx="1260311" cy="307777"/>
          </a:xfrm>
          <a:prstGeom prst="rect">
            <a:avLst/>
          </a:prstGeom>
          <a:noFill/>
        </p:spPr>
        <p:txBody>
          <a:bodyPr wrap="square" rtlCol="0">
            <a:spAutoFit/>
          </a:bodyPr>
          <a:lstStyle/>
          <a:p>
            <a:r>
              <a:rPr lang="en-US" dirty="0" smtClean="0">
                <a:solidFill>
                  <a:schemeClr val="tx1"/>
                </a:solidFill>
              </a:rPr>
              <a:t>Q1- Average</a:t>
            </a:r>
            <a:endParaRPr lang="en-US" dirty="0">
              <a:solidFill>
                <a:schemeClr val="tx1"/>
              </a:solidFill>
            </a:endParaRPr>
          </a:p>
        </p:txBody>
      </p:sp>
      <p:sp>
        <p:nvSpPr>
          <p:cNvPr id="15" name="TextBox 14"/>
          <p:cNvSpPr txBox="1"/>
          <p:nvPr/>
        </p:nvSpPr>
        <p:spPr>
          <a:xfrm>
            <a:off x="6563100" y="4728506"/>
            <a:ext cx="1101103" cy="307777"/>
          </a:xfrm>
          <a:prstGeom prst="rect">
            <a:avLst/>
          </a:prstGeom>
          <a:noFill/>
        </p:spPr>
        <p:txBody>
          <a:bodyPr wrap="square" rtlCol="0">
            <a:spAutoFit/>
          </a:bodyPr>
          <a:lstStyle/>
          <a:p>
            <a:r>
              <a:rPr lang="en-US" dirty="0" smtClean="0">
                <a:solidFill>
                  <a:schemeClr val="tx1"/>
                </a:solidFill>
              </a:rPr>
              <a:t>Q2-Median</a:t>
            </a:r>
            <a:endParaRPr lang="en-US" dirty="0">
              <a:solidFill>
                <a:schemeClr val="tx1"/>
              </a:solidFill>
            </a:endParaRPr>
          </a:p>
        </p:txBody>
      </p:sp>
      <p:sp>
        <p:nvSpPr>
          <p:cNvPr id="3" name="TextBox 2"/>
          <p:cNvSpPr txBox="1"/>
          <p:nvPr/>
        </p:nvSpPr>
        <p:spPr>
          <a:xfrm>
            <a:off x="154925" y="1490389"/>
            <a:ext cx="3554003" cy="830997"/>
          </a:xfrm>
          <a:prstGeom prst="rect">
            <a:avLst/>
          </a:prstGeom>
          <a:noFill/>
        </p:spPr>
        <p:txBody>
          <a:bodyPr wrap="square" rtlCol="0">
            <a:spAutoFit/>
          </a:bodyPr>
          <a:lstStyle/>
          <a:p>
            <a:r>
              <a:rPr lang="en-US" altLang="zh-CN" sz="1200" dirty="0" smtClean="0"/>
              <a:t>Query1 :1s tumbling window</a:t>
            </a:r>
          </a:p>
          <a:p>
            <a:r>
              <a:rPr lang="en-US" altLang="zh-CN" sz="1200" dirty="0" smtClean="0"/>
              <a:t>Query2 :1s </a:t>
            </a:r>
            <a:r>
              <a:rPr lang="en-US" altLang="zh-CN" sz="1200" dirty="0"/>
              <a:t>tumbling window</a:t>
            </a:r>
          </a:p>
          <a:p>
            <a:endParaRPr lang="zh-CN" altLang="en-US" sz="1200" dirty="0"/>
          </a:p>
          <a:p>
            <a:endParaRPr lang="zh-CN" altLang="en-US" sz="1200" dirty="0"/>
          </a:p>
        </p:txBody>
      </p:sp>
      <p:sp>
        <p:nvSpPr>
          <p:cNvPr id="14" name="Rectangle 13"/>
          <p:cNvSpPr/>
          <p:nvPr/>
        </p:nvSpPr>
        <p:spPr>
          <a:xfrm>
            <a:off x="7797151" y="1355649"/>
            <a:ext cx="655969" cy="1994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7"/>
          <p:cNvPicPr>
            <a:picLocks noChangeAspect="1"/>
          </p:cNvPicPr>
          <p:nvPr/>
        </p:nvPicPr>
        <p:blipFill>
          <a:blip r:embed="rId4"/>
          <a:stretch>
            <a:fillRect/>
          </a:stretch>
        </p:blipFill>
        <p:spPr>
          <a:xfrm>
            <a:off x="5440343" y="948570"/>
            <a:ext cx="2789253" cy="3815853"/>
          </a:xfrm>
          <a:prstGeom prst="rect">
            <a:avLst/>
          </a:prstGeom>
        </p:spPr>
      </p:pic>
    </p:spTree>
    <p:extLst>
      <p:ext uri="{BB962C8B-B14F-4D97-AF65-F5344CB8AC3E}">
        <p14:creationId xmlns:p14="http://schemas.microsoft.com/office/powerpoint/2010/main" val="3600228728"/>
      </p:ext>
    </p:extLst>
  </p:cSld>
  <p:clrMapOvr>
    <a:masterClrMapping/>
  </p:clrMapOvr>
  <p:transition spd="slow" advTm="40536"/>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788968" y="1307698"/>
            <a:ext cx="3799508" cy="3363340"/>
          </a:xfrm>
          <a:prstGeom prst="rect">
            <a:avLst/>
          </a:prstGeom>
        </p:spPr>
      </p:pic>
      <p:sp>
        <p:nvSpPr>
          <p:cNvPr id="9218" name="Google Shape;70;p15"/>
          <p:cNvSpPr txBox="1">
            <a:spLocks noGrp="1"/>
          </p:cNvSpPr>
          <p:nvPr>
            <p:ph type="title"/>
          </p:nvPr>
        </p:nvSpPr>
        <p:spPr/>
        <p:txBody>
          <a:bodyPr/>
          <a:lstStyle/>
          <a:p>
            <a:pPr>
              <a:buSzPts val="2800"/>
            </a:pPr>
            <a:r>
              <a:rPr lang="en-US" altLang="en-US" sz="2800" dirty="0" smtClean="0">
                <a:latin typeface="Nunito" charset="0"/>
                <a:cs typeface="Nunito" charset="0"/>
                <a:sym typeface="Nunito" charset="0"/>
              </a:rPr>
              <a:t>Evaluation    </a:t>
            </a:r>
            <a:r>
              <a:rPr lang="en-US" altLang="zh-CN" dirty="0"/>
              <a:t>System Performance</a:t>
            </a:r>
            <a:br>
              <a:rPr lang="en-US" altLang="zh-CN" dirty="0"/>
            </a:br>
            <a:endParaRPr lang="en-GB" altLang="en-US" dirty="0" smtClean="0">
              <a:latin typeface="+mn-lt"/>
              <a:cs typeface="Nunito" charset="0"/>
              <a:sym typeface="Nunito" charset="0"/>
            </a:endParaRPr>
          </a:p>
        </p:txBody>
      </p:sp>
      <p:sp>
        <p:nvSpPr>
          <p:cNvPr id="2" name="TextBox 1"/>
          <p:cNvSpPr txBox="1"/>
          <p:nvPr/>
        </p:nvSpPr>
        <p:spPr>
          <a:xfrm>
            <a:off x="155862" y="1153810"/>
            <a:ext cx="5079077" cy="307777"/>
          </a:xfrm>
          <a:prstGeom prst="rect">
            <a:avLst/>
          </a:prstGeom>
          <a:noFill/>
        </p:spPr>
        <p:txBody>
          <a:bodyPr wrap="square" rtlCol="0">
            <a:spAutoFit/>
          </a:bodyPr>
          <a:lstStyle/>
          <a:p>
            <a:r>
              <a:rPr lang="en-US" altLang="zh-CN" dirty="0" smtClean="0"/>
              <a:t>Scalability</a:t>
            </a:r>
            <a:endParaRPr lang="zh-CN" altLang="en-US" dirty="0"/>
          </a:p>
        </p:txBody>
      </p:sp>
      <p:sp>
        <p:nvSpPr>
          <p:cNvPr id="7" name="TextBox 6"/>
          <p:cNvSpPr txBox="1"/>
          <p:nvPr/>
        </p:nvSpPr>
        <p:spPr>
          <a:xfrm>
            <a:off x="3645131" y="4728507"/>
            <a:ext cx="1260311" cy="307777"/>
          </a:xfrm>
          <a:prstGeom prst="rect">
            <a:avLst/>
          </a:prstGeom>
          <a:noFill/>
        </p:spPr>
        <p:txBody>
          <a:bodyPr wrap="square" rtlCol="0">
            <a:spAutoFit/>
          </a:bodyPr>
          <a:lstStyle/>
          <a:p>
            <a:r>
              <a:rPr lang="en-US" dirty="0" smtClean="0">
                <a:solidFill>
                  <a:schemeClr val="tx1"/>
                </a:solidFill>
              </a:rPr>
              <a:t>Q1- Average</a:t>
            </a:r>
            <a:endParaRPr lang="en-US" dirty="0">
              <a:solidFill>
                <a:schemeClr val="tx1"/>
              </a:solidFill>
            </a:endParaRPr>
          </a:p>
        </p:txBody>
      </p:sp>
      <p:sp>
        <p:nvSpPr>
          <p:cNvPr id="15" name="TextBox 14"/>
          <p:cNvSpPr txBox="1"/>
          <p:nvPr/>
        </p:nvSpPr>
        <p:spPr>
          <a:xfrm>
            <a:off x="6804288" y="4717489"/>
            <a:ext cx="1101103" cy="307777"/>
          </a:xfrm>
          <a:prstGeom prst="rect">
            <a:avLst/>
          </a:prstGeom>
          <a:noFill/>
        </p:spPr>
        <p:txBody>
          <a:bodyPr wrap="square" rtlCol="0">
            <a:spAutoFit/>
          </a:bodyPr>
          <a:lstStyle/>
          <a:p>
            <a:r>
              <a:rPr lang="en-US" dirty="0" smtClean="0">
                <a:solidFill>
                  <a:schemeClr val="tx1"/>
                </a:solidFill>
              </a:rPr>
              <a:t>Q2-Median</a:t>
            </a:r>
            <a:endParaRPr lang="en-US" dirty="0">
              <a:solidFill>
                <a:schemeClr val="tx1"/>
              </a:solidFill>
            </a:endParaRPr>
          </a:p>
        </p:txBody>
      </p:sp>
      <p:sp>
        <p:nvSpPr>
          <p:cNvPr id="3" name="TextBox 2"/>
          <p:cNvSpPr txBox="1"/>
          <p:nvPr/>
        </p:nvSpPr>
        <p:spPr>
          <a:xfrm>
            <a:off x="154925" y="1490389"/>
            <a:ext cx="3554003" cy="830997"/>
          </a:xfrm>
          <a:prstGeom prst="rect">
            <a:avLst/>
          </a:prstGeom>
          <a:noFill/>
        </p:spPr>
        <p:txBody>
          <a:bodyPr wrap="square" rtlCol="0">
            <a:spAutoFit/>
          </a:bodyPr>
          <a:lstStyle/>
          <a:p>
            <a:r>
              <a:rPr lang="en-US" altLang="zh-CN" sz="1200" dirty="0" smtClean="0"/>
              <a:t>Query1 :1s tumbling window</a:t>
            </a:r>
          </a:p>
          <a:p>
            <a:r>
              <a:rPr lang="en-US" altLang="zh-CN" sz="1200" dirty="0" smtClean="0"/>
              <a:t>Query2 :1s </a:t>
            </a:r>
            <a:r>
              <a:rPr lang="en-US" altLang="zh-CN" sz="1200" dirty="0"/>
              <a:t>tumbling window</a:t>
            </a:r>
          </a:p>
          <a:p>
            <a:endParaRPr lang="zh-CN" altLang="en-US" sz="1200" dirty="0"/>
          </a:p>
          <a:p>
            <a:endParaRPr lang="zh-CN" altLang="en-US" sz="1200" dirty="0"/>
          </a:p>
        </p:txBody>
      </p:sp>
      <p:sp>
        <p:nvSpPr>
          <p:cNvPr id="14" name="Rectangle 13"/>
          <p:cNvSpPr/>
          <p:nvPr/>
        </p:nvSpPr>
        <p:spPr>
          <a:xfrm>
            <a:off x="7797151" y="1355649"/>
            <a:ext cx="655969" cy="1994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Picture 4"/>
          <p:cNvPicPr>
            <a:picLocks noChangeAspect="1"/>
          </p:cNvPicPr>
          <p:nvPr/>
        </p:nvPicPr>
        <p:blipFill>
          <a:blip r:embed="rId4"/>
          <a:stretch>
            <a:fillRect/>
          </a:stretch>
        </p:blipFill>
        <p:spPr>
          <a:xfrm>
            <a:off x="5588477" y="1307698"/>
            <a:ext cx="3532726" cy="3420808"/>
          </a:xfrm>
          <a:prstGeom prst="rect">
            <a:avLst/>
          </a:prstGeom>
        </p:spPr>
      </p:pic>
    </p:spTree>
    <p:extLst>
      <p:ext uri="{BB962C8B-B14F-4D97-AF65-F5344CB8AC3E}">
        <p14:creationId xmlns:p14="http://schemas.microsoft.com/office/powerpoint/2010/main" val="3587361634"/>
      </p:ext>
    </p:extLst>
  </p:cSld>
  <p:clrMapOvr>
    <a:masterClrMapping/>
  </p:clrMapOvr>
  <p:transition spd="slow" advTm="40536"/>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4595640" y="961748"/>
            <a:ext cx="4047927" cy="4007678"/>
          </a:xfrm>
          <a:prstGeom prst="rect">
            <a:avLst/>
          </a:prstGeom>
        </p:spPr>
      </p:pic>
      <p:pic>
        <p:nvPicPr>
          <p:cNvPr id="6" name="Picture 5"/>
          <p:cNvPicPr>
            <a:picLocks noChangeAspect="1"/>
          </p:cNvPicPr>
          <p:nvPr/>
        </p:nvPicPr>
        <p:blipFill>
          <a:blip r:embed="rId4"/>
          <a:stretch>
            <a:fillRect/>
          </a:stretch>
        </p:blipFill>
        <p:spPr>
          <a:xfrm>
            <a:off x="533300" y="876317"/>
            <a:ext cx="4431469" cy="3785332"/>
          </a:xfrm>
          <a:prstGeom prst="rect">
            <a:avLst/>
          </a:prstGeom>
        </p:spPr>
      </p:pic>
      <p:sp>
        <p:nvSpPr>
          <p:cNvPr id="9218" name="Google Shape;70;p15"/>
          <p:cNvSpPr txBox="1">
            <a:spLocks noGrp="1"/>
          </p:cNvSpPr>
          <p:nvPr>
            <p:ph type="title"/>
          </p:nvPr>
        </p:nvSpPr>
        <p:spPr/>
        <p:txBody>
          <a:bodyPr/>
          <a:lstStyle/>
          <a:p>
            <a:pPr>
              <a:buSzPts val="2800"/>
            </a:pPr>
            <a:r>
              <a:rPr lang="en-US" altLang="en-US" sz="2800" dirty="0" smtClean="0">
                <a:latin typeface="Nunito" charset="0"/>
                <a:cs typeface="Nunito" charset="0"/>
                <a:sym typeface="Nunito" charset="0"/>
              </a:rPr>
              <a:t>Evaluation    </a:t>
            </a:r>
            <a:r>
              <a:rPr lang="en-US" altLang="zh-CN" dirty="0"/>
              <a:t>System </a:t>
            </a:r>
            <a:r>
              <a:rPr lang="en-US" altLang="zh-CN" dirty="0" smtClean="0"/>
              <a:t>Optimization</a:t>
            </a:r>
            <a:r>
              <a:rPr lang="en-US" altLang="zh-CN" dirty="0"/>
              <a:t/>
            </a:r>
            <a:br>
              <a:rPr lang="en-US" altLang="zh-CN" dirty="0"/>
            </a:br>
            <a:endParaRPr lang="en-GB" altLang="en-US" dirty="0" smtClean="0">
              <a:latin typeface="+mn-lt"/>
              <a:cs typeface="Nunito" charset="0"/>
              <a:sym typeface="Nunito" charset="0"/>
            </a:endParaRPr>
          </a:p>
        </p:txBody>
      </p:sp>
      <p:sp>
        <p:nvSpPr>
          <p:cNvPr id="2" name="TextBox 1"/>
          <p:cNvSpPr txBox="1"/>
          <p:nvPr/>
        </p:nvSpPr>
        <p:spPr>
          <a:xfrm>
            <a:off x="155862" y="1153810"/>
            <a:ext cx="5079077" cy="307777"/>
          </a:xfrm>
          <a:prstGeom prst="rect">
            <a:avLst/>
          </a:prstGeom>
          <a:noFill/>
        </p:spPr>
        <p:txBody>
          <a:bodyPr wrap="square" rtlCol="0">
            <a:spAutoFit/>
          </a:bodyPr>
          <a:lstStyle/>
          <a:p>
            <a:r>
              <a:rPr lang="en-US" altLang="zh-CN" dirty="0" smtClean="0"/>
              <a:t>Throughput</a:t>
            </a:r>
            <a:endParaRPr lang="zh-CN" altLang="en-US" dirty="0"/>
          </a:p>
        </p:txBody>
      </p:sp>
      <p:sp>
        <p:nvSpPr>
          <p:cNvPr id="14" name="Rectangle 13"/>
          <p:cNvSpPr/>
          <p:nvPr/>
        </p:nvSpPr>
        <p:spPr>
          <a:xfrm>
            <a:off x="7797151" y="1355649"/>
            <a:ext cx="655969" cy="1994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02135722"/>
      </p:ext>
    </p:extLst>
  </p:cSld>
  <p:clrMapOvr>
    <a:masterClrMapping/>
  </p:clrMapOvr>
  <p:transition spd="slow" advTm="40536"/>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11150" y="1598412"/>
            <a:ext cx="3070794" cy="2606555"/>
          </a:xfrm>
          <a:prstGeom prst="rect">
            <a:avLst/>
          </a:prstGeom>
        </p:spPr>
      </p:pic>
      <p:sp>
        <p:nvSpPr>
          <p:cNvPr id="9218" name="Google Shape;70;p15"/>
          <p:cNvSpPr txBox="1">
            <a:spLocks noGrp="1"/>
          </p:cNvSpPr>
          <p:nvPr>
            <p:ph type="title"/>
          </p:nvPr>
        </p:nvSpPr>
        <p:spPr/>
        <p:txBody>
          <a:bodyPr/>
          <a:lstStyle/>
          <a:p>
            <a:pPr>
              <a:buSzPts val="2800"/>
            </a:pPr>
            <a:r>
              <a:rPr lang="en-US" altLang="en-US" sz="2800" dirty="0" smtClean="0">
                <a:latin typeface="Nunito" charset="0"/>
                <a:cs typeface="Nunito" charset="0"/>
                <a:sym typeface="Nunito" charset="0"/>
              </a:rPr>
              <a:t>Evaluation    </a:t>
            </a:r>
            <a:r>
              <a:rPr lang="en-US" altLang="zh-CN" dirty="0"/>
              <a:t>System </a:t>
            </a:r>
            <a:r>
              <a:rPr lang="en-US" altLang="zh-CN" dirty="0" smtClean="0"/>
              <a:t>Optimization</a:t>
            </a:r>
            <a:r>
              <a:rPr lang="en-US" altLang="zh-CN" dirty="0"/>
              <a:t/>
            </a:r>
            <a:br>
              <a:rPr lang="en-US" altLang="zh-CN" dirty="0"/>
            </a:br>
            <a:endParaRPr lang="en-GB" altLang="en-US" dirty="0" smtClean="0">
              <a:latin typeface="+mn-lt"/>
              <a:cs typeface="Nunito" charset="0"/>
              <a:sym typeface="Nunito" charset="0"/>
            </a:endParaRPr>
          </a:p>
        </p:txBody>
      </p:sp>
      <p:sp>
        <p:nvSpPr>
          <p:cNvPr id="2" name="TextBox 1"/>
          <p:cNvSpPr txBox="1"/>
          <p:nvPr/>
        </p:nvSpPr>
        <p:spPr>
          <a:xfrm>
            <a:off x="167882" y="1046390"/>
            <a:ext cx="5079077" cy="523220"/>
          </a:xfrm>
          <a:prstGeom prst="rect">
            <a:avLst/>
          </a:prstGeom>
          <a:noFill/>
        </p:spPr>
        <p:txBody>
          <a:bodyPr wrap="square" rtlCol="0">
            <a:spAutoFit/>
          </a:bodyPr>
          <a:lstStyle/>
          <a:p>
            <a:r>
              <a:rPr lang="en-US" altLang="zh-CN" dirty="0" smtClean="0"/>
              <a:t>Throughput</a:t>
            </a:r>
          </a:p>
          <a:p>
            <a:r>
              <a:rPr lang="en-US" altLang="zh-CN" dirty="0" smtClean="0"/>
              <a:t>Window Sharing</a:t>
            </a:r>
            <a:endParaRPr lang="zh-CN" altLang="en-US" dirty="0"/>
          </a:p>
        </p:txBody>
      </p:sp>
      <p:sp>
        <p:nvSpPr>
          <p:cNvPr id="7" name="TextBox 6"/>
          <p:cNvSpPr txBox="1"/>
          <p:nvPr/>
        </p:nvSpPr>
        <p:spPr>
          <a:xfrm>
            <a:off x="1447109" y="4233769"/>
            <a:ext cx="1934835" cy="307777"/>
          </a:xfrm>
          <a:prstGeom prst="rect">
            <a:avLst/>
          </a:prstGeom>
          <a:noFill/>
        </p:spPr>
        <p:txBody>
          <a:bodyPr wrap="square" rtlCol="0">
            <a:spAutoFit/>
          </a:bodyPr>
          <a:lstStyle/>
          <a:p>
            <a:r>
              <a:rPr lang="en-US" dirty="0" smtClean="0">
                <a:solidFill>
                  <a:schemeClr val="tx1"/>
                </a:solidFill>
              </a:rPr>
              <a:t>Tumbling</a:t>
            </a:r>
            <a:endParaRPr lang="en-US" dirty="0">
              <a:solidFill>
                <a:schemeClr val="tx1"/>
              </a:solidFill>
            </a:endParaRPr>
          </a:p>
        </p:txBody>
      </p:sp>
      <p:sp>
        <p:nvSpPr>
          <p:cNvPr id="15" name="TextBox 14"/>
          <p:cNvSpPr txBox="1"/>
          <p:nvPr/>
        </p:nvSpPr>
        <p:spPr>
          <a:xfrm>
            <a:off x="4333314" y="4204967"/>
            <a:ext cx="1320610" cy="307777"/>
          </a:xfrm>
          <a:prstGeom prst="rect">
            <a:avLst/>
          </a:prstGeom>
          <a:noFill/>
        </p:spPr>
        <p:txBody>
          <a:bodyPr wrap="square" rtlCol="0">
            <a:spAutoFit/>
          </a:bodyPr>
          <a:lstStyle/>
          <a:p>
            <a:r>
              <a:rPr lang="en-US" dirty="0" smtClean="0">
                <a:solidFill>
                  <a:schemeClr val="tx1"/>
                </a:solidFill>
              </a:rPr>
              <a:t>Punctuation</a:t>
            </a:r>
            <a:endParaRPr lang="en-US" dirty="0">
              <a:solidFill>
                <a:schemeClr val="tx1"/>
              </a:solidFill>
            </a:endParaRPr>
          </a:p>
        </p:txBody>
      </p:sp>
      <p:sp>
        <p:nvSpPr>
          <p:cNvPr id="14" name="Rectangle 13"/>
          <p:cNvSpPr/>
          <p:nvPr/>
        </p:nvSpPr>
        <p:spPr>
          <a:xfrm>
            <a:off x="7797151" y="1355649"/>
            <a:ext cx="655969" cy="1994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7"/>
          <p:cNvPicPr>
            <a:picLocks noChangeAspect="1"/>
          </p:cNvPicPr>
          <p:nvPr/>
        </p:nvPicPr>
        <p:blipFill>
          <a:blip r:embed="rId4"/>
          <a:stretch>
            <a:fillRect/>
          </a:stretch>
        </p:blipFill>
        <p:spPr>
          <a:xfrm>
            <a:off x="3298181" y="1603767"/>
            <a:ext cx="2879563" cy="2542443"/>
          </a:xfrm>
          <a:prstGeom prst="rect">
            <a:avLst/>
          </a:prstGeom>
        </p:spPr>
      </p:pic>
      <p:pic>
        <p:nvPicPr>
          <p:cNvPr id="10" name="Picture 9"/>
          <p:cNvPicPr>
            <a:picLocks noChangeAspect="1"/>
          </p:cNvPicPr>
          <p:nvPr/>
        </p:nvPicPr>
        <p:blipFill>
          <a:blip r:embed="rId5"/>
          <a:stretch>
            <a:fillRect/>
          </a:stretch>
        </p:blipFill>
        <p:spPr>
          <a:xfrm>
            <a:off x="6073043" y="1617008"/>
            <a:ext cx="2759808" cy="2559327"/>
          </a:xfrm>
          <a:prstGeom prst="rect">
            <a:avLst/>
          </a:prstGeom>
        </p:spPr>
      </p:pic>
      <p:sp>
        <p:nvSpPr>
          <p:cNvPr id="16" name="TextBox 15"/>
          <p:cNvSpPr txBox="1"/>
          <p:nvPr/>
        </p:nvSpPr>
        <p:spPr>
          <a:xfrm>
            <a:off x="6455780" y="4191005"/>
            <a:ext cx="2101887" cy="307777"/>
          </a:xfrm>
          <a:prstGeom prst="rect">
            <a:avLst/>
          </a:prstGeom>
          <a:noFill/>
        </p:spPr>
        <p:txBody>
          <a:bodyPr wrap="square" rtlCol="0">
            <a:spAutoFit/>
          </a:bodyPr>
          <a:lstStyle/>
          <a:p>
            <a:r>
              <a:rPr lang="en-US" dirty="0" smtClean="0">
                <a:solidFill>
                  <a:schemeClr val="tx1"/>
                </a:solidFill>
              </a:rPr>
              <a:t>Punctuation + Tumbling</a:t>
            </a:r>
            <a:endParaRPr lang="en-US" dirty="0">
              <a:solidFill>
                <a:schemeClr val="tx1"/>
              </a:solidFill>
            </a:endParaRPr>
          </a:p>
        </p:txBody>
      </p:sp>
    </p:spTree>
    <p:extLst>
      <p:ext uri="{BB962C8B-B14F-4D97-AF65-F5344CB8AC3E}">
        <p14:creationId xmlns:p14="http://schemas.microsoft.com/office/powerpoint/2010/main" val="279747794"/>
      </p:ext>
    </p:extLst>
  </p:cSld>
  <p:clrMapOvr>
    <a:masterClrMapping/>
  </p:clrMapOvr>
  <p:transition spd="slow" advTm="40536"/>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063281" y="970839"/>
            <a:ext cx="3989875" cy="3262930"/>
          </a:xfrm>
          <a:prstGeom prst="rect">
            <a:avLst/>
          </a:prstGeom>
        </p:spPr>
      </p:pic>
      <p:sp>
        <p:nvSpPr>
          <p:cNvPr id="9218" name="Google Shape;70;p15"/>
          <p:cNvSpPr txBox="1">
            <a:spLocks noGrp="1"/>
          </p:cNvSpPr>
          <p:nvPr>
            <p:ph type="title"/>
          </p:nvPr>
        </p:nvSpPr>
        <p:spPr/>
        <p:txBody>
          <a:bodyPr/>
          <a:lstStyle/>
          <a:p>
            <a:pPr>
              <a:buSzPts val="2800"/>
            </a:pPr>
            <a:r>
              <a:rPr lang="en-US" altLang="en-US" sz="2800" dirty="0" smtClean="0">
                <a:latin typeface="Nunito" charset="0"/>
                <a:cs typeface="Nunito" charset="0"/>
                <a:sym typeface="Nunito" charset="0"/>
              </a:rPr>
              <a:t>Evaluation    </a:t>
            </a:r>
            <a:r>
              <a:rPr lang="en-US" altLang="zh-CN" dirty="0"/>
              <a:t>System </a:t>
            </a:r>
            <a:r>
              <a:rPr lang="en-US" altLang="zh-CN" dirty="0" smtClean="0"/>
              <a:t>Optimization</a:t>
            </a:r>
            <a:r>
              <a:rPr lang="en-US" altLang="zh-CN" dirty="0"/>
              <a:t/>
            </a:r>
            <a:br>
              <a:rPr lang="en-US" altLang="zh-CN" dirty="0"/>
            </a:br>
            <a:endParaRPr lang="en-GB" altLang="en-US" dirty="0" smtClean="0">
              <a:latin typeface="+mn-lt"/>
              <a:cs typeface="Nunito" charset="0"/>
              <a:sym typeface="Nunito" charset="0"/>
            </a:endParaRPr>
          </a:p>
        </p:txBody>
      </p:sp>
      <p:sp>
        <p:nvSpPr>
          <p:cNvPr id="2" name="TextBox 1"/>
          <p:cNvSpPr txBox="1"/>
          <p:nvPr/>
        </p:nvSpPr>
        <p:spPr>
          <a:xfrm>
            <a:off x="167882" y="1046390"/>
            <a:ext cx="5079077" cy="523220"/>
          </a:xfrm>
          <a:prstGeom prst="rect">
            <a:avLst/>
          </a:prstGeom>
          <a:noFill/>
        </p:spPr>
        <p:txBody>
          <a:bodyPr wrap="square" rtlCol="0">
            <a:spAutoFit/>
          </a:bodyPr>
          <a:lstStyle/>
          <a:p>
            <a:r>
              <a:rPr lang="en-US" altLang="zh-CN" dirty="0" smtClean="0"/>
              <a:t>Throughput</a:t>
            </a:r>
          </a:p>
          <a:p>
            <a:r>
              <a:rPr lang="en-US" altLang="zh-CN" dirty="0" smtClean="0"/>
              <a:t>function Sharing</a:t>
            </a:r>
            <a:endParaRPr lang="zh-CN" altLang="en-US" dirty="0"/>
          </a:p>
        </p:txBody>
      </p:sp>
      <p:sp>
        <p:nvSpPr>
          <p:cNvPr id="7" name="TextBox 6"/>
          <p:cNvSpPr txBox="1"/>
          <p:nvPr/>
        </p:nvSpPr>
        <p:spPr>
          <a:xfrm>
            <a:off x="2664585" y="4233769"/>
            <a:ext cx="1934835" cy="307777"/>
          </a:xfrm>
          <a:prstGeom prst="rect">
            <a:avLst/>
          </a:prstGeom>
          <a:noFill/>
        </p:spPr>
        <p:txBody>
          <a:bodyPr wrap="square" rtlCol="0">
            <a:spAutoFit/>
          </a:bodyPr>
          <a:lstStyle/>
          <a:p>
            <a:r>
              <a:rPr lang="en-US" dirty="0" smtClean="0">
                <a:solidFill>
                  <a:schemeClr val="tx1"/>
                </a:solidFill>
              </a:rPr>
              <a:t>Average + Sum</a:t>
            </a:r>
            <a:endParaRPr lang="en-US" dirty="0">
              <a:solidFill>
                <a:schemeClr val="tx1"/>
              </a:solidFill>
            </a:endParaRPr>
          </a:p>
        </p:txBody>
      </p:sp>
      <p:sp>
        <p:nvSpPr>
          <p:cNvPr id="14" name="Rectangle 13"/>
          <p:cNvSpPr/>
          <p:nvPr/>
        </p:nvSpPr>
        <p:spPr>
          <a:xfrm>
            <a:off x="7797151" y="1355649"/>
            <a:ext cx="655969" cy="1994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5"/>
          <p:cNvSpPr txBox="1"/>
          <p:nvPr/>
        </p:nvSpPr>
        <p:spPr>
          <a:xfrm>
            <a:off x="6455780" y="4191005"/>
            <a:ext cx="2101887" cy="307777"/>
          </a:xfrm>
          <a:prstGeom prst="rect">
            <a:avLst/>
          </a:prstGeom>
          <a:noFill/>
        </p:spPr>
        <p:txBody>
          <a:bodyPr wrap="square" rtlCol="0">
            <a:spAutoFit/>
          </a:bodyPr>
          <a:lstStyle/>
          <a:p>
            <a:r>
              <a:rPr lang="en-US" dirty="0" smtClean="0">
                <a:solidFill>
                  <a:schemeClr val="tx1"/>
                </a:solidFill>
              </a:rPr>
              <a:t>Quantile</a:t>
            </a:r>
            <a:endParaRPr lang="en-US" dirty="0">
              <a:solidFill>
                <a:schemeClr val="tx1"/>
              </a:solidFill>
            </a:endParaRPr>
          </a:p>
        </p:txBody>
      </p:sp>
      <p:pic>
        <p:nvPicPr>
          <p:cNvPr id="4" name="Picture 3"/>
          <p:cNvPicPr>
            <a:picLocks noChangeAspect="1"/>
          </p:cNvPicPr>
          <p:nvPr/>
        </p:nvPicPr>
        <p:blipFill>
          <a:blip r:embed="rId4"/>
          <a:stretch>
            <a:fillRect/>
          </a:stretch>
        </p:blipFill>
        <p:spPr>
          <a:xfrm>
            <a:off x="5053156" y="830638"/>
            <a:ext cx="3611557" cy="3360367"/>
          </a:xfrm>
          <a:prstGeom prst="rect">
            <a:avLst/>
          </a:prstGeom>
        </p:spPr>
      </p:pic>
    </p:spTree>
    <p:extLst>
      <p:ext uri="{BB962C8B-B14F-4D97-AF65-F5344CB8AC3E}">
        <p14:creationId xmlns:p14="http://schemas.microsoft.com/office/powerpoint/2010/main" val="751445220"/>
      </p:ext>
    </p:extLst>
  </p:cSld>
  <p:clrMapOvr>
    <a:masterClrMapping/>
  </p:clrMapOvr>
  <p:transition spd="slow" advTm="40536"/>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Google Shape;70;p15"/>
          <p:cNvSpPr txBox="1">
            <a:spLocks noGrp="1"/>
          </p:cNvSpPr>
          <p:nvPr>
            <p:ph type="title"/>
          </p:nvPr>
        </p:nvSpPr>
        <p:spPr/>
        <p:txBody>
          <a:bodyPr/>
          <a:lstStyle/>
          <a:p>
            <a:pPr eaLnBrk="1" hangingPunct="1">
              <a:buSzPts val="2800"/>
              <a:buFont typeface="Nunito" charset="0"/>
              <a:buNone/>
            </a:pPr>
            <a:r>
              <a:rPr lang="en-US" altLang="en-US" sz="2800" dirty="0" smtClean="0">
                <a:latin typeface="Nunito" charset="0"/>
                <a:cs typeface="Nunito" charset="0"/>
                <a:sym typeface="Nunito" charset="0"/>
              </a:rPr>
              <a:t>Evaluation    </a:t>
            </a:r>
            <a:r>
              <a:rPr lang="en-US" altLang="en-US" dirty="0" smtClean="0">
                <a:latin typeface="+mj-lt"/>
                <a:cs typeface="Nunito" charset="0"/>
                <a:sym typeface="Nunito" charset="0"/>
              </a:rPr>
              <a:t>single query workload</a:t>
            </a:r>
            <a:endParaRPr lang="en-GB" altLang="en-US" dirty="0" smtClean="0">
              <a:latin typeface="+mj-lt"/>
              <a:cs typeface="Nunito" charset="0"/>
              <a:sym typeface="Nunito" charset="0"/>
            </a:endParaRPr>
          </a:p>
        </p:txBody>
      </p:sp>
      <p:sp>
        <p:nvSpPr>
          <p:cNvPr id="2" name="TextBox 1"/>
          <p:cNvSpPr txBox="1"/>
          <p:nvPr/>
        </p:nvSpPr>
        <p:spPr>
          <a:xfrm>
            <a:off x="126549" y="1368852"/>
            <a:ext cx="5079077" cy="307777"/>
          </a:xfrm>
          <a:prstGeom prst="rect">
            <a:avLst/>
          </a:prstGeom>
          <a:noFill/>
        </p:spPr>
        <p:txBody>
          <a:bodyPr wrap="square" rtlCol="0">
            <a:spAutoFit/>
          </a:bodyPr>
          <a:lstStyle/>
          <a:p>
            <a:r>
              <a:rPr lang="en-US" altLang="zh-CN" dirty="0" smtClean="0"/>
              <a:t>Throughput</a:t>
            </a:r>
            <a:r>
              <a:rPr lang="en-US" altLang="en-US" dirty="0" smtClean="0">
                <a:latin typeface="Nunito" charset="0"/>
                <a:cs typeface="Nunito" charset="0"/>
                <a:sym typeface="Nunito" charset="0"/>
              </a:rPr>
              <a:t> </a:t>
            </a:r>
            <a:endParaRPr lang="zh-CN" altLang="en-US" dirty="0"/>
          </a:p>
        </p:txBody>
      </p:sp>
      <p:sp>
        <p:nvSpPr>
          <p:cNvPr id="7" name="TextBox 6"/>
          <p:cNvSpPr txBox="1"/>
          <p:nvPr/>
        </p:nvSpPr>
        <p:spPr>
          <a:xfrm>
            <a:off x="4356619" y="4542296"/>
            <a:ext cx="435083" cy="307777"/>
          </a:xfrm>
          <a:prstGeom prst="rect">
            <a:avLst/>
          </a:prstGeom>
          <a:noFill/>
        </p:spPr>
        <p:txBody>
          <a:bodyPr wrap="square" rtlCol="0">
            <a:spAutoFit/>
          </a:bodyPr>
          <a:lstStyle/>
          <a:p>
            <a:r>
              <a:rPr lang="en-US" dirty="0" smtClean="0">
                <a:solidFill>
                  <a:schemeClr val="tx1"/>
                </a:solidFill>
              </a:rPr>
              <a:t>Q1</a:t>
            </a:r>
            <a:endParaRPr lang="en-US" dirty="0">
              <a:solidFill>
                <a:schemeClr val="tx1"/>
              </a:solidFill>
            </a:endParaRPr>
          </a:p>
        </p:txBody>
      </p:sp>
      <p:sp>
        <p:nvSpPr>
          <p:cNvPr id="15" name="TextBox 14"/>
          <p:cNvSpPr txBox="1"/>
          <p:nvPr/>
        </p:nvSpPr>
        <p:spPr>
          <a:xfrm>
            <a:off x="6091088" y="4524283"/>
            <a:ext cx="509673" cy="307777"/>
          </a:xfrm>
          <a:prstGeom prst="rect">
            <a:avLst/>
          </a:prstGeom>
          <a:noFill/>
        </p:spPr>
        <p:txBody>
          <a:bodyPr wrap="square" rtlCol="0">
            <a:spAutoFit/>
          </a:bodyPr>
          <a:lstStyle/>
          <a:p>
            <a:r>
              <a:rPr lang="en-US" dirty="0" smtClean="0">
                <a:solidFill>
                  <a:schemeClr val="tx1"/>
                </a:solidFill>
              </a:rPr>
              <a:t>Q2</a:t>
            </a:r>
            <a:endParaRPr lang="en-US" dirty="0">
              <a:solidFill>
                <a:schemeClr val="tx1"/>
              </a:solidFill>
            </a:endParaRPr>
          </a:p>
        </p:txBody>
      </p:sp>
      <p:pic>
        <p:nvPicPr>
          <p:cNvPr id="11" name="Picture 10"/>
          <p:cNvPicPr>
            <a:picLocks noChangeAspect="1"/>
          </p:cNvPicPr>
          <p:nvPr/>
        </p:nvPicPr>
        <p:blipFill>
          <a:blip r:embed="rId3"/>
          <a:stretch>
            <a:fillRect/>
          </a:stretch>
        </p:blipFill>
        <p:spPr>
          <a:xfrm>
            <a:off x="3223260" y="1540992"/>
            <a:ext cx="2001520" cy="2900262"/>
          </a:xfrm>
          <a:prstGeom prst="rect">
            <a:avLst/>
          </a:prstGeom>
        </p:spPr>
      </p:pic>
      <p:pic>
        <p:nvPicPr>
          <p:cNvPr id="12" name="Picture 11"/>
          <p:cNvPicPr>
            <a:picLocks noChangeAspect="1"/>
          </p:cNvPicPr>
          <p:nvPr/>
        </p:nvPicPr>
        <p:blipFill>
          <a:blip r:embed="rId4"/>
          <a:stretch>
            <a:fillRect/>
          </a:stretch>
        </p:blipFill>
        <p:spPr>
          <a:xfrm>
            <a:off x="5011420" y="1574037"/>
            <a:ext cx="2150345" cy="2834171"/>
          </a:xfrm>
          <a:prstGeom prst="rect">
            <a:avLst/>
          </a:prstGeom>
        </p:spPr>
      </p:pic>
      <p:pic>
        <p:nvPicPr>
          <p:cNvPr id="13" name="Picture 12"/>
          <p:cNvPicPr>
            <a:picLocks noChangeAspect="1"/>
          </p:cNvPicPr>
          <p:nvPr/>
        </p:nvPicPr>
        <p:blipFill>
          <a:blip r:embed="rId5"/>
          <a:stretch>
            <a:fillRect/>
          </a:stretch>
        </p:blipFill>
        <p:spPr>
          <a:xfrm>
            <a:off x="6936221" y="1574036"/>
            <a:ext cx="2189492" cy="2785379"/>
          </a:xfrm>
          <a:prstGeom prst="rect">
            <a:avLst/>
          </a:prstGeom>
        </p:spPr>
      </p:pic>
      <p:sp>
        <p:nvSpPr>
          <p:cNvPr id="16" name="TextBox 15"/>
          <p:cNvSpPr txBox="1"/>
          <p:nvPr/>
        </p:nvSpPr>
        <p:spPr>
          <a:xfrm>
            <a:off x="8133960" y="4490231"/>
            <a:ext cx="509673" cy="307777"/>
          </a:xfrm>
          <a:prstGeom prst="rect">
            <a:avLst/>
          </a:prstGeom>
          <a:noFill/>
        </p:spPr>
        <p:txBody>
          <a:bodyPr wrap="square" rtlCol="0">
            <a:spAutoFit/>
          </a:bodyPr>
          <a:lstStyle/>
          <a:p>
            <a:r>
              <a:rPr lang="en-US" dirty="0" smtClean="0">
                <a:solidFill>
                  <a:schemeClr val="tx1"/>
                </a:solidFill>
              </a:rPr>
              <a:t>Q3</a:t>
            </a:r>
            <a:endParaRPr lang="en-US" dirty="0">
              <a:solidFill>
                <a:schemeClr val="tx1"/>
              </a:solidFill>
            </a:endParaRPr>
          </a:p>
        </p:txBody>
      </p:sp>
      <p:sp>
        <p:nvSpPr>
          <p:cNvPr id="17" name="Rectangle 16"/>
          <p:cNvSpPr/>
          <p:nvPr/>
        </p:nvSpPr>
        <p:spPr>
          <a:xfrm>
            <a:off x="4258670" y="1729504"/>
            <a:ext cx="650241" cy="2116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4156865" y="1671901"/>
            <a:ext cx="634837" cy="200055"/>
          </a:xfrm>
          <a:prstGeom prst="rect">
            <a:avLst/>
          </a:prstGeom>
          <a:noFill/>
        </p:spPr>
        <p:txBody>
          <a:bodyPr wrap="square" rtlCol="0">
            <a:spAutoFit/>
          </a:bodyPr>
          <a:lstStyle/>
          <a:p>
            <a:r>
              <a:rPr lang="en-US" sz="700" dirty="0" smtClean="0">
                <a:solidFill>
                  <a:schemeClr val="tx1"/>
                </a:solidFill>
              </a:rPr>
              <a:t>Centralized</a:t>
            </a:r>
            <a:endParaRPr lang="en-US" sz="700" dirty="0">
              <a:solidFill>
                <a:schemeClr val="tx1"/>
              </a:solidFill>
            </a:endParaRPr>
          </a:p>
        </p:txBody>
      </p:sp>
      <p:sp>
        <p:nvSpPr>
          <p:cNvPr id="19" name="TextBox 18"/>
          <p:cNvSpPr txBox="1"/>
          <p:nvPr/>
        </p:nvSpPr>
        <p:spPr>
          <a:xfrm>
            <a:off x="4156865" y="1786701"/>
            <a:ext cx="634837" cy="200055"/>
          </a:xfrm>
          <a:prstGeom prst="rect">
            <a:avLst/>
          </a:prstGeom>
          <a:noFill/>
        </p:spPr>
        <p:txBody>
          <a:bodyPr wrap="square" rtlCol="0">
            <a:spAutoFit/>
          </a:bodyPr>
          <a:lstStyle/>
          <a:p>
            <a:r>
              <a:rPr lang="en-US" sz="700" dirty="0" smtClean="0">
                <a:solidFill>
                  <a:schemeClr val="tx1"/>
                </a:solidFill>
              </a:rPr>
              <a:t>Desis</a:t>
            </a:r>
            <a:endParaRPr lang="en-US" sz="700" dirty="0">
              <a:solidFill>
                <a:schemeClr val="tx1"/>
              </a:solidFill>
            </a:endParaRPr>
          </a:p>
        </p:txBody>
      </p:sp>
      <p:sp>
        <p:nvSpPr>
          <p:cNvPr id="20" name="Rectangle 19"/>
          <p:cNvSpPr/>
          <p:nvPr/>
        </p:nvSpPr>
        <p:spPr>
          <a:xfrm>
            <a:off x="6097484" y="1732264"/>
            <a:ext cx="710986" cy="2116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5998854" y="1679741"/>
            <a:ext cx="694143" cy="200055"/>
          </a:xfrm>
          <a:prstGeom prst="rect">
            <a:avLst/>
          </a:prstGeom>
          <a:noFill/>
        </p:spPr>
        <p:txBody>
          <a:bodyPr wrap="square" rtlCol="0">
            <a:spAutoFit/>
          </a:bodyPr>
          <a:lstStyle/>
          <a:p>
            <a:r>
              <a:rPr lang="en-US" sz="700" dirty="0" smtClean="0">
                <a:solidFill>
                  <a:schemeClr val="tx1"/>
                </a:solidFill>
              </a:rPr>
              <a:t>Centralized</a:t>
            </a:r>
            <a:endParaRPr lang="en-US" sz="700" dirty="0">
              <a:solidFill>
                <a:schemeClr val="tx1"/>
              </a:solidFill>
            </a:endParaRPr>
          </a:p>
        </p:txBody>
      </p:sp>
      <p:sp>
        <p:nvSpPr>
          <p:cNvPr id="22" name="TextBox 21"/>
          <p:cNvSpPr txBox="1"/>
          <p:nvPr/>
        </p:nvSpPr>
        <p:spPr>
          <a:xfrm>
            <a:off x="5998854" y="1794541"/>
            <a:ext cx="694143" cy="200055"/>
          </a:xfrm>
          <a:prstGeom prst="rect">
            <a:avLst/>
          </a:prstGeom>
          <a:noFill/>
        </p:spPr>
        <p:txBody>
          <a:bodyPr wrap="square" rtlCol="0">
            <a:spAutoFit/>
          </a:bodyPr>
          <a:lstStyle/>
          <a:p>
            <a:r>
              <a:rPr lang="en-US" sz="700" dirty="0" smtClean="0">
                <a:solidFill>
                  <a:schemeClr val="tx1"/>
                </a:solidFill>
              </a:rPr>
              <a:t>Desis</a:t>
            </a:r>
            <a:endParaRPr lang="en-US" sz="700" dirty="0">
              <a:solidFill>
                <a:schemeClr val="tx1"/>
              </a:solidFill>
            </a:endParaRPr>
          </a:p>
        </p:txBody>
      </p:sp>
      <p:sp>
        <p:nvSpPr>
          <p:cNvPr id="23" name="Rectangle 22"/>
          <p:cNvSpPr/>
          <p:nvPr/>
        </p:nvSpPr>
        <p:spPr>
          <a:xfrm>
            <a:off x="8033304" y="1715627"/>
            <a:ext cx="710986" cy="2116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Box 23"/>
          <p:cNvSpPr txBox="1"/>
          <p:nvPr/>
        </p:nvSpPr>
        <p:spPr>
          <a:xfrm>
            <a:off x="7934674" y="1658024"/>
            <a:ext cx="694143" cy="200055"/>
          </a:xfrm>
          <a:prstGeom prst="rect">
            <a:avLst/>
          </a:prstGeom>
          <a:noFill/>
        </p:spPr>
        <p:txBody>
          <a:bodyPr wrap="square" rtlCol="0">
            <a:spAutoFit/>
          </a:bodyPr>
          <a:lstStyle/>
          <a:p>
            <a:r>
              <a:rPr lang="en-US" sz="700" dirty="0" smtClean="0">
                <a:solidFill>
                  <a:schemeClr val="tx1"/>
                </a:solidFill>
              </a:rPr>
              <a:t>Centralized</a:t>
            </a:r>
            <a:endParaRPr lang="en-US" sz="700" dirty="0">
              <a:solidFill>
                <a:schemeClr val="tx1"/>
              </a:solidFill>
            </a:endParaRPr>
          </a:p>
        </p:txBody>
      </p:sp>
      <p:sp>
        <p:nvSpPr>
          <p:cNvPr id="25" name="TextBox 24"/>
          <p:cNvSpPr txBox="1"/>
          <p:nvPr/>
        </p:nvSpPr>
        <p:spPr>
          <a:xfrm>
            <a:off x="7934674" y="1772824"/>
            <a:ext cx="694143" cy="200055"/>
          </a:xfrm>
          <a:prstGeom prst="rect">
            <a:avLst/>
          </a:prstGeom>
          <a:noFill/>
        </p:spPr>
        <p:txBody>
          <a:bodyPr wrap="square" rtlCol="0">
            <a:spAutoFit/>
          </a:bodyPr>
          <a:lstStyle/>
          <a:p>
            <a:r>
              <a:rPr lang="en-US" sz="700" dirty="0" smtClean="0">
                <a:solidFill>
                  <a:schemeClr val="tx1"/>
                </a:solidFill>
              </a:rPr>
              <a:t>Desis</a:t>
            </a:r>
            <a:endParaRPr lang="en-US" sz="700" dirty="0">
              <a:solidFill>
                <a:schemeClr val="tx1"/>
              </a:solidFill>
            </a:endParaRPr>
          </a:p>
        </p:txBody>
      </p:sp>
      <p:sp>
        <p:nvSpPr>
          <p:cNvPr id="26" name="TextBox 25"/>
          <p:cNvSpPr txBox="1"/>
          <p:nvPr/>
        </p:nvSpPr>
        <p:spPr>
          <a:xfrm>
            <a:off x="126549" y="1688488"/>
            <a:ext cx="3533420" cy="830997"/>
          </a:xfrm>
          <a:prstGeom prst="rect">
            <a:avLst/>
          </a:prstGeom>
          <a:noFill/>
        </p:spPr>
        <p:txBody>
          <a:bodyPr wrap="square" rtlCol="0">
            <a:spAutoFit/>
          </a:bodyPr>
          <a:lstStyle/>
          <a:p>
            <a:r>
              <a:rPr lang="en-US" altLang="zh-CN" sz="1200" dirty="0" smtClean="0"/>
              <a:t>Query1 :every </a:t>
            </a:r>
            <a:r>
              <a:rPr lang="en-US" altLang="zh-CN" sz="1200" dirty="0" smtClean="0">
                <a:solidFill>
                  <a:schemeClr val="tx1"/>
                </a:solidFill>
              </a:rPr>
              <a:t>5s</a:t>
            </a:r>
            <a:r>
              <a:rPr lang="en-US" altLang="zh-CN" sz="1200" dirty="0" smtClean="0">
                <a:solidFill>
                  <a:srgbClr val="008080"/>
                </a:solidFill>
              </a:rPr>
              <a:t> </a:t>
            </a:r>
            <a:r>
              <a:rPr lang="en-US" altLang="zh-CN" sz="1200" dirty="0" smtClean="0"/>
              <a:t>output average speed</a:t>
            </a:r>
          </a:p>
          <a:p>
            <a:r>
              <a:rPr lang="en-US" altLang="zh-CN" sz="1200" dirty="0" smtClean="0"/>
              <a:t>Query2 </a:t>
            </a:r>
            <a:r>
              <a:rPr lang="en-US" altLang="zh-CN" sz="1200" dirty="0"/>
              <a:t>:every </a:t>
            </a:r>
            <a:r>
              <a:rPr lang="en-US" altLang="zh-CN" sz="1200" dirty="0" smtClean="0">
                <a:solidFill>
                  <a:schemeClr val="tx1"/>
                </a:solidFill>
              </a:rPr>
              <a:t>10000tuples</a:t>
            </a:r>
            <a:r>
              <a:rPr lang="en-US" altLang="zh-CN" sz="1200" dirty="0" smtClean="0">
                <a:solidFill>
                  <a:srgbClr val="008080"/>
                </a:solidFill>
              </a:rPr>
              <a:t> </a:t>
            </a:r>
            <a:r>
              <a:rPr lang="en-US" altLang="zh-CN" sz="1200" dirty="0"/>
              <a:t>output average </a:t>
            </a:r>
            <a:r>
              <a:rPr lang="en-US" altLang="zh-CN" sz="1200" dirty="0" smtClean="0"/>
              <a:t>speed</a:t>
            </a:r>
          </a:p>
          <a:p>
            <a:r>
              <a:rPr lang="en-US" altLang="zh-CN" sz="1200" dirty="0" smtClean="0"/>
              <a:t>Query3 </a:t>
            </a:r>
            <a:r>
              <a:rPr lang="en-US" altLang="zh-CN" sz="1200" dirty="0"/>
              <a:t>:every </a:t>
            </a:r>
            <a:r>
              <a:rPr lang="en-US" altLang="zh-CN" sz="1200" dirty="0">
                <a:solidFill>
                  <a:schemeClr val="tx1"/>
                </a:solidFill>
              </a:rPr>
              <a:t>5s</a:t>
            </a:r>
            <a:r>
              <a:rPr lang="en-US" altLang="zh-CN" sz="1200" dirty="0">
                <a:solidFill>
                  <a:srgbClr val="008080"/>
                </a:solidFill>
              </a:rPr>
              <a:t> </a:t>
            </a:r>
            <a:r>
              <a:rPr lang="en-US" altLang="zh-CN" sz="1200" dirty="0"/>
              <a:t>output </a:t>
            </a:r>
            <a:r>
              <a:rPr lang="en-US" altLang="zh-CN" sz="1200" dirty="0" smtClean="0"/>
              <a:t>median </a:t>
            </a:r>
            <a:r>
              <a:rPr lang="en-US" altLang="zh-CN" sz="1200" dirty="0"/>
              <a:t>speed</a:t>
            </a:r>
            <a:endParaRPr lang="zh-CN" altLang="en-US" sz="1200" dirty="0"/>
          </a:p>
          <a:p>
            <a:endParaRPr lang="zh-CN" altLang="en-US" sz="1200" dirty="0"/>
          </a:p>
        </p:txBody>
      </p:sp>
    </p:spTree>
    <p:extLst>
      <p:ext uri="{BB962C8B-B14F-4D97-AF65-F5344CB8AC3E}">
        <p14:creationId xmlns:p14="http://schemas.microsoft.com/office/powerpoint/2010/main" val="2086881661"/>
      </p:ext>
    </p:extLst>
  </p:cSld>
  <p:clrMapOvr>
    <a:masterClrMapping/>
  </p:clrMapOvr>
  <p:transition spd="slow" advTm="40536"/>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Google Shape;70;p15"/>
          <p:cNvSpPr txBox="1">
            <a:spLocks noGrp="1"/>
          </p:cNvSpPr>
          <p:nvPr>
            <p:ph type="title"/>
          </p:nvPr>
        </p:nvSpPr>
        <p:spPr/>
        <p:txBody>
          <a:bodyPr/>
          <a:lstStyle/>
          <a:p>
            <a:pPr eaLnBrk="1" hangingPunct="1">
              <a:buSzPts val="2800"/>
              <a:buFont typeface="Nunito" charset="0"/>
              <a:buNone/>
            </a:pPr>
            <a:r>
              <a:rPr lang="en-US" altLang="en-US" sz="2800" dirty="0" smtClean="0">
                <a:latin typeface="Nunito" charset="0"/>
                <a:cs typeface="Nunito" charset="0"/>
                <a:sym typeface="Nunito" charset="0"/>
              </a:rPr>
              <a:t>Evaluation    </a:t>
            </a:r>
            <a:r>
              <a:rPr lang="en-US" altLang="en-US" dirty="0" smtClean="0">
                <a:latin typeface="+mj-lt"/>
                <a:cs typeface="Nunito" charset="0"/>
                <a:sym typeface="Nunito" charset="0"/>
              </a:rPr>
              <a:t>multiple queries workload</a:t>
            </a:r>
            <a:endParaRPr lang="en-GB" altLang="en-US" dirty="0" smtClean="0">
              <a:latin typeface="+mj-lt"/>
              <a:cs typeface="Nunito" charset="0"/>
              <a:sym typeface="Nunito" charset="0"/>
            </a:endParaRPr>
          </a:p>
        </p:txBody>
      </p:sp>
      <p:sp>
        <p:nvSpPr>
          <p:cNvPr id="2" name="TextBox 1"/>
          <p:cNvSpPr txBox="1"/>
          <p:nvPr/>
        </p:nvSpPr>
        <p:spPr>
          <a:xfrm>
            <a:off x="311150" y="1205346"/>
            <a:ext cx="5079077" cy="307777"/>
          </a:xfrm>
          <a:prstGeom prst="rect">
            <a:avLst/>
          </a:prstGeom>
          <a:noFill/>
        </p:spPr>
        <p:txBody>
          <a:bodyPr wrap="square" rtlCol="0">
            <a:spAutoFit/>
          </a:bodyPr>
          <a:lstStyle/>
          <a:p>
            <a:r>
              <a:rPr lang="en-US" altLang="zh-CN" dirty="0" smtClean="0"/>
              <a:t>Throughput</a:t>
            </a:r>
            <a:endParaRPr lang="zh-CN" altLang="en-US" dirty="0"/>
          </a:p>
        </p:txBody>
      </p:sp>
      <p:sp>
        <p:nvSpPr>
          <p:cNvPr id="7" name="TextBox 6"/>
          <p:cNvSpPr txBox="1"/>
          <p:nvPr/>
        </p:nvSpPr>
        <p:spPr>
          <a:xfrm>
            <a:off x="311150" y="1513123"/>
            <a:ext cx="5176299" cy="954107"/>
          </a:xfrm>
          <a:prstGeom prst="rect">
            <a:avLst/>
          </a:prstGeom>
          <a:noFill/>
        </p:spPr>
        <p:txBody>
          <a:bodyPr wrap="square" rtlCol="0">
            <a:spAutoFit/>
          </a:bodyPr>
          <a:lstStyle/>
          <a:p>
            <a:r>
              <a:rPr lang="en-US" dirty="0" smtClean="0"/>
              <a:t>Baseline</a:t>
            </a:r>
            <a:endParaRPr lang="en-US" dirty="0">
              <a:solidFill>
                <a:schemeClr val="tx1"/>
              </a:solidFill>
            </a:endParaRPr>
          </a:p>
          <a:p>
            <a:pPr marL="342900" indent="-342900">
              <a:buAutoNum type="arabicPeriod"/>
            </a:pPr>
            <a:r>
              <a:rPr lang="en-US" dirty="0" smtClean="0">
                <a:solidFill>
                  <a:schemeClr val="tx1"/>
                </a:solidFill>
              </a:rPr>
              <a:t>Centralized System</a:t>
            </a:r>
          </a:p>
          <a:p>
            <a:pPr marL="342900" indent="-342900">
              <a:buAutoNum type="arabicPeriod"/>
            </a:pPr>
            <a:r>
              <a:rPr lang="en-US" dirty="0" smtClean="0">
                <a:solidFill>
                  <a:schemeClr val="tx1"/>
                </a:solidFill>
              </a:rPr>
              <a:t>Desis-No</a:t>
            </a:r>
          </a:p>
          <a:p>
            <a:pPr marL="342900" indent="-342900">
              <a:buAutoNum type="arabicPeriod"/>
            </a:pPr>
            <a:endParaRPr lang="en-US" dirty="0">
              <a:solidFill>
                <a:schemeClr val="tx1"/>
              </a:solidFill>
            </a:endParaRPr>
          </a:p>
        </p:txBody>
      </p:sp>
      <p:grpSp>
        <p:nvGrpSpPr>
          <p:cNvPr id="4" name="Group 3"/>
          <p:cNvGrpSpPr/>
          <p:nvPr/>
        </p:nvGrpSpPr>
        <p:grpSpPr>
          <a:xfrm>
            <a:off x="3136332" y="1038292"/>
            <a:ext cx="5464233" cy="3821046"/>
            <a:chOff x="3136332" y="1038292"/>
            <a:chExt cx="5464233" cy="3821046"/>
          </a:xfrm>
        </p:grpSpPr>
        <p:pic>
          <p:nvPicPr>
            <p:cNvPr id="5" name="Picture 4"/>
            <p:cNvPicPr>
              <a:picLocks noChangeAspect="1"/>
            </p:cNvPicPr>
            <p:nvPr/>
          </p:nvPicPr>
          <p:blipFill>
            <a:blip r:embed="rId3"/>
            <a:stretch>
              <a:fillRect/>
            </a:stretch>
          </p:blipFill>
          <p:spPr>
            <a:xfrm>
              <a:off x="3136332" y="1184641"/>
              <a:ext cx="5464233" cy="3674697"/>
            </a:xfrm>
            <a:prstGeom prst="rect">
              <a:avLst/>
            </a:prstGeom>
          </p:spPr>
        </p:pic>
        <p:sp>
          <p:nvSpPr>
            <p:cNvPr id="3" name="Rectangle 2"/>
            <p:cNvSpPr/>
            <p:nvPr/>
          </p:nvSpPr>
          <p:spPr>
            <a:xfrm>
              <a:off x="5390227" y="1038292"/>
              <a:ext cx="1041053" cy="2494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96339768"/>
      </p:ext>
    </p:extLst>
  </p:cSld>
  <p:clrMapOvr>
    <a:masterClrMapping/>
  </p:clrMapOvr>
  <p:transition spd="slow" advTm="40536"/>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37233" y="16506"/>
            <a:ext cx="906767" cy="906767"/>
          </a:xfrm>
          <a:prstGeom prst="rect">
            <a:avLst/>
          </a:prstGeom>
        </p:spPr>
      </p:pic>
      <p:sp>
        <p:nvSpPr>
          <p:cNvPr id="6" name="Google Shape;70;p15"/>
          <p:cNvSpPr txBox="1">
            <a:spLocks/>
          </p:cNvSpPr>
          <p:nvPr/>
        </p:nvSpPr>
        <p:spPr bwMode="auto">
          <a:xfrm>
            <a:off x="311150" y="444500"/>
            <a:ext cx="85217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91425" tIns="91425" rIns="91425" bIns="91425" numCol="1" anchor="b" anchorCtr="0" compatLnSpc="1">
            <a:prstTxWarp prst="textNoShape">
              <a:avLst/>
            </a:prstTxWarp>
            <a:noAutofit/>
          </a:bodyPr>
          <a:lstStyle>
            <a:defPPr marR="0" lvl="0" algn="l" rtl="0">
              <a:lnSpc>
                <a:spcPct val="100000"/>
              </a:lnSpc>
              <a:spcBef>
                <a:spcPts val="0"/>
              </a:spcBef>
              <a:spcAft>
                <a:spcPts val="0"/>
              </a:spcAft>
            </a:defPPr>
            <a:lvl1pPr lvl="0"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1pPr>
            <a:lvl2pPr lvl="1"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2pPr>
            <a:lvl3pPr lvl="2"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3pPr>
            <a:lvl4pPr lvl="3"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4pPr>
            <a:lvl5pPr lvl="4" algn="ctr" rtl="0" eaLnBrk="1" fontAlgn="base" hangingPunct="1">
              <a:spcBef>
                <a:spcPts val="0"/>
              </a:spcBef>
              <a:spcAft>
                <a:spcPts val="0"/>
              </a:spcAft>
              <a:buClr>
                <a:srgbClr val="000000"/>
              </a:buClr>
              <a:buSzPts val="5200"/>
              <a:buFont typeface="Arial" panose="020B0604020202020204" pitchFamily="34" charset="0"/>
              <a:buNone/>
              <a:defRPr sz="5200">
                <a:solidFill>
                  <a:srgbClr val="000000"/>
                </a:solidFill>
                <a:latin typeface="Arial"/>
                <a:ea typeface="Arial"/>
                <a:cs typeface="Arial"/>
                <a:sym typeface="Arial" panose="020B0604020202020204" pitchFamily="34" charset="0"/>
              </a:defRPr>
            </a:lvl5pPr>
            <a:lvl6pPr marR="0" lvl="5"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eaLnBrk="1" hangingPunct="1">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pPr algn="l">
              <a:buSzPts val="2800"/>
              <a:buFont typeface="Nunito" charset="0"/>
              <a:buNone/>
            </a:pPr>
            <a:r>
              <a:rPr lang="en-GB" altLang="en-US" sz="2800" kern="0" dirty="0" smtClean="0">
                <a:latin typeface="Nunito" charset="0"/>
                <a:cs typeface="Nunito" charset="0"/>
                <a:sym typeface="Nunito" charset="0"/>
              </a:rPr>
              <a:t>Contribution</a:t>
            </a:r>
          </a:p>
        </p:txBody>
      </p:sp>
      <p:sp>
        <p:nvSpPr>
          <p:cNvPr id="13" name="TextBox 12"/>
          <p:cNvSpPr txBox="1"/>
          <p:nvPr/>
        </p:nvSpPr>
        <p:spPr>
          <a:xfrm>
            <a:off x="460743" y="1391246"/>
            <a:ext cx="6996223" cy="2246769"/>
          </a:xfrm>
          <a:prstGeom prst="rect">
            <a:avLst/>
          </a:prstGeom>
          <a:noFill/>
        </p:spPr>
        <p:txBody>
          <a:bodyPr wrap="square" rtlCol="0">
            <a:spAutoFit/>
          </a:bodyPr>
          <a:lstStyle/>
          <a:p>
            <a:pPr marL="342900" indent="-342900">
              <a:buAutoNum type="arabicPeriod"/>
            </a:pPr>
            <a:r>
              <a:rPr lang="en-US" dirty="0" smtClean="0"/>
              <a:t>We </a:t>
            </a:r>
            <a:r>
              <a:rPr lang="en-US" dirty="0"/>
              <a:t>propose Desis, a stream processing system </a:t>
            </a:r>
            <a:r>
              <a:rPr lang="en-US" dirty="0" smtClean="0"/>
              <a:t>which </a:t>
            </a:r>
            <a:r>
              <a:rPr lang="en-US" dirty="0"/>
              <a:t>is specific for the distributed data stream. Desis is able to process arbitrary windows as well as aggregations flexibly but does not require centralizing all queries and data in a single node. </a:t>
            </a:r>
            <a:endParaRPr lang="en-US" dirty="0" smtClean="0"/>
          </a:p>
          <a:p>
            <a:pPr marL="342900" indent="-342900">
              <a:buAutoNum type="arabicPeriod"/>
            </a:pPr>
            <a:endParaRPr lang="en-US" dirty="0"/>
          </a:p>
          <a:p>
            <a:pPr marL="342900" indent="-342900">
              <a:buAutoNum type="arabicPeriod"/>
            </a:pPr>
            <a:r>
              <a:rPr lang="en-US" dirty="0" smtClean="0"/>
              <a:t>We </a:t>
            </a:r>
            <a:r>
              <a:rPr lang="en-US" dirty="0"/>
              <a:t>present an optimizer that broke through the limitation of sharing intermedia results between the same window types and functions. On the contrary, it is able to cross the intermedia result among the queries which have arbitrary window types and aggregation </a:t>
            </a:r>
            <a:r>
              <a:rPr lang="en-US" dirty="0" smtClean="0"/>
              <a:t>functions.</a:t>
            </a:r>
          </a:p>
          <a:p>
            <a:pPr marL="342900" indent="-342900">
              <a:buAutoNum type="arabicPeriod"/>
            </a:pPr>
            <a:endParaRPr lang="en-US" dirty="0"/>
          </a:p>
        </p:txBody>
      </p:sp>
    </p:spTree>
    <p:extLst>
      <p:ext uri="{BB962C8B-B14F-4D97-AF65-F5344CB8AC3E}">
        <p14:creationId xmlns:p14="http://schemas.microsoft.com/office/powerpoint/2010/main" val="850018248"/>
      </p:ext>
    </p:extLst>
  </p:cSld>
  <p:clrMapOvr>
    <a:masterClrMapping/>
  </p:clrMapOvr>
  <p:transition spd="slow" advTm="22052"/>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ro to  Non-Volatile Memory.pot [Compatibility Mode]" id="{286D17F3-D693-499C-8C49-733515CB2D0E}" vid="{A26D1E8C-C82D-444F-88D2-58D2318A29F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15809</TotalTime>
  <Words>1399</Words>
  <Application>Microsoft Office PowerPoint</Application>
  <PresentationFormat>On-screen Show (16:9)</PresentationFormat>
  <Paragraphs>383</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宋体</vt:lpstr>
      <vt:lpstr>Consolas</vt:lpstr>
      <vt:lpstr>Nunito</vt:lpstr>
      <vt:lpstr>Arial</vt:lpstr>
      <vt:lpstr>Simple Light</vt:lpstr>
      <vt:lpstr>Desis: General Distributed Window Aggregation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Evaluation    design</vt:lpstr>
      <vt:lpstr>Evaluation    System Performance </vt:lpstr>
      <vt:lpstr>Evaluation    System Performance </vt:lpstr>
      <vt:lpstr>Evaluation    System Performance </vt:lpstr>
      <vt:lpstr>Evaluation    System Optimization </vt:lpstr>
      <vt:lpstr>Evaluation    System Optimization </vt:lpstr>
      <vt:lpstr>Evaluation    System Optimization </vt:lpstr>
      <vt:lpstr>Evaluation    single query workload</vt:lpstr>
      <vt:lpstr>Evaluation    multiple queries workload</vt:lpstr>
      <vt:lpstr>PowerPoint Presentation</vt:lpstr>
    </vt:vector>
  </TitlesOfParts>
  <Company>DoubleOX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FPGA (Field Programmable Gate Array)</dc:title>
  <dc:creator>Administrator</dc:creator>
  <cp:lastModifiedBy>ibrahim</cp:lastModifiedBy>
  <cp:revision>446</cp:revision>
  <dcterms:created xsi:type="dcterms:W3CDTF">2020-05-02T20:09:30Z</dcterms:created>
  <dcterms:modified xsi:type="dcterms:W3CDTF">2022-04-26T19:07:44Z</dcterms:modified>
</cp:coreProperties>
</file>